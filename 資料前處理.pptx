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notesMasterIdLst>
    <p:notesMasterId r:id="rId32"/>
  </p:notesMasterIdLst>
  <p:sldIdLst>
    <p:sldId id="256" r:id="rId2"/>
    <p:sldId id="257" r:id="rId3"/>
    <p:sldId id="268" r:id="rId4"/>
    <p:sldId id="259" r:id="rId5"/>
    <p:sldId id="267" r:id="rId6"/>
    <p:sldId id="270" r:id="rId7"/>
    <p:sldId id="271" r:id="rId8"/>
    <p:sldId id="269" r:id="rId9"/>
    <p:sldId id="258" r:id="rId10"/>
    <p:sldId id="260" r:id="rId11"/>
    <p:sldId id="277" r:id="rId12"/>
    <p:sldId id="278" r:id="rId13"/>
    <p:sldId id="279" r:id="rId14"/>
    <p:sldId id="280" r:id="rId15"/>
    <p:sldId id="281" r:id="rId16"/>
    <p:sldId id="282" r:id="rId17"/>
    <p:sldId id="263" r:id="rId18"/>
    <p:sldId id="272" r:id="rId19"/>
    <p:sldId id="273" r:id="rId20"/>
    <p:sldId id="265" r:id="rId21"/>
    <p:sldId id="274" r:id="rId22"/>
    <p:sldId id="275" r:id="rId23"/>
    <p:sldId id="276" r:id="rId24"/>
    <p:sldId id="261" r:id="rId25"/>
    <p:sldId id="262" r:id="rId26"/>
    <p:sldId id="283" r:id="rId27"/>
    <p:sldId id="284" r:id="rId28"/>
    <p:sldId id="285" r:id="rId29"/>
    <p:sldId id="264" r:id="rId30"/>
    <p:sldId id="352"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955" autoAdjust="0"/>
    <p:restoredTop sz="94694" autoAdjust="0"/>
  </p:normalViewPr>
  <p:slideViewPr>
    <p:cSldViewPr snapToGrid="0">
      <p:cViewPr varScale="1">
        <p:scale>
          <a:sx n="117" d="100"/>
          <a:sy n="117" d="100"/>
        </p:scale>
        <p:origin x="712" y="168"/>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21504A-CDCD-46B8-B7B6-746D1ADEAC8C}" type="datetimeFigureOut">
              <a:rPr lang="zh-TW" altLang="en-US" smtClean="0"/>
              <a:t>2026/4/16</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13EE390-7911-469E-8788-053AC904CA0E}" type="slidenum">
              <a:rPr lang="zh-TW" altLang="en-US" smtClean="0"/>
              <a:t>‹#›</a:t>
            </a:fld>
            <a:endParaRPr lang="zh-TW" altLang="en-US"/>
          </a:p>
        </p:txBody>
      </p:sp>
    </p:spTree>
    <p:extLst>
      <p:ext uri="{BB962C8B-B14F-4D97-AF65-F5344CB8AC3E}">
        <p14:creationId xmlns:p14="http://schemas.microsoft.com/office/powerpoint/2010/main" val="25210421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https://</a:t>
            </a:r>
            <a:r>
              <a:rPr lang="en-US" altLang="zh-TW" dirty="0" err="1"/>
              <a:t>medium.com</a:t>
            </a:r>
            <a:r>
              <a:rPr lang="en-US" altLang="zh-TW" dirty="0"/>
              <a:t>/</a:t>
            </a:r>
            <a:r>
              <a:rPr lang="en-US" altLang="zh-TW" dirty="0" err="1"/>
              <a:t>aiskunks</a:t>
            </a:r>
            <a:r>
              <a:rPr lang="en-US" altLang="zh-TW" dirty="0"/>
              <a:t>/categorical-data-encoding-techniques-d6296697a40f</a:t>
            </a:r>
          </a:p>
          <a:p>
            <a:endParaRPr lang="zh-TW" altLang="en-US" dirty="0"/>
          </a:p>
        </p:txBody>
      </p:sp>
      <p:sp>
        <p:nvSpPr>
          <p:cNvPr id="4" name="投影片編號版面配置區 3"/>
          <p:cNvSpPr>
            <a:spLocks noGrp="1"/>
          </p:cNvSpPr>
          <p:nvPr>
            <p:ph type="sldNum" sz="quarter" idx="5"/>
          </p:nvPr>
        </p:nvSpPr>
        <p:spPr/>
        <p:txBody>
          <a:bodyPr/>
          <a:lstStyle/>
          <a:p>
            <a:fld id="{713EE390-7911-469E-8788-053AC904CA0E}" type="slidenum">
              <a:rPr lang="zh-TW" altLang="en-US" smtClean="0"/>
              <a:t>17</a:t>
            </a:fld>
            <a:endParaRPr lang="zh-TW" altLang="en-US"/>
          </a:p>
        </p:txBody>
      </p:sp>
    </p:spTree>
    <p:extLst>
      <p:ext uri="{BB962C8B-B14F-4D97-AF65-F5344CB8AC3E}">
        <p14:creationId xmlns:p14="http://schemas.microsoft.com/office/powerpoint/2010/main" val="1118799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https://</a:t>
            </a:r>
            <a:r>
              <a:rPr lang="en-US" altLang="zh-TW" dirty="0" err="1"/>
              <a:t>medium.com</a:t>
            </a:r>
            <a:r>
              <a:rPr lang="en-US" altLang="zh-TW" dirty="0"/>
              <a:t>/@mrvivekkumar7171/normal-distribution-standard-normal-distribution-statistical-moments-skewness-and-kurtosis-bbeda1888d26</a:t>
            </a:r>
          </a:p>
          <a:p>
            <a:endParaRPr lang="zh-TW" altLang="en-US" dirty="0"/>
          </a:p>
        </p:txBody>
      </p:sp>
      <p:sp>
        <p:nvSpPr>
          <p:cNvPr id="4" name="投影片編號版面配置區 3"/>
          <p:cNvSpPr>
            <a:spLocks noGrp="1"/>
          </p:cNvSpPr>
          <p:nvPr>
            <p:ph type="sldNum" sz="quarter" idx="5"/>
          </p:nvPr>
        </p:nvSpPr>
        <p:spPr/>
        <p:txBody>
          <a:bodyPr/>
          <a:lstStyle/>
          <a:p>
            <a:fld id="{713EE390-7911-469E-8788-053AC904CA0E}" type="slidenum">
              <a:rPr lang="zh-TW" altLang="en-US" smtClean="0"/>
              <a:t>20</a:t>
            </a:fld>
            <a:endParaRPr lang="zh-TW" altLang="en-US"/>
          </a:p>
        </p:txBody>
      </p:sp>
    </p:spTree>
    <p:extLst>
      <p:ext uri="{BB962C8B-B14F-4D97-AF65-F5344CB8AC3E}">
        <p14:creationId xmlns:p14="http://schemas.microsoft.com/office/powerpoint/2010/main" val="2163595182"/>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zh-TW" altLang="en-US"/>
              <a:t>按一下以編輯母片標題樣式</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00B692A7-7F80-4A34-B988-32F75E8CF63D}" type="datetime1">
              <a:rPr lang="en-US" altLang="zh-TW" smtClean="0"/>
              <a:t>4/16/26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4FAB73BC-B049-4115-A692-8D63A059BFB8}"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a:xfrm>
            <a:off x="483637" y="220091"/>
            <a:ext cx="11224726" cy="821654"/>
          </a:xfrm>
        </p:spPr>
        <p:txBody>
          <a:bodyPr>
            <a:normAutofit/>
          </a:bodyPr>
          <a:lstStyle>
            <a:lvl1pPr>
              <a:defRPr sz="4800"/>
            </a:lvl1pPr>
          </a:lstStyle>
          <a:p>
            <a:r>
              <a:rPr lang="zh-TW" altLang="en-US"/>
              <a:t>按一下以編輯母片標題樣式</a:t>
            </a:r>
            <a:endParaRPr lang="en-US" dirty="0"/>
          </a:p>
        </p:txBody>
      </p:sp>
      <p:sp>
        <p:nvSpPr>
          <p:cNvPr id="3" name="Content Placeholder 2"/>
          <p:cNvSpPr>
            <a:spLocks noGrp="1"/>
          </p:cNvSpPr>
          <p:nvPr>
            <p:ph idx="1"/>
          </p:nvPr>
        </p:nvSpPr>
        <p:spPr>
          <a:xfrm>
            <a:off x="483637" y="1166327"/>
            <a:ext cx="11224726" cy="5187820"/>
          </a:xfrm>
        </p:spPr>
        <p:txBody>
          <a:bodyPr>
            <a:normAutofit/>
          </a:bodyPr>
          <a:lstStyle>
            <a:lvl1pPr>
              <a:defRPr sz="2400" b="1"/>
            </a:lvl1pPr>
            <a:lvl2pPr>
              <a:defRPr sz="2000"/>
            </a:lvl2pPr>
            <a:lvl3pPr>
              <a:defRPr sz="1800"/>
            </a:lvl3pPr>
            <a:lvl4pPr>
              <a:defRPr sz="1800"/>
            </a:lvl4pPr>
            <a:lvl5pPr>
              <a:defRPr sz="1800"/>
            </a:lvl5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a:xfrm>
            <a:off x="8095053" y="6455346"/>
            <a:ext cx="3273552" cy="365125"/>
          </a:xfrm>
        </p:spPr>
        <p:txBody>
          <a:bodyPr/>
          <a:lstStyle/>
          <a:p>
            <a:fld id="{DDA6C788-E503-48DF-B619-C7A48C63C141}" type="datetime1">
              <a:rPr lang="en-US" altLang="zh-TW" smtClean="0"/>
              <a:t>4/16/26</a:t>
            </a:fld>
            <a:endParaRPr lang="en-US" dirty="0"/>
          </a:p>
        </p:txBody>
      </p:sp>
      <p:sp>
        <p:nvSpPr>
          <p:cNvPr id="5" name="Footer Placeholder 4"/>
          <p:cNvSpPr>
            <a:spLocks noGrp="1"/>
          </p:cNvSpPr>
          <p:nvPr>
            <p:ph type="ftr" sz="quarter" idx="11"/>
          </p:nvPr>
        </p:nvSpPr>
        <p:spPr>
          <a:xfrm>
            <a:off x="0" y="6455346"/>
            <a:ext cx="6327648" cy="365125"/>
          </a:xfrm>
        </p:spPr>
        <p:txBody>
          <a:bodyPr/>
          <a:lstStyle/>
          <a:p>
            <a:endParaRPr lang="en-US" dirty="0"/>
          </a:p>
        </p:txBody>
      </p:sp>
      <p:sp>
        <p:nvSpPr>
          <p:cNvPr id="6" name="Slide Number Placeholder 5"/>
          <p:cNvSpPr>
            <a:spLocks noGrp="1"/>
          </p:cNvSpPr>
          <p:nvPr>
            <p:ph type="sldNum" sz="quarter" idx="12"/>
          </p:nvPr>
        </p:nvSpPr>
        <p:spPr>
          <a:xfrm>
            <a:off x="11525733" y="6455346"/>
            <a:ext cx="640080" cy="365125"/>
          </a:xfrm>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章節標題">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zh-TW" altLang="en-US"/>
              <a:t>按一下以編輯母片標題樣式</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Date Placeholder 3"/>
          <p:cNvSpPr>
            <a:spLocks noGrp="1"/>
          </p:cNvSpPr>
          <p:nvPr>
            <p:ph type="dt" sz="half" idx="10"/>
          </p:nvPr>
        </p:nvSpPr>
        <p:spPr>
          <a:xfrm>
            <a:off x="8593667" y="6272784"/>
            <a:ext cx="2644309" cy="365125"/>
          </a:xfrm>
        </p:spPr>
        <p:txBody>
          <a:bodyPr/>
          <a:lstStyle/>
          <a:p>
            <a:fld id="{2A2AD05F-CEF0-4F24-9A07-4BFBDA1A2686}" type="datetime1">
              <a:rPr lang="en-US" altLang="zh-TW" smtClean="0"/>
              <a:t>4/16/26</a:t>
            </a:fld>
            <a:endParaRPr lang="en-US" dirty="0"/>
          </a:p>
        </p:txBody>
      </p:sp>
      <p:sp>
        <p:nvSpPr>
          <p:cNvPr id="5" name="Footer Placeholder 4"/>
          <p:cNvSpPr>
            <a:spLocks noGrp="1"/>
          </p:cNvSpPr>
          <p:nvPr>
            <p:ph type="ftr" sz="quarter" idx="11"/>
          </p:nvPr>
        </p:nvSpPr>
        <p:spPr>
          <a:xfrm>
            <a:off x="2182708" y="6272784"/>
            <a:ext cx="6327648" cy="365125"/>
          </a:xfrm>
        </p:spPr>
        <p:txBody>
          <a:body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6C151E4A-12B4-4877-8427-E991883821BA}" type="datetime1">
              <a:rPr lang="en-US" altLang="zh-TW" smtClean="0"/>
              <a:t>4/16/26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1BB24CB9-D0DB-407B-953D-F6A9531BE840}" type="datetime1">
              <a:rPr lang="en-US" altLang="zh-TW" smtClean="0"/>
              <a:t>4/16/26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F94F3F5B-0369-4C5C-92A3-4833A2A36F72}" type="datetime1">
              <a:rPr lang="en-US" altLang="zh-TW" smtClean="0"/>
              <a:t>4/16/26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D5F8C41-3A12-4251-AA96-87E2DFC017E3}" type="datetime1">
              <a:rPr lang="en-US" altLang="zh-TW" smtClean="0"/>
              <a:t>4/16/26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含輔助字幕的內容">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zh-TW" altLang="en-US"/>
              <a:t>按一下以編輯母片標題樣式</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35B7A620-CEE4-4FC8-AE78-D7FAAE4D674B}" type="datetime1">
              <a:rPr lang="en-US" altLang="zh-TW" smtClean="0"/>
              <a:t>4/16/26</a:t>
            </a:fld>
            <a:endParaRPr lang="en-US" dirty="0"/>
          </a:p>
        </p:txBody>
      </p:sp>
      <p:sp>
        <p:nvSpPr>
          <p:cNvPr id="6" name="Footer Placeholder 5"/>
          <p:cNvSpPr>
            <a:spLocks noGrp="1"/>
          </p:cNvSpPr>
          <p:nvPr>
            <p:ph type="ftr" sz="quarter" idx="11"/>
          </p:nvPr>
        </p:nvSpPr>
        <p:spPr/>
        <p:txBody>
          <a:bodyPr/>
          <a:lstStyle/>
          <a:p>
            <a:endParaRPr lang="en-US"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含輔助字幕的圖片">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8148B21B-6AE8-460F-BEC8-14C962B2B342}" type="datetime1">
              <a:rPr lang="en-US" altLang="zh-TW" smtClean="0"/>
              <a:t>4/16/26</a:t>
            </a:fld>
            <a:endParaRPr lang="en-US" dirty="0"/>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C42FA94B-BDE0-457F-AE56-D7B6A2200CF4}" type="datetime1">
              <a:rPr lang="en-US" altLang="zh-TW" smtClean="0"/>
              <a:t>4/16/26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1A8C3044-BBF8-48C3-BF47-EAF08B41CC39}" type="datetime1">
              <a:rPr lang="en-US" altLang="zh-TW" smtClean="0"/>
              <a:t>4/16/26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31AF61CB-FD6F-4863-9BB4-DCD9D2FD5B7E}" type="datetime1">
              <a:rPr lang="en-US" altLang="zh-TW" smtClean="0"/>
              <a:t>4/16/26</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dirty="0"/>
          </a:p>
        </p:txBody>
      </p:sp>
      <p:grpSp>
        <p:nvGrpSpPr>
          <p:cNvPr id="7" name="Group 6"/>
          <p:cNvGrpSpPr>
            <a:grpSpLocks noChangeAspect="1"/>
          </p:cNvGrpSpPr>
          <p:nvPr/>
        </p:nvGrpSpPr>
        <p:grpSpPr>
          <a:xfrm>
            <a:off x="11631168" y="6400800"/>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539727" y="6429993"/>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hdr="0" ftr="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microsoft.com/office/2007/relationships/hdphoto" Target="../media/hdphoto3.wdp"/><Relationship Id="rId7" Type="http://schemas.openxmlformats.org/officeDocument/2006/relationships/hyperlink" Target="https://opensource.com/life/14/9/why-python-4-wont-be-python-3" TargetMode="External"/><Relationship Id="rId2" Type="http://schemas.openxmlformats.org/officeDocument/2006/relationships/image" Target="../media/image10.png"/><Relationship Id="rId1" Type="http://schemas.openxmlformats.org/officeDocument/2006/relationships/slideLayout" Target="../slideLayouts/slideLayout6.xml"/><Relationship Id="rId6" Type="http://schemas.openxmlformats.org/officeDocument/2006/relationships/image" Target="../media/image12.png"/><Relationship Id="rId5" Type="http://schemas.openxmlformats.org/officeDocument/2006/relationships/image" Target="../media/image11.svg"/><Relationship Id="rId4" Type="http://schemas.openxmlformats.org/officeDocument/2006/relationships/hyperlink" Target="https://www.omegaxyz.com/2018/02/04/c_gambler/?hilite='%C3%A3%E2%82%AC%C2%90%C3%A2%E2%80%9D%E2%80%B9%C3%A8%C2%81%E2%80%9D%C3%A7%C2%B3%C2%BB2%C3%A2%E2%80%99%C2%8F7%C3%A2%E2%80%99%C2%8F01705(%C3%A6%E2%80%B0%C2%A3)%C3%A3%E2%82%AC%E2%80%9C%C3%A3%E2%82%AC%E2%80%98%C3%A5%C2%8D%C5%BD%C3%A5%C2%AE%E2%80%A1%C3%A6%C2%B3%C2%A8%C3%A5%E2%80%A0%C5%92%C3%A5%C2%B0%C2%B1%C3%A9%E2%82%AC%C2%81'%2C'%2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6B0361B-655B-4A08-892B-9E07177893A5}"/>
              </a:ext>
            </a:extLst>
          </p:cNvPr>
          <p:cNvSpPr>
            <a:spLocks noGrp="1"/>
          </p:cNvSpPr>
          <p:nvPr>
            <p:ph type="ctrTitle"/>
          </p:nvPr>
        </p:nvSpPr>
        <p:spPr/>
        <p:txBody>
          <a:bodyPr/>
          <a:lstStyle/>
          <a:p>
            <a:pPr algn="ctr"/>
            <a:r>
              <a:rPr lang="zh-TW" altLang="en-US"/>
              <a:t>資料前處理</a:t>
            </a:r>
          </a:p>
        </p:txBody>
      </p:sp>
      <p:sp>
        <p:nvSpPr>
          <p:cNvPr id="3" name="副標題 2">
            <a:extLst>
              <a:ext uri="{FF2B5EF4-FFF2-40B4-BE49-F238E27FC236}">
                <a16:creationId xmlns:a16="http://schemas.microsoft.com/office/drawing/2014/main" id="{23783C23-2F62-40DC-BCC2-07DF5BE49656}"/>
              </a:ext>
            </a:extLst>
          </p:cNvPr>
          <p:cNvSpPr>
            <a:spLocks noGrp="1"/>
          </p:cNvSpPr>
          <p:nvPr>
            <p:ph type="subTitle" idx="1"/>
          </p:nvPr>
        </p:nvSpPr>
        <p:spPr/>
        <p:txBody>
          <a:bodyPr/>
          <a:lstStyle/>
          <a:p>
            <a:endParaRPr lang="zh-TW" altLang="en-US"/>
          </a:p>
        </p:txBody>
      </p:sp>
      <p:sp>
        <p:nvSpPr>
          <p:cNvPr id="4" name="日期版面配置區 3">
            <a:extLst>
              <a:ext uri="{FF2B5EF4-FFF2-40B4-BE49-F238E27FC236}">
                <a16:creationId xmlns:a16="http://schemas.microsoft.com/office/drawing/2014/main" id="{02510E59-9DE2-4FD7-A7BF-8F5DAE032632}"/>
              </a:ext>
            </a:extLst>
          </p:cNvPr>
          <p:cNvSpPr>
            <a:spLocks noGrp="1"/>
          </p:cNvSpPr>
          <p:nvPr>
            <p:ph type="dt" sz="half" idx="10"/>
          </p:nvPr>
        </p:nvSpPr>
        <p:spPr/>
        <p:txBody>
          <a:bodyPr/>
          <a:lstStyle/>
          <a:p>
            <a:fld id="{2DA233FF-B796-4362-A9CA-3E524B526878}" type="datetime1">
              <a:rPr lang="en-US" altLang="zh-TW" smtClean="0"/>
              <a:t>4/16/26</a:t>
            </a:fld>
            <a:endParaRPr lang="en-US" dirty="0"/>
          </a:p>
        </p:txBody>
      </p:sp>
      <p:sp>
        <p:nvSpPr>
          <p:cNvPr id="5" name="投影片編號版面配置區 4">
            <a:extLst>
              <a:ext uri="{FF2B5EF4-FFF2-40B4-BE49-F238E27FC236}">
                <a16:creationId xmlns:a16="http://schemas.microsoft.com/office/drawing/2014/main" id="{1371A4AD-88AD-4F16-94FC-ACB22A220139}"/>
              </a:ext>
            </a:extLst>
          </p:cNvPr>
          <p:cNvSpPr>
            <a:spLocks noGrp="1"/>
          </p:cNvSpPr>
          <p:nvPr>
            <p:ph type="sldNum" sz="quarter" idx="12"/>
          </p:nvPr>
        </p:nvSpPr>
        <p:spPr/>
        <p:txBody>
          <a:bodyPr/>
          <a:lstStyle/>
          <a:p>
            <a:fld id="{4FAB73BC-B049-4115-A692-8D63A059BFB8}" type="slidenum">
              <a:rPr lang="en-US" smtClean="0"/>
              <a:pPr/>
              <a:t>1</a:t>
            </a:fld>
            <a:endParaRPr lang="en-US" dirty="0"/>
          </a:p>
        </p:txBody>
      </p:sp>
    </p:spTree>
    <p:extLst>
      <p:ext uri="{BB962C8B-B14F-4D97-AF65-F5344CB8AC3E}">
        <p14:creationId xmlns:p14="http://schemas.microsoft.com/office/powerpoint/2010/main" val="22057195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692898D-3E37-41CB-B775-4D6865E586D3}"/>
              </a:ext>
            </a:extLst>
          </p:cNvPr>
          <p:cNvSpPr>
            <a:spLocks noGrp="1"/>
          </p:cNvSpPr>
          <p:nvPr>
            <p:ph type="title"/>
          </p:nvPr>
        </p:nvSpPr>
        <p:spPr/>
        <p:txBody>
          <a:bodyPr>
            <a:normAutofit fontScale="90000"/>
          </a:bodyPr>
          <a:lstStyle/>
          <a:p>
            <a:pPr marL="0" marR="0" lvl="0" indent="0" defTabSz="914400" rtl="0" eaLnBrk="0" fontAlgn="base" latinLnBrk="0" hangingPunct="0">
              <a:lnSpc>
                <a:spcPct val="100000"/>
              </a:lnSpc>
              <a:spcBef>
                <a:spcPct val="0"/>
              </a:spcBef>
              <a:spcAft>
                <a:spcPct val="0"/>
              </a:spcAft>
              <a:tabLst/>
            </a:pPr>
            <a:r>
              <a:rPr kumimoji="0" lang="zh-TW" altLang="zh-TW" sz="5400" b="0" i="0" u="none" strike="noStrike" cap="none" normalizeH="0" baseline="0">
                <a:ln>
                  <a:noFill/>
                </a:ln>
                <a:solidFill>
                  <a:srgbClr val="000000"/>
                </a:solidFill>
                <a:effectLst/>
                <a:latin typeface="Arial" panose="020B0604020202020204" pitchFamily="34" charset="0"/>
                <a:ea typeface="Google Sans Text"/>
              </a:rPr>
              <a:t>Data</a:t>
            </a:r>
            <a:r>
              <a:rPr kumimoji="0" lang="zh-TW" altLang="en-US" sz="5400" b="0" i="0" u="none" strike="noStrike" cap="none" normalizeH="0" baseline="0">
                <a:ln>
                  <a:noFill/>
                </a:ln>
                <a:solidFill>
                  <a:srgbClr val="000000"/>
                </a:solidFill>
                <a:effectLst/>
                <a:latin typeface="Arial" panose="020B0604020202020204" pitchFamily="34" charset="0"/>
                <a:ea typeface="Google Sans Text"/>
              </a:rPr>
              <a:t> </a:t>
            </a:r>
            <a:r>
              <a:rPr kumimoji="0" lang="zh-TW" altLang="zh-TW" sz="5400" b="0" i="0" u="none" strike="noStrike" cap="none" normalizeH="0" baseline="0">
                <a:ln>
                  <a:noFill/>
                </a:ln>
                <a:solidFill>
                  <a:srgbClr val="000000"/>
                </a:solidFill>
                <a:effectLst/>
                <a:latin typeface="Arial" panose="020B0604020202020204" pitchFamily="34" charset="0"/>
                <a:ea typeface="Google Sans Text"/>
              </a:rPr>
              <a:t>Preprocessing</a:t>
            </a:r>
            <a:endParaRPr lang="zh-TW" altLang="en-US"/>
          </a:p>
        </p:txBody>
      </p:sp>
      <p:sp>
        <p:nvSpPr>
          <p:cNvPr id="5" name="內容版面配置區 4">
            <a:extLst>
              <a:ext uri="{FF2B5EF4-FFF2-40B4-BE49-F238E27FC236}">
                <a16:creationId xmlns:a16="http://schemas.microsoft.com/office/drawing/2014/main" id="{A6604A7B-942F-4006-91A2-D4A6231A31C0}"/>
              </a:ext>
            </a:extLst>
          </p:cNvPr>
          <p:cNvSpPr>
            <a:spLocks noGrp="1"/>
          </p:cNvSpPr>
          <p:nvPr>
            <p:ph idx="1"/>
          </p:nvPr>
        </p:nvSpPr>
        <p:spPr/>
        <p:txBody>
          <a:bodyPr>
            <a:normAutofit lnSpcReduction="10000"/>
          </a:bodyPr>
          <a:lstStyle/>
          <a:p>
            <a:endParaRPr lang="en-US" altLang="zh-TW"/>
          </a:p>
          <a:p>
            <a:r>
              <a:rPr lang="en-US" altLang="zh-TW"/>
              <a:t>Dataset Overview</a:t>
            </a:r>
          </a:p>
          <a:p>
            <a:r>
              <a:rPr lang="en-US" altLang="zh-TW"/>
              <a:t>Missing data handling (Pandas)</a:t>
            </a:r>
          </a:p>
          <a:p>
            <a:r>
              <a:rPr lang="en-US" altLang="zh-TW"/>
              <a:t>Removing duplicates (drop_duplicates())</a:t>
            </a:r>
          </a:p>
          <a:p>
            <a:r>
              <a:rPr lang="en-US" altLang="zh-TW"/>
              <a:t>Scaling and normalization</a:t>
            </a:r>
          </a:p>
          <a:p>
            <a:r>
              <a:rPr lang="en-US" altLang="zh-TW"/>
              <a:t>Aggregating and grouping</a:t>
            </a:r>
          </a:p>
          <a:p>
            <a:r>
              <a:rPr lang="en-US" altLang="zh-TW"/>
              <a:t>Feature selection (Sklearn)</a:t>
            </a:r>
          </a:p>
          <a:p>
            <a:r>
              <a:rPr lang="en-US" altLang="zh-TW"/>
              <a:t>Categorical data encoding (Label /One-Hot)</a:t>
            </a:r>
          </a:p>
          <a:p>
            <a:r>
              <a:rPr lang="en-US" altLang="zh-TW"/>
              <a:t>Outlier detection (Z-score, IQR)</a:t>
            </a:r>
          </a:p>
          <a:p>
            <a:r>
              <a:rPr lang="en-US" altLang="zh-TW"/>
              <a:t>Handling imbalanced data</a:t>
            </a:r>
          </a:p>
          <a:p>
            <a:r>
              <a:rPr lang="en-US" altLang="zh-TW"/>
              <a:t>Efficient preprocessing for large datasets</a:t>
            </a:r>
          </a:p>
        </p:txBody>
      </p:sp>
      <p:sp>
        <p:nvSpPr>
          <p:cNvPr id="6" name="日期版面配置區 5">
            <a:extLst>
              <a:ext uri="{FF2B5EF4-FFF2-40B4-BE49-F238E27FC236}">
                <a16:creationId xmlns:a16="http://schemas.microsoft.com/office/drawing/2014/main" id="{E7DB0122-EC3F-49CF-A2B7-F062D977F737}"/>
              </a:ext>
            </a:extLst>
          </p:cNvPr>
          <p:cNvSpPr>
            <a:spLocks noGrp="1"/>
          </p:cNvSpPr>
          <p:nvPr>
            <p:ph type="dt" sz="half" idx="10"/>
          </p:nvPr>
        </p:nvSpPr>
        <p:spPr/>
        <p:txBody>
          <a:bodyPr/>
          <a:lstStyle/>
          <a:p>
            <a:fld id="{9C8EC1DA-91C6-4421-B0D6-7F153BEFDAAD}" type="datetime1">
              <a:rPr lang="en-US" altLang="zh-TW" smtClean="0"/>
              <a:t>4/16/26</a:t>
            </a:fld>
            <a:endParaRPr lang="en-US" dirty="0"/>
          </a:p>
        </p:txBody>
      </p:sp>
      <p:sp>
        <p:nvSpPr>
          <p:cNvPr id="7" name="投影片編號版面配置區 6">
            <a:extLst>
              <a:ext uri="{FF2B5EF4-FFF2-40B4-BE49-F238E27FC236}">
                <a16:creationId xmlns:a16="http://schemas.microsoft.com/office/drawing/2014/main" id="{46FAB781-2A69-4780-95FD-10799C29E724}"/>
              </a:ext>
            </a:extLst>
          </p:cNvPr>
          <p:cNvSpPr>
            <a:spLocks noGrp="1"/>
          </p:cNvSpPr>
          <p:nvPr>
            <p:ph type="sldNum" sz="quarter" idx="12"/>
          </p:nvPr>
        </p:nvSpPr>
        <p:spPr/>
        <p:txBody>
          <a:bodyPr/>
          <a:lstStyle/>
          <a:p>
            <a:fld id="{4FAB73BC-B049-4115-A692-8D63A059BFB8}" type="slidenum">
              <a:rPr lang="en-US" smtClean="0"/>
              <a:t>2</a:t>
            </a:fld>
            <a:endParaRPr lang="en-US" dirty="0"/>
          </a:p>
        </p:txBody>
      </p:sp>
    </p:spTree>
    <p:extLst>
      <p:ext uri="{BB962C8B-B14F-4D97-AF65-F5344CB8AC3E}">
        <p14:creationId xmlns:p14="http://schemas.microsoft.com/office/powerpoint/2010/main" val="20451196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FB5CFFE-C652-4D26-90B9-310999F853EF}"/>
              </a:ext>
            </a:extLst>
          </p:cNvPr>
          <p:cNvSpPr>
            <a:spLocks noGrp="1"/>
          </p:cNvSpPr>
          <p:nvPr>
            <p:ph type="title"/>
          </p:nvPr>
        </p:nvSpPr>
        <p:spPr/>
        <p:txBody>
          <a:bodyPr/>
          <a:lstStyle/>
          <a:p>
            <a:r>
              <a:rPr lang="en-US" altLang="zh-TW"/>
              <a:t>Data overview</a:t>
            </a:r>
            <a:endParaRPr lang="zh-TW" altLang="en-US"/>
          </a:p>
        </p:txBody>
      </p:sp>
      <p:sp>
        <p:nvSpPr>
          <p:cNvPr id="3" name="內容版面配置區 2">
            <a:extLst>
              <a:ext uri="{FF2B5EF4-FFF2-40B4-BE49-F238E27FC236}">
                <a16:creationId xmlns:a16="http://schemas.microsoft.com/office/drawing/2014/main" id="{1A4B5704-7AF4-4400-8562-4AA03AC5E590}"/>
              </a:ext>
            </a:extLst>
          </p:cNvPr>
          <p:cNvSpPr>
            <a:spLocks noGrp="1"/>
          </p:cNvSpPr>
          <p:nvPr>
            <p:ph idx="1"/>
          </p:nvPr>
        </p:nvSpPr>
        <p:spPr/>
        <p:txBody>
          <a:bodyPr/>
          <a:lstStyle/>
          <a:p>
            <a:r>
              <a:rPr lang="zh-TW" altLang="en-US"/>
              <a:t>載入資料</a:t>
            </a:r>
            <a:r>
              <a:rPr lang="en-US" altLang="zh-TW"/>
              <a:t>(.csv, .json, .parquet)</a:t>
            </a:r>
          </a:p>
          <a:p>
            <a:r>
              <a:rPr lang="en-US" altLang="zh-TW"/>
              <a:t>df.info() </a:t>
            </a:r>
            <a:r>
              <a:rPr lang="zh-TW" altLang="en-US"/>
              <a:t>顯示欄位名稱、資料型別、空值數量</a:t>
            </a:r>
            <a:endParaRPr lang="en-US" altLang="zh-TW"/>
          </a:p>
          <a:p>
            <a:r>
              <a:rPr lang="en-US" altLang="zh-TW"/>
              <a:t>df.describe()</a:t>
            </a:r>
            <a:r>
              <a:rPr lang="zh-TW" altLang="en-US"/>
              <a:t> 顯示數值欄位資料的基本統計摘要</a:t>
            </a:r>
            <a:endParaRPr lang="en-US" altLang="zh-TW"/>
          </a:p>
          <a:p>
            <a:r>
              <a:rPr lang="en-US" altLang="zh-TW"/>
              <a:t>df.shape()</a:t>
            </a:r>
            <a:r>
              <a:rPr lang="zh-TW" altLang="en-US"/>
              <a:t> 顯示行、列數量</a:t>
            </a:r>
            <a:endParaRPr lang="en-US" altLang="zh-TW"/>
          </a:p>
          <a:p>
            <a:r>
              <a:rPr lang="en-US" altLang="zh-TW"/>
              <a:t>df.head(), df.tail() </a:t>
            </a:r>
            <a:r>
              <a:rPr lang="zh-TW" altLang="en-US"/>
              <a:t>顯示前</a:t>
            </a:r>
            <a:r>
              <a:rPr lang="en-US" altLang="zh-TW"/>
              <a:t>(/</a:t>
            </a:r>
            <a:r>
              <a:rPr lang="zh-TW" altLang="en-US"/>
              <a:t>後</a:t>
            </a:r>
            <a:r>
              <a:rPr lang="en-US" altLang="zh-TW"/>
              <a:t>)5</a:t>
            </a:r>
            <a:r>
              <a:rPr lang="zh-TW" altLang="en-US"/>
              <a:t>筆資料</a:t>
            </a:r>
            <a:endParaRPr lang="en-US" altLang="zh-TW"/>
          </a:p>
        </p:txBody>
      </p:sp>
      <p:sp>
        <p:nvSpPr>
          <p:cNvPr id="4" name="日期版面配置區 3">
            <a:extLst>
              <a:ext uri="{FF2B5EF4-FFF2-40B4-BE49-F238E27FC236}">
                <a16:creationId xmlns:a16="http://schemas.microsoft.com/office/drawing/2014/main" id="{242C1DE3-84F4-4193-A4DC-EEDD949B4E74}"/>
              </a:ext>
            </a:extLst>
          </p:cNvPr>
          <p:cNvSpPr>
            <a:spLocks noGrp="1"/>
          </p:cNvSpPr>
          <p:nvPr>
            <p:ph type="dt" sz="half" idx="10"/>
          </p:nvPr>
        </p:nvSpPr>
        <p:spPr/>
        <p:txBody>
          <a:bodyPr/>
          <a:lstStyle/>
          <a:p>
            <a:fld id="{DDA6C788-E503-48DF-B619-C7A48C63C141}" type="datetime1">
              <a:rPr lang="en-US" altLang="zh-TW" smtClean="0"/>
              <a:t>4/16/26</a:t>
            </a:fld>
            <a:endParaRPr lang="en-US" dirty="0"/>
          </a:p>
        </p:txBody>
      </p:sp>
      <p:sp>
        <p:nvSpPr>
          <p:cNvPr id="5" name="投影片編號版面配置區 4">
            <a:extLst>
              <a:ext uri="{FF2B5EF4-FFF2-40B4-BE49-F238E27FC236}">
                <a16:creationId xmlns:a16="http://schemas.microsoft.com/office/drawing/2014/main" id="{797DA560-79BA-47C7-B9C2-4C9FD4AA5E52}"/>
              </a:ext>
            </a:extLst>
          </p:cNvPr>
          <p:cNvSpPr>
            <a:spLocks noGrp="1"/>
          </p:cNvSpPr>
          <p:nvPr>
            <p:ph type="sldNum" sz="quarter" idx="12"/>
          </p:nvPr>
        </p:nvSpPr>
        <p:spPr/>
        <p:txBody>
          <a:bodyPr/>
          <a:lstStyle/>
          <a:p>
            <a:fld id="{4FAB73BC-B049-4115-A692-8D63A059BFB8}" type="slidenum">
              <a:rPr lang="en-US" smtClean="0"/>
              <a:t>3</a:t>
            </a:fld>
            <a:endParaRPr lang="en-US" dirty="0"/>
          </a:p>
        </p:txBody>
      </p:sp>
    </p:spTree>
    <p:extLst>
      <p:ext uri="{BB962C8B-B14F-4D97-AF65-F5344CB8AC3E}">
        <p14:creationId xmlns:p14="http://schemas.microsoft.com/office/powerpoint/2010/main" val="10831794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8FAC383-D6E6-419B-B41E-2C80F7DCE76C}"/>
              </a:ext>
            </a:extLst>
          </p:cNvPr>
          <p:cNvSpPr>
            <a:spLocks noGrp="1"/>
          </p:cNvSpPr>
          <p:nvPr>
            <p:ph type="title"/>
          </p:nvPr>
        </p:nvSpPr>
        <p:spPr/>
        <p:txBody>
          <a:bodyPr>
            <a:normAutofit/>
          </a:bodyPr>
          <a:lstStyle/>
          <a:p>
            <a:r>
              <a:rPr lang="en-US" altLang="zh-TW"/>
              <a:t>Missing data handling</a:t>
            </a:r>
            <a:endParaRPr lang="zh-TW" altLang="en-US"/>
          </a:p>
        </p:txBody>
      </p:sp>
      <p:sp>
        <p:nvSpPr>
          <p:cNvPr id="3" name="內容版面配置區 2">
            <a:extLst>
              <a:ext uri="{FF2B5EF4-FFF2-40B4-BE49-F238E27FC236}">
                <a16:creationId xmlns:a16="http://schemas.microsoft.com/office/drawing/2014/main" id="{AF86F997-A243-4009-9B0D-37EF6917F353}"/>
              </a:ext>
            </a:extLst>
          </p:cNvPr>
          <p:cNvSpPr>
            <a:spLocks noGrp="1"/>
          </p:cNvSpPr>
          <p:nvPr>
            <p:ph idx="1"/>
          </p:nvPr>
        </p:nvSpPr>
        <p:spPr/>
        <p:txBody>
          <a:bodyPr/>
          <a:lstStyle/>
          <a:p>
            <a:r>
              <a:rPr lang="zh-TW" altLang="en-US"/>
              <a:t>探索資料集遺失值</a:t>
            </a:r>
            <a:r>
              <a:rPr lang="en-US" altLang="zh-TW"/>
              <a:t>(missing values)</a:t>
            </a:r>
          </a:p>
          <a:p>
            <a:pPr lvl="1"/>
            <a:r>
              <a:rPr lang="en-US" altLang="zh-TW" b="1">
                <a:solidFill>
                  <a:srgbClr val="0000FF"/>
                </a:solidFill>
                <a:latin typeface="Consolas" panose="020B0609020204030204" pitchFamily="49" charset="0"/>
              </a:rPr>
              <a:t>df.isnull()</a:t>
            </a:r>
            <a:r>
              <a:rPr lang="zh-TW" altLang="en-US" b="0" i="0">
                <a:solidFill>
                  <a:srgbClr val="000000"/>
                </a:solidFill>
                <a:effectLst/>
                <a:latin typeface="times" panose="02020603050405020304" pitchFamily="18" charset="0"/>
              </a:rPr>
              <a:t>欄位資料內容顯示為布林值</a:t>
            </a:r>
            <a:r>
              <a:rPr lang="en-US" altLang="zh-TW" b="0" i="0">
                <a:solidFill>
                  <a:srgbClr val="000000"/>
                </a:solidFill>
                <a:effectLst/>
                <a:latin typeface="times" panose="02020603050405020304" pitchFamily="18" charset="0"/>
              </a:rPr>
              <a:t>(Boolean)</a:t>
            </a:r>
            <a:r>
              <a:rPr lang="zh-TW" altLang="en-US" b="0" i="0">
                <a:solidFill>
                  <a:srgbClr val="000000"/>
                </a:solidFill>
                <a:effectLst/>
                <a:latin typeface="times" panose="02020603050405020304" pitchFamily="18" charset="0"/>
              </a:rPr>
              <a:t>，遺漏值</a:t>
            </a:r>
            <a:r>
              <a:rPr lang="en-US" altLang="zh-TW" b="0" i="0">
                <a:solidFill>
                  <a:srgbClr val="000000"/>
                </a:solidFill>
                <a:effectLst/>
                <a:latin typeface="times" panose="02020603050405020304" pitchFamily="18" charset="0"/>
              </a:rPr>
              <a:t>(Missing Value)</a:t>
            </a:r>
            <a:r>
              <a:rPr lang="zh-TW" altLang="en-US">
                <a:solidFill>
                  <a:srgbClr val="000000"/>
                </a:solidFill>
                <a:latin typeface="times" panose="02020603050405020304" pitchFamily="18" charset="0"/>
              </a:rPr>
              <a:t> </a:t>
            </a:r>
            <a:r>
              <a:rPr lang="zh-TW" altLang="en-US" b="0" i="0">
                <a:solidFill>
                  <a:srgbClr val="000000"/>
                </a:solidFill>
                <a:effectLst/>
                <a:latin typeface="times" panose="02020603050405020304" pitchFamily="18" charset="0"/>
              </a:rPr>
              <a:t>顯示為</a:t>
            </a:r>
            <a:r>
              <a:rPr lang="en-US" altLang="zh-TW" b="0" i="0">
                <a:solidFill>
                  <a:srgbClr val="000000"/>
                </a:solidFill>
                <a:effectLst/>
                <a:latin typeface="times" panose="02020603050405020304" pitchFamily="18" charset="0"/>
              </a:rPr>
              <a:t>True(1)</a:t>
            </a:r>
          </a:p>
          <a:p>
            <a:pPr lvl="1"/>
            <a:r>
              <a:rPr lang="en-US" altLang="zh-TW" b="1">
                <a:solidFill>
                  <a:srgbClr val="0000FF"/>
                </a:solidFill>
                <a:latin typeface="Consolas" panose="020B0609020204030204" pitchFamily="49" charset="0"/>
              </a:rPr>
              <a:t>d</a:t>
            </a:r>
            <a:r>
              <a:rPr lang="en-US" altLang="zh-TW" b="1" i="0">
                <a:solidFill>
                  <a:srgbClr val="0000FF"/>
                </a:solidFill>
                <a:effectLst/>
                <a:latin typeface="Consolas" panose="020B0609020204030204" pitchFamily="49" charset="0"/>
              </a:rPr>
              <a:t>f.isnull().sum() </a:t>
            </a:r>
            <a:r>
              <a:rPr lang="zh-TW" altLang="en-US" b="0" i="0">
                <a:solidFill>
                  <a:srgbClr val="000000"/>
                </a:solidFill>
                <a:effectLst/>
                <a:latin typeface="times" panose="02020603050405020304" pitchFamily="18" charset="0"/>
              </a:rPr>
              <a:t>顯示每個欄位遺漏值的數</a:t>
            </a:r>
            <a:endParaRPr lang="en-US" altLang="zh-TW" b="0" i="0">
              <a:solidFill>
                <a:srgbClr val="000000"/>
              </a:solidFill>
              <a:effectLst/>
              <a:latin typeface="times" panose="02020603050405020304" pitchFamily="18" charset="0"/>
            </a:endParaRPr>
          </a:p>
          <a:p>
            <a:pPr lvl="2"/>
            <a:r>
              <a:rPr lang="en-US" altLang="zh-TW" b="1">
                <a:solidFill>
                  <a:srgbClr val="0000FF"/>
                </a:solidFill>
                <a:latin typeface="Consolas" panose="020B0609020204030204" pitchFamily="49" charset="0"/>
              </a:rPr>
              <a:t>df.isnull.sum(axis=1) </a:t>
            </a:r>
            <a:r>
              <a:rPr lang="zh-TW" altLang="en-US">
                <a:solidFill>
                  <a:srgbClr val="000000"/>
                </a:solidFill>
                <a:latin typeface="times" panose="02020603050405020304" pitchFamily="18" charset="0"/>
              </a:rPr>
              <a:t>顯示資料每一列的遺漏值數量</a:t>
            </a:r>
            <a:endParaRPr lang="en-US" altLang="zh-TW" b="0" i="0">
              <a:solidFill>
                <a:srgbClr val="000000"/>
              </a:solidFill>
              <a:effectLst/>
              <a:latin typeface="times" panose="02020603050405020304" pitchFamily="18" charset="0"/>
            </a:endParaRPr>
          </a:p>
          <a:p>
            <a:pPr lvl="1"/>
            <a:r>
              <a:rPr lang="en-US" altLang="zh-TW" b="1">
                <a:solidFill>
                  <a:srgbClr val="0000FF"/>
                </a:solidFill>
                <a:latin typeface="Consolas" panose="020B0609020204030204" pitchFamily="49" charset="0"/>
              </a:rPr>
              <a:t>df[df[‘</a:t>
            </a:r>
            <a:r>
              <a:rPr lang="zh-TW" altLang="en-US" b="1">
                <a:solidFill>
                  <a:srgbClr val="0000FF"/>
                </a:solidFill>
                <a:latin typeface="Consolas" panose="020B0609020204030204" pitchFamily="49" charset="0"/>
              </a:rPr>
              <a:t>屬性欄位</a:t>
            </a:r>
            <a:r>
              <a:rPr lang="en-US" altLang="zh-TW" b="1">
                <a:solidFill>
                  <a:srgbClr val="0000FF"/>
                </a:solidFill>
                <a:latin typeface="Consolas" panose="020B0609020204030204" pitchFamily="49" charset="0"/>
              </a:rPr>
              <a:t>’].isnull()] </a:t>
            </a:r>
            <a:r>
              <a:rPr lang="zh-TW" altLang="en-US">
                <a:latin typeface="Consolas" panose="020B0609020204030204" pitchFamily="49" charset="0"/>
              </a:rPr>
              <a:t>顯示「屬性欄位」中為遺漏值的資料</a:t>
            </a:r>
            <a:endParaRPr lang="en-US" altLang="zh-TW">
              <a:latin typeface="Consolas" panose="020B0609020204030204" pitchFamily="49" charset="0"/>
            </a:endParaRPr>
          </a:p>
          <a:p>
            <a:pPr lvl="1"/>
            <a:r>
              <a:rPr lang="en-US" altLang="zh-TW" b="1">
                <a:solidFill>
                  <a:srgbClr val="0000FF"/>
                </a:solidFill>
                <a:latin typeface="Consolas" panose="020B0609020204030204" pitchFamily="49" charset="0"/>
              </a:rPr>
              <a:t>df[df.isna().all(axis=1)] </a:t>
            </a:r>
            <a:r>
              <a:rPr lang="zh-TW" altLang="en-US">
                <a:latin typeface="Consolas" panose="020B0609020204030204" pitchFamily="49" charset="0"/>
              </a:rPr>
              <a:t>顯示每個欄位都是遺漏值的資料</a:t>
            </a:r>
            <a:endParaRPr lang="en-US" altLang="zh-TW">
              <a:latin typeface="Consolas" panose="020B0609020204030204" pitchFamily="49" charset="0"/>
            </a:endParaRPr>
          </a:p>
          <a:p>
            <a:r>
              <a:rPr lang="zh-TW" altLang="en-US">
                <a:latin typeface="Consolas" panose="020B0609020204030204" pitchFamily="49" charset="0"/>
              </a:rPr>
              <a:t>刪除遺漏值的資料</a:t>
            </a:r>
            <a:endParaRPr lang="en-US" altLang="zh-TW">
              <a:latin typeface="Consolas" panose="020B0609020204030204" pitchFamily="49" charset="0"/>
            </a:endParaRPr>
          </a:p>
          <a:p>
            <a:pPr lvl="1"/>
            <a:r>
              <a:rPr lang="en-US" altLang="zh-TW" b="1">
                <a:solidFill>
                  <a:srgbClr val="0000FF"/>
                </a:solidFill>
                <a:latin typeface="Consolas" panose="020B0609020204030204" pitchFamily="49" charset="0"/>
              </a:rPr>
              <a:t>df.dropna(how=‘any’)</a:t>
            </a:r>
            <a:r>
              <a:rPr lang="zh-TW" altLang="en-US" b="1">
                <a:solidFill>
                  <a:srgbClr val="0000FF"/>
                </a:solidFill>
                <a:latin typeface="Consolas" panose="020B0609020204030204" pitchFamily="49" charset="0"/>
              </a:rPr>
              <a:t> </a:t>
            </a:r>
            <a:r>
              <a:rPr lang="zh-TW" altLang="en-US">
                <a:latin typeface="Consolas" panose="020B0609020204030204" pitchFamily="49" charset="0"/>
              </a:rPr>
              <a:t>移除任何一個欄位有遺漏值的資料</a:t>
            </a:r>
            <a:endParaRPr lang="en-US" altLang="zh-TW" b="1">
              <a:latin typeface="Consolas" panose="020B0609020204030204" pitchFamily="49" charset="0"/>
            </a:endParaRPr>
          </a:p>
          <a:p>
            <a:pPr lvl="1"/>
            <a:r>
              <a:rPr lang="en-US" altLang="zh-TW" b="1" i="0">
                <a:solidFill>
                  <a:srgbClr val="0000FF"/>
                </a:solidFill>
                <a:effectLst/>
                <a:latin typeface="Consolas" panose="020B0609020204030204" pitchFamily="49" charset="0"/>
              </a:rPr>
              <a:t>df.dropna(subset=[‘</a:t>
            </a:r>
            <a:r>
              <a:rPr lang="zh-TW" altLang="en-US" b="1" i="0">
                <a:solidFill>
                  <a:srgbClr val="0000FF"/>
                </a:solidFill>
                <a:effectLst/>
                <a:latin typeface="Consolas" panose="020B0609020204030204" pitchFamily="49" charset="0"/>
              </a:rPr>
              <a:t>欄位名稱</a:t>
            </a:r>
            <a:r>
              <a:rPr lang="en-US" altLang="zh-TW" b="1" i="0">
                <a:solidFill>
                  <a:srgbClr val="0000FF"/>
                </a:solidFill>
                <a:effectLst/>
                <a:latin typeface="Consolas" panose="020B0609020204030204" pitchFamily="49" charset="0"/>
              </a:rPr>
              <a:t>1’, ‘</a:t>
            </a:r>
            <a:r>
              <a:rPr lang="zh-TW" altLang="en-US" b="1" i="0">
                <a:solidFill>
                  <a:srgbClr val="0000FF"/>
                </a:solidFill>
                <a:effectLst/>
                <a:latin typeface="Consolas" panose="020B0609020204030204" pitchFamily="49" charset="0"/>
              </a:rPr>
              <a:t>欄位名稱</a:t>
            </a:r>
            <a:r>
              <a:rPr lang="en-US" altLang="zh-TW" b="1">
                <a:solidFill>
                  <a:srgbClr val="0000FF"/>
                </a:solidFill>
                <a:latin typeface="Consolas" panose="020B0609020204030204" pitchFamily="49" charset="0"/>
              </a:rPr>
              <a:t>2</a:t>
            </a:r>
            <a:r>
              <a:rPr lang="en-US" altLang="zh-TW" b="1" i="0">
                <a:solidFill>
                  <a:srgbClr val="0000FF"/>
                </a:solidFill>
                <a:effectLst/>
                <a:latin typeface="Consolas" panose="020B0609020204030204" pitchFamily="49" charset="0"/>
              </a:rPr>
              <a:t>’, ...], how=‘any’)</a:t>
            </a:r>
            <a:r>
              <a:rPr lang="zh-TW" altLang="en-US" b="1">
                <a:solidFill>
                  <a:srgbClr val="000000"/>
                </a:solidFill>
                <a:latin typeface="times" panose="02020603050405020304" pitchFamily="18" charset="0"/>
              </a:rPr>
              <a:t> </a:t>
            </a:r>
            <a:r>
              <a:rPr lang="zh-TW" altLang="en-US">
                <a:solidFill>
                  <a:srgbClr val="000000"/>
                </a:solidFill>
                <a:latin typeface="times" panose="02020603050405020304" pitchFamily="18" charset="0"/>
              </a:rPr>
              <a:t>刪除</a:t>
            </a:r>
            <a:r>
              <a:rPr lang="zh-TW" altLang="en-US" b="0" i="0">
                <a:solidFill>
                  <a:srgbClr val="000000"/>
                </a:solidFill>
                <a:effectLst/>
                <a:latin typeface="times" panose="02020603050405020304" pitchFamily="18" charset="0"/>
              </a:rPr>
              <a:t>指定欄位有遺漏值的資料</a:t>
            </a:r>
            <a:endParaRPr lang="en-US" altLang="zh-TW" b="0" i="0">
              <a:solidFill>
                <a:srgbClr val="000000"/>
              </a:solidFill>
              <a:effectLst/>
              <a:latin typeface="times" panose="02020603050405020304" pitchFamily="18" charset="0"/>
            </a:endParaRPr>
          </a:p>
          <a:p>
            <a:pPr lvl="1"/>
            <a:r>
              <a:rPr lang="en-US" altLang="zh-TW" b="1">
                <a:solidFill>
                  <a:srgbClr val="0000FF"/>
                </a:solidFill>
                <a:latin typeface="Consolas" panose="020B0609020204030204" pitchFamily="49" charset="0"/>
              </a:rPr>
              <a:t>df.dropna(how=‘all’) </a:t>
            </a:r>
            <a:r>
              <a:rPr lang="zh-TW" altLang="en-US">
                <a:latin typeface="Consolas" panose="020B0609020204030204" pitchFamily="49" charset="0"/>
              </a:rPr>
              <a:t>刪除每個欄位都是遺漏值的資料</a:t>
            </a:r>
            <a:endParaRPr lang="en-US" altLang="zh-TW">
              <a:latin typeface="Consolas" panose="020B0609020204030204" pitchFamily="49" charset="0"/>
            </a:endParaRPr>
          </a:p>
          <a:p>
            <a:pPr lvl="1"/>
            <a:r>
              <a:rPr lang="en-US" altLang="zh-TW" b="1">
                <a:solidFill>
                  <a:srgbClr val="0000FF"/>
                </a:solidFill>
                <a:latin typeface="Consolas" panose="020B0609020204030204" pitchFamily="49" charset="0"/>
              </a:rPr>
              <a:t>d</a:t>
            </a:r>
            <a:r>
              <a:rPr lang="en-US" altLang="zh-TW" b="1" i="0">
                <a:solidFill>
                  <a:srgbClr val="0000FF"/>
                </a:solidFill>
                <a:effectLst/>
                <a:latin typeface="Consolas" panose="020B0609020204030204" pitchFamily="49" charset="0"/>
              </a:rPr>
              <a:t>f.dropna(axis=1)</a:t>
            </a:r>
            <a:r>
              <a:rPr lang="zh-TW" altLang="en-US" b="1" i="0">
                <a:solidFill>
                  <a:srgbClr val="0000FF"/>
                </a:solidFill>
                <a:effectLst/>
                <a:latin typeface="Consolas" panose="020B0609020204030204" pitchFamily="49" charset="0"/>
              </a:rPr>
              <a:t> </a:t>
            </a:r>
            <a:r>
              <a:rPr lang="zh-TW" altLang="en-US" i="0">
                <a:effectLst/>
                <a:latin typeface="Consolas" panose="020B0609020204030204" pitchFamily="49" charset="0"/>
              </a:rPr>
              <a:t>刪除有遺漏值欄位</a:t>
            </a:r>
            <a:endParaRPr lang="en-US" altLang="zh-TW" i="0">
              <a:effectLst/>
              <a:latin typeface="Consolas" panose="020B0609020204030204" pitchFamily="49" charset="0"/>
            </a:endParaRPr>
          </a:p>
        </p:txBody>
      </p:sp>
      <p:sp>
        <p:nvSpPr>
          <p:cNvPr id="4" name="日期版面配置區 3">
            <a:extLst>
              <a:ext uri="{FF2B5EF4-FFF2-40B4-BE49-F238E27FC236}">
                <a16:creationId xmlns:a16="http://schemas.microsoft.com/office/drawing/2014/main" id="{4085C054-3BD9-48F5-8BDA-B4A011054A6A}"/>
              </a:ext>
            </a:extLst>
          </p:cNvPr>
          <p:cNvSpPr>
            <a:spLocks noGrp="1"/>
          </p:cNvSpPr>
          <p:nvPr>
            <p:ph type="dt" sz="half" idx="10"/>
          </p:nvPr>
        </p:nvSpPr>
        <p:spPr/>
        <p:txBody>
          <a:bodyPr/>
          <a:lstStyle/>
          <a:p>
            <a:fld id="{66C753A4-193A-4469-86B1-8B900E5A0A33}" type="datetime1">
              <a:rPr lang="en-US" altLang="zh-TW" smtClean="0"/>
              <a:t>4/16/26</a:t>
            </a:fld>
            <a:endParaRPr lang="en-US" dirty="0"/>
          </a:p>
        </p:txBody>
      </p:sp>
      <p:sp>
        <p:nvSpPr>
          <p:cNvPr id="5" name="投影片編號版面配置區 4">
            <a:extLst>
              <a:ext uri="{FF2B5EF4-FFF2-40B4-BE49-F238E27FC236}">
                <a16:creationId xmlns:a16="http://schemas.microsoft.com/office/drawing/2014/main" id="{42611045-1489-431D-897F-2A3EBCCED67A}"/>
              </a:ext>
            </a:extLst>
          </p:cNvPr>
          <p:cNvSpPr>
            <a:spLocks noGrp="1"/>
          </p:cNvSpPr>
          <p:nvPr>
            <p:ph type="sldNum" sz="quarter" idx="12"/>
          </p:nvPr>
        </p:nvSpPr>
        <p:spPr/>
        <p:txBody>
          <a:bodyPr/>
          <a:lstStyle/>
          <a:p>
            <a:fld id="{4FAB73BC-B049-4115-A692-8D63A059BFB8}" type="slidenum">
              <a:rPr lang="en-US" smtClean="0"/>
              <a:t>4</a:t>
            </a:fld>
            <a:endParaRPr lang="en-US" dirty="0"/>
          </a:p>
        </p:txBody>
      </p:sp>
    </p:spTree>
    <p:extLst>
      <p:ext uri="{BB962C8B-B14F-4D97-AF65-F5344CB8AC3E}">
        <p14:creationId xmlns:p14="http://schemas.microsoft.com/office/powerpoint/2010/main" val="1526097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B98CBD9-0169-443B-BC3F-DF06738D8AF6}"/>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C8289BE6-B20C-40EC-A48A-1197D44BA0DC}"/>
              </a:ext>
            </a:extLst>
          </p:cNvPr>
          <p:cNvSpPr>
            <a:spLocks noGrp="1"/>
          </p:cNvSpPr>
          <p:nvPr>
            <p:ph idx="1"/>
          </p:nvPr>
        </p:nvSpPr>
        <p:spPr/>
        <p:txBody>
          <a:bodyPr/>
          <a:lstStyle/>
          <a:p>
            <a:r>
              <a:rPr lang="zh-TW" altLang="en-US">
                <a:solidFill>
                  <a:srgbClr val="000000"/>
                </a:solidFill>
                <a:latin typeface="times" panose="02020603050405020304" pitchFamily="18" charset="0"/>
              </a:rPr>
              <a:t>填入自訂值</a:t>
            </a:r>
            <a:endParaRPr lang="en-US" altLang="zh-TW">
              <a:solidFill>
                <a:srgbClr val="000000"/>
              </a:solidFill>
              <a:latin typeface="times" panose="02020603050405020304" pitchFamily="18" charset="0"/>
            </a:endParaRPr>
          </a:p>
          <a:p>
            <a:pPr lvl="1"/>
            <a:r>
              <a:rPr lang="en-US" altLang="zh-TW" b="1">
                <a:solidFill>
                  <a:srgbClr val="0000FF"/>
                </a:solidFill>
                <a:latin typeface="Consolas" panose="020B0609020204030204" pitchFamily="49" charset="0"/>
              </a:rPr>
              <a:t>df[‘</a:t>
            </a:r>
            <a:r>
              <a:rPr lang="zh-TW" altLang="en-US" b="1">
                <a:solidFill>
                  <a:srgbClr val="0000FF"/>
                </a:solidFill>
                <a:latin typeface="Consolas" panose="020B0609020204030204" pitchFamily="49" charset="0"/>
              </a:rPr>
              <a:t>屬性欄位</a:t>
            </a:r>
            <a:r>
              <a:rPr lang="en-US" altLang="zh-TW" b="1">
                <a:solidFill>
                  <a:srgbClr val="0000FF"/>
                </a:solidFill>
                <a:latin typeface="Consolas" panose="020B0609020204030204" pitchFamily="49" charset="0"/>
              </a:rPr>
              <a:t>’].fillna(value=“</a:t>
            </a:r>
            <a:r>
              <a:rPr lang="zh-TW" altLang="en-US" b="1">
                <a:solidFill>
                  <a:srgbClr val="0000FF"/>
                </a:solidFill>
                <a:latin typeface="Consolas" panose="020B0609020204030204" pitchFamily="49" charset="0"/>
              </a:rPr>
              <a:t>特定值</a:t>
            </a:r>
            <a:r>
              <a:rPr lang="en-US" altLang="zh-TW" b="1">
                <a:solidFill>
                  <a:srgbClr val="0000FF"/>
                </a:solidFill>
                <a:latin typeface="Consolas" panose="020B0609020204030204" pitchFamily="49" charset="0"/>
              </a:rPr>
              <a:t>”, inplace=True)</a:t>
            </a:r>
            <a:r>
              <a:rPr lang="en-US" altLang="zh-TW">
                <a:latin typeface="Consolas" panose="020B0609020204030204" pitchFamily="49" charset="0"/>
              </a:rPr>
              <a:t>: </a:t>
            </a:r>
            <a:r>
              <a:rPr lang="en-US" altLang="zh-TW" b="0" i="0">
                <a:solidFill>
                  <a:srgbClr val="000000"/>
                </a:solidFill>
                <a:effectLst/>
                <a:latin typeface="times" panose="02020603050405020304" pitchFamily="18" charset="0"/>
              </a:rPr>
              <a:t>fillna()</a:t>
            </a:r>
            <a:r>
              <a:rPr lang="zh-TW" altLang="en-US" b="0" i="0">
                <a:solidFill>
                  <a:srgbClr val="000000"/>
                </a:solidFill>
                <a:effectLst/>
                <a:latin typeface="times" panose="02020603050405020304" pitchFamily="18" charset="0"/>
              </a:rPr>
              <a:t>指定</a:t>
            </a:r>
            <a:r>
              <a:rPr lang="en-US" altLang="zh-TW" b="1" i="0">
                <a:solidFill>
                  <a:srgbClr val="C00000"/>
                </a:solidFill>
                <a:effectLst/>
                <a:latin typeface="times" panose="02020603050405020304" pitchFamily="18" charset="0"/>
              </a:rPr>
              <a:t>value</a:t>
            </a:r>
            <a:r>
              <a:rPr lang="zh-TW" altLang="en-US" b="0" i="0">
                <a:solidFill>
                  <a:srgbClr val="000000"/>
                </a:solidFill>
                <a:effectLst/>
                <a:latin typeface="times" panose="02020603050405020304" pitchFamily="18" charset="0"/>
              </a:rPr>
              <a:t>關鍵字為想要填入的值</a:t>
            </a:r>
            <a:endParaRPr lang="en-US" altLang="zh-TW" b="0" i="0">
              <a:solidFill>
                <a:srgbClr val="000000"/>
              </a:solidFill>
              <a:effectLst/>
              <a:latin typeface="times" panose="02020603050405020304" pitchFamily="18" charset="0"/>
            </a:endParaRPr>
          </a:p>
          <a:p>
            <a:pPr lvl="1"/>
            <a:r>
              <a:rPr lang="en-US" altLang="zh-TW" b="1">
                <a:latin typeface="Consolas" panose="020B0609020204030204" pitchFamily="49" charset="0"/>
              </a:rPr>
              <a:t>Mean/Median/Mode Imputation</a:t>
            </a:r>
          </a:p>
          <a:p>
            <a:pPr lvl="2"/>
            <a:r>
              <a:rPr lang="en-US" altLang="zh-TW" b="1">
                <a:solidFill>
                  <a:srgbClr val="0000FF"/>
                </a:solidFill>
                <a:latin typeface="Consolas" panose="020B0609020204030204" pitchFamily="49" charset="0"/>
              </a:rPr>
              <a:t>df[‘col’] = df[‘col’].fillna(df[‘col’].mean())</a:t>
            </a:r>
          </a:p>
          <a:p>
            <a:pPr lvl="2"/>
            <a:r>
              <a:rPr lang="en-US" altLang="zh-TW" b="1">
                <a:solidFill>
                  <a:srgbClr val="0000FF"/>
                </a:solidFill>
                <a:latin typeface="Consolas" panose="020B0609020204030204" pitchFamily="49" charset="0"/>
              </a:rPr>
              <a:t>df[‘col’] = df[‘col’].fillna(df[‘col’].median())</a:t>
            </a:r>
            <a:r>
              <a:rPr lang="zh-TW" altLang="en-US" b="1">
                <a:solidFill>
                  <a:srgbClr val="0000FF"/>
                </a:solidFill>
                <a:latin typeface="Consolas" panose="020B0609020204030204" pitchFamily="49" charset="0"/>
              </a:rPr>
              <a:t> </a:t>
            </a:r>
            <a:r>
              <a:rPr lang="en-US" altLang="zh-TW" b="1">
                <a:solidFill>
                  <a:srgbClr val="00B050"/>
                </a:solidFill>
                <a:latin typeface="Consolas" panose="020B0609020204030204" pitchFamily="49" charset="0"/>
              </a:rPr>
              <a:t>#</a:t>
            </a:r>
            <a:r>
              <a:rPr lang="zh-TW" altLang="en-US" b="1">
                <a:solidFill>
                  <a:srgbClr val="00B050"/>
                </a:solidFill>
                <a:latin typeface="Consolas" panose="020B0609020204030204" pitchFamily="49" charset="0"/>
              </a:rPr>
              <a:t>數值型資料</a:t>
            </a:r>
            <a:endParaRPr lang="en-US" altLang="zh-TW" b="1">
              <a:solidFill>
                <a:srgbClr val="00B050"/>
              </a:solidFill>
              <a:latin typeface="Consolas" panose="020B0609020204030204" pitchFamily="49" charset="0"/>
            </a:endParaRPr>
          </a:p>
          <a:p>
            <a:pPr lvl="2"/>
            <a:r>
              <a:rPr lang="en-US" altLang="zh-TW" b="1">
                <a:solidFill>
                  <a:srgbClr val="0000FF"/>
                </a:solidFill>
                <a:latin typeface="Consolas" panose="020B0609020204030204" pitchFamily="49" charset="0"/>
              </a:rPr>
              <a:t>df[‘col’] = df[‘col’].fillna(df[‘col’].mode()[0]) </a:t>
            </a:r>
            <a:r>
              <a:rPr lang="en-US" altLang="zh-TW" b="1">
                <a:solidFill>
                  <a:srgbClr val="00B050"/>
                </a:solidFill>
                <a:latin typeface="Consolas" panose="020B0609020204030204" pitchFamily="49" charset="0"/>
              </a:rPr>
              <a:t>#</a:t>
            </a:r>
            <a:r>
              <a:rPr lang="zh-TW" altLang="en-US" b="1">
                <a:solidFill>
                  <a:srgbClr val="00B050"/>
                </a:solidFill>
                <a:latin typeface="Consolas" panose="020B0609020204030204" pitchFamily="49" charset="0"/>
              </a:rPr>
              <a:t>類別型資料</a:t>
            </a:r>
            <a:endParaRPr lang="en-US" altLang="zh-TW" b="1">
              <a:solidFill>
                <a:srgbClr val="00B050"/>
              </a:solidFill>
              <a:latin typeface="Consolas" panose="020B0609020204030204" pitchFamily="49" charset="0"/>
            </a:endParaRPr>
          </a:p>
          <a:p>
            <a:pPr lvl="1"/>
            <a:r>
              <a:rPr lang="en-US" altLang="zh-TW" b="1">
                <a:latin typeface="Consolas" panose="020B0609020204030204" pitchFamily="49" charset="0"/>
              </a:rPr>
              <a:t>Forward Fill/Backward Fill</a:t>
            </a:r>
          </a:p>
          <a:p>
            <a:pPr lvl="2"/>
            <a:r>
              <a:rPr lang="en-US" altLang="zh-TW" b="1">
                <a:solidFill>
                  <a:srgbClr val="0000FF"/>
                </a:solidFill>
                <a:latin typeface="Consolas" panose="020B0609020204030204" pitchFamily="49" charset="0"/>
              </a:rPr>
              <a:t>df.ffill(inplace=True) </a:t>
            </a:r>
            <a:r>
              <a:rPr lang="zh-TW" altLang="en-US">
                <a:latin typeface="Consolas" panose="020B0609020204030204" pitchFamily="49" charset="0"/>
              </a:rPr>
              <a:t>遺漏值以前值代換</a:t>
            </a:r>
            <a:endParaRPr lang="en-US" altLang="zh-TW">
              <a:latin typeface="Consolas" panose="020B0609020204030204" pitchFamily="49" charset="0"/>
            </a:endParaRPr>
          </a:p>
          <a:p>
            <a:pPr lvl="2"/>
            <a:r>
              <a:rPr lang="en-US" altLang="zh-TW" b="1">
                <a:solidFill>
                  <a:srgbClr val="0000FF"/>
                </a:solidFill>
                <a:latin typeface="Consolas" panose="020B0609020204030204" pitchFamily="49" charset="0"/>
              </a:rPr>
              <a:t>df.bfill(inplace=True)</a:t>
            </a:r>
            <a:r>
              <a:rPr lang="zh-TW" altLang="en-US" b="1">
                <a:solidFill>
                  <a:srgbClr val="0000FF"/>
                </a:solidFill>
                <a:latin typeface="Consolas" panose="020B0609020204030204" pitchFamily="49" charset="0"/>
              </a:rPr>
              <a:t> </a:t>
            </a:r>
            <a:r>
              <a:rPr lang="zh-TW" altLang="en-US">
                <a:latin typeface="Consolas" panose="020B0609020204030204" pitchFamily="49" charset="0"/>
              </a:rPr>
              <a:t>遺漏值以後值代換</a:t>
            </a:r>
            <a:endParaRPr lang="zh-TW" altLang="en-US" b="1">
              <a:solidFill>
                <a:srgbClr val="0000FF"/>
              </a:solidFill>
              <a:latin typeface="Consolas" panose="020B0609020204030204" pitchFamily="49" charset="0"/>
            </a:endParaRPr>
          </a:p>
          <a:p>
            <a:endParaRPr lang="zh-TW" altLang="en-US"/>
          </a:p>
        </p:txBody>
      </p:sp>
      <p:sp>
        <p:nvSpPr>
          <p:cNvPr id="4" name="日期版面配置區 3">
            <a:extLst>
              <a:ext uri="{FF2B5EF4-FFF2-40B4-BE49-F238E27FC236}">
                <a16:creationId xmlns:a16="http://schemas.microsoft.com/office/drawing/2014/main" id="{56D6375F-4680-406C-80DD-ECF2D467527D}"/>
              </a:ext>
            </a:extLst>
          </p:cNvPr>
          <p:cNvSpPr>
            <a:spLocks noGrp="1"/>
          </p:cNvSpPr>
          <p:nvPr>
            <p:ph type="dt" sz="half" idx="10"/>
          </p:nvPr>
        </p:nvSpPr>
        <p:spPr/>
        <p:txBody>
          <a:bodyPr/>
          <a:lstStyle/>
          <a:p>
            <a:fld id="{DDA6C788-E503-48DF-B619-C7A48C63C141}" type="datetime1">
              <a:rPr lang="en-US" altLang="zh-TW" smtClean="0"/>
              <a:t>4/16/26</a:t>
            </a:fld>
            <a:endParaRPr lang="en-US" dirty="0"/>
          </a:p>
        </p:txBody>
      </p:sp>
      <p:sp>
        <p:nvSpPr>
          <p:cNvPr id="5" name="投影片編號版面配置區 4">
            <a:extLst>
              <a:ext uri="{FF2B5EF4-FFF2-40B4-BE49-F238E27FC236}">
                <a16:creationId xmlns:a16="http://schemas.microsoft.com/office/drawing/2014/main" id="{0DCC1513-5A29-4DF4-A82B-90379CA800C5}"/>
              </a:ext>
            </a:extLst>
          </p:cNvPr>
          <p:cNvSpPr>
            <a:spLocks noGrp="1"/>
          </p:cNvSpPr>
          <p:nvPr>
            <p:ph type="sldNum" sz="quarter" idx="12"/>
          </p:nvPr>
        </p:nvSpPr>
        <p:spPr/>
        <p:txBody>
          <a:bodyPr/>
          <a:lstStyle/>
          <a:p>
            <a:fld id="{4FAB73BC-B049-4115-A692-8D63A059BFB8}" type="slidenum">
              <a:rPr lang="en-US" smtClean="0"/>
              <a:t>5</a:t>
            </a:fld>
            <a:endParaRPr lang="en-US" dirty="0"/>
          </a:p>
        </p:txBody>
      </p:sp>
    </p:spTree>
    <p:extLst>
      <p:ext uri="{BB962C8B-B14F-4D97-AF65-F5344CB8AC3E}">
        <p14:creationId xmlns:p14="http://schemas.microsoft.com/office/powerpoint/2010/main" val="31689264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8BE22D2-5E80-4C61-A813-71E71550729E}"/>
              </a:ext>
            </a:extLst>
          </p:cNvPr>
          <p:cNvSpPr>
            <a:spLocks noGrp="1"/>
          </p:cNvSpPr>
          <p:nvPr>
            <p:ph type="title"/>
          </p:nvPr>
        </p:nvSpPr>
        <p:spPr/>
        <p:txBody>
          <a:bodyPr/>
          <a:lstStyle/>
          <a:p>
            <a:r>
              <a:rPr lang="en-US" altLang="zh-TW"/>
              <a:t>Predictive imputation</a:t>
            </a:r>
            <a:endParaRPr lang="zh-TW" altLang="en-US"/>
          </a:p>
        </p:txBody>
      </p:sp>
      <p:sp>
        <p:nvSpPr>
          <p:cNvPr id="3" name="內容版面配置區 2">
            <a:extLst>
              <a:ext uri="{FF2B5EF4-FFF2-40B4-BE49-F238E27FC236}">
                <a16:creationId xmlns:a16="http://schemas.microsoft.com/office/drawing/2014/main" id="{CFAEDAEF-C38F-49E2-905C-29760A319C5B}"/>
              </a:ext>
            </a:extLst>
          </p:cNvPr>
          <p:cNvSpPr>
            <a:spLocks noGrp="1"/>
          </p:cNvSpPr>
          <p:nvPr>
            <p:ph idx="1"/>
          </p:nvPr>
        </p:nvSpPr>
        <p:spPr>
          <a:xfrm>
            <a:off x="386321" y="1154636"/>
            <a:ext cx="11224726" cy="5187820"/>
          </a:xfrm>
        </p:spPr>
        <p:txBody>
          <a:bodyPr>
            <a:normAutofit/>
          </a:bodyPr>
          <a:lstStyle/>
          <a:p>
            <a:r>
              <a:rPr lang="en-US" altLang="zh-TW" sz="2000"/>
              <a:t>KNN Imputation</a:t>
            </a:r>
            <a:r>
              <a:rPr lang="zh-TW" altLang="en-US" sz="2000"/>
              <a:t>會根據距離度量（例如歐幾里得距離），尋找某個資料點的 </a:t>
            </a:r>
            <a:r>
              <a:rPr lang="en-US" altLang="zh-TW" sz="2000"/>
              <a:t>k </a:t>
            </a:r>
            <a:r>
              <a:rPr lang="zh-TW" altLang="en-US" sz="2000"/>
              <a:t>個最近鄰，以估計遺漏值</a:t>
            </a:r>
            <a:r>
              <a:rPr lang="en-US" altLang="zh-TW" sz="2000"/>
              <a:t>(missing value)</a:t>
            </a:r>
            <a:r>
              <a:rPr lang="zh-TW" altLang="en-US" sz="2000"/>
              <a:t>。它透過計算這些鄰居數值的平均值（或加權平均值），來填補缺失值。此方法最適合用於數值型欄位，因為在這種情況下，距離可以被有意義地計算。</a:t>
            </a:r>
            <a:endParaRPr lang="en-US" altLang="zh-TW" sz="2000"/>
          </a:p>
          <a:p>
            <a:r>
              <a:rPr lang="en-US" altLang="zh-TW" sz="2000"/>
              <a:t>KNN(</a:t>
            </a:r>
            <a:r>
              <a:rPr lang="en-US" altLang="zh-TW" sz="2000" b="1" i="0">
                <a:effectLst/>
                <a:latin typeface="Roboto" panose="02000000000000000000" pitchFamily="2" charset="0"/>
              </a:rPr>
              <a:t>K-Nearest Neighbors</a:t>
            </a:r>
            <a:r>
              <a:rPr lang="en-US" altLang="zh-TW" sz="2000"/>
              <a:t>)</a:t>
            </a:r>
          </a:p>
          <a:p>
            <a:pPr lvl="1"/>
            <a:r>
              <a:rPr lang="zh-TW" altLang="en-US" sz="1800"/>
              <a:t>找出某個資料點的 </a:t>
            </a:r>
            <a:r>
              <a:rPr lang="en-US" altLang="zh-TW" sz="1800" b="1"/>
              <a:t>k </a:t>
            </a:r>
            <a:r>
              <a:rPr lang="zh-TW" altLang="en-US" sz="1800" b="1"/>
              <a:t>個最近鄰居</a:t>
            </a:r>
            <a:r>
              <a:rPr lang="zh-TW" altLang="en-US" sz="1800"/>
              <a:t>（依照距離計算，例如歐幾里得距離），用這些鄰居的數值 </a:t>
            </a:r>
            <a:r>
              <a:rPr lang="zh-TW" altLang="en-US" sz="1800" b="1"/>
              <a:t>平均值或加權平均值</a:t>
            </a:r>
            <a:r>
              <a:rPr lang="zh-TW" altLang="en-US" sz="1800"/>
              <a:t> 來填補缺失值</a:t>
            </a:r>
            <a:endParaRPr lang="en-US" altLang="zh-TW" sz="1800"/>
          </a:p>
          <a:p>
            <a:pPr lvl="1"/>
            <a:r>
              <a:rPr lang="zh-TW" altLang="en-US" sz="1800"/>
              <a:t>類別型資料（文字、分類）通常用 </a:t>
            </a:r>
            <a:r>
              <a:rPr lang="zh-TW" altLang="en-US" sz="1800" b="1"/>
              <a:t>眾數</a:t>
            </a:r>
            <a:r>
              <a:rPr lang="zh-TW" altLang="en-US" sz="1800"/>
              <a:t>（最常出現的值）來填補</a:t>
            </a:r>
            <a:endParaRPr lang="en-US" altLang="zh-TW" sz="1800"/>
          </a:p>
          <a:p>
            <a:r>
              <a:rPr lang="zh-TW" altLang="en-US" sz="2200"/>
              <a:t>程式範例</a:t>
            </a:r>
            <a:endParaRPr lang="en-US" altLang="zh-TW" sz="2200"/>
          </a:p>
          <a:p>
            <a:pPr marL="0" indent="0">
              <a:buNone/>
            </a:pPr>
            <a:endParaRPr lang="en-US" altLang="zh-TW" sz="2200"/>
          </a:p>
        </p:txBody>
      </p:sp>
      <p:sp>
        <p:nvSpPr>
          <p:cNvPr id="4" name="日期版面配置區 3">
            <a:extLst>
              <a:ext uri="{FF2B5EF4-FFF2-40B4-BE49-F238E27FC236}">
                <a16:creationId xmlns:a16="http://schemas.microsoft.com/office/drawing/2014/main" id="{E53D4292-1DF4-41CC-BD46-15B60E7470D0}"/>
              </a:ext>
            </a:extLst>
          </p:cNvPr>
          <p:cNvSpPr>
            <a:spLocks noGrp="1"/>
          </p:cNvSpPr>
          <p:nvPr>
            <p:ph type="dt" sz="half" idx="10"/>
          </p:nvPr>
        </p:nvSpPr>
        <p:spPr/>
        <p:txBody>
          <a:bodyPr/>
          <a:lstStyle/>
          <a:p>
            <a:fld id="{DDA6C788-E503-48DF-B619-C7A48C63C141}" type="datetime1">
              <a:rPr lang="en-US" altLang="zh-TW" smtClean="0"/>
              <a:t>4/16/26</a:t>
            </a:fld>
            <a:endParaRPr lang="en-US" dirty="0"/>
          </a:p>
        </p:txBody>
      </p:sp>
      <p:sp>
        <p:nvSpPr>
          <p:cNvPr id="5" name="投影片編號版面配置區 4">
            <a:extLst>
              <a:ext uri="{FF2B5EF4-FFF2-40B4-BE49-F238E27FC236}">
                <a16:creationId xmlns:a16="http://schemas.microsoft.com/office/drawing/2014/main" id="{02F13E10-3E35-435C-B70A-DF26B585EAD1}"/>
              </a:ext>
            </a:extLst>
          </p:cNvPr>
          <p:cNvSpPr>
            <a:spLocks noGrp="1"/>
          </p:cNvSpPr>
          <p:nvPr>
            <p:ph type="sldNum" sz="quarter" idx="12"/>
          </p:nvPr>
        </p:nvSpPr>
        <p:spPr/>
        <p:txBody>
          <a:bodyPr/>
          <a:lstStyle/>
          <a:p>
            <a:fld id="{4FAB73BC-B049-4115-A692-8D63A059BFB8}" type="slidenum">
              <a:rPr lang="en-US" smtClean="0"/>
              <a:t>6</a:t>
            </a:fld>
            <a:endParaRPr lang="en-US" dirty="0"/>
          </a:p>
        </p:txBody>
      </p:sp>
      <p:sp>
        <p:nvSpPr>
          <p:cNvPr id="6" name="內容版面配置區 2">
            <a:extLst>
              <a:ext uri="{FF2B5EF4-FFF2-40B4-BE49-F238E27FC236}">
                <a16:creationId xmlns:a16="http://schemas.microsoft.com/office/drawing/2014/main" id="{77D788A2-0483-4CE7-AA19-222C5DB150C7}"/>
              </a:ext>
            </a:extLst>
          </p:cNvPr>
          <p:cNvSpPr txBox="1">
            <a:spLocks/>
          </p:cNvSpPr>
          <p:nvPr/>
        </p:nvSpPr>
        <p:spPr>
          <a:xfrm>
            <a:off x="386321" y="3931108"/>
            <a:ext cx="11224726" cy="2411348"/>
          </a:xfrm>
          <a:prstGeom prst="rect">
            <a:avLst/>
          </a:prstGeom>
        </p:spPr>
        <p:txBody>
          <a:bodyPr vert="horz" lIns="91440" tIns="45720" rIns="91440" bIns="45720" rtlCol="0">
            <a:norm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400" b="1"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20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274320" lvl="1" indent="0">
              <a:buFont typeface="Wingdings" pitchFamily="2" charset="2"/>
              <a:buNone/>
            </a:pPr>
            <a:r>
              <a:rPr lang="en-US" altLang="zh-TW" sz="1800" dirty="0">
                <a:solidFill>
                  <a:srgbClr val="AA0D91"/>
                </a:solidFill>
                <a:latin typeface="Consolas" panose="020B0609020204030204" pitchFamily="49" charset="0"/>
              </a:rPr>
              <a:t>from</a:t>
            </a:r>
            <a:r>
              <a:rPr lang="en-US" altLang="zh-TW" sz="1800" dirty="0">
                <a:solidFill>
                  <a:srgbClr val="242424"/>
                </a:solidFill>
                <a:latin typeface="Consolas" panose="020B0609020204030204" pitchFamily="49" charset="0"/>
              </a:rPr>
              <a:t> </a:t>
            </a:r>
            <a:r>
              <a:rPr lang="en-US" altLang="zh-TW" sz="1800" dirty="0" err="1">
                <a:solidFill>
                  <a:srgbClr val="242424"/>
                </a:solidFill>
                <a:latin typeface="Consolas" panose="020B0609020204030204" pitchFamily="49" charset="0"/>
              </a:rPr>
              <a:t>sklearn.impute</a:t>
            </a:r>
            <a:r>
              <a:rPr lang="en-US" altLang="zh-TW" sz="1800" dirty="0">
                <a:solidFill>
                  <a:srgbClr val="242424"/>
                </a:solidFill>
                <a:latin typeface="Consolas" panose="020B0609020204030204" pitchFamily="49" charset="0"/>
              </a:rPr>
              <a:t> </a:t>
            </a:r>
            <a:r>
              <a:rPr lang="en-US" altLang="zh-TW" sz="1800" dirty="0">
                <a:solidFill>
                  <a:srgbClr val="AA0D91"/>
                </a:solidFill>
                <a:latin typeface="Consolas" panose="020B0609020204030204" pitchFamily="49" charset="0"/>
              </a:rPr>
              <a:t>import</a:t>
            </a:r>
            <a:r>
              <a:rPr lang="en-US" altLang="zh-TW" sz="1800" dirty="0">
                <a:solidFill>
                  <a:srgbClr val="242424"/>
                </a:solidFill>
                <a:latin typeface="Consolas" panose="020B0609020204030204" pitchFamily="49" charset="0"/>
              </a:rPr>
              <a:t> </a:t>
            </a:r>
            <a:r>
              <a:rPr lang="en-US" altLang="zh-TW" sz="1800" dirty="0" err="1">
                <a:solidFill>
                  <a:srgbClr val="242424"/>
                </a:solidFill>
                <a:latin typeface="Consolas" panose="020B0609020204030204" pitchFamily="49" charset="0"/>
              </a:rPr>
              <a:t>KNNImputer</a:t>
            </a:r>
            <a:endParaRPr lang="en-US" altLang="zh-TW" sz="1800" dirty="0">
              <a:solidFill>
                <a:srgbClr val="242424"/>
              </a:solidFill>
              <a:latin typeface="Consolas" panose="020B0609020204030204" pitchFamily="49" charset="0"/>
            </a:endParaRPr>
          </a:p>
          <a:p>
            <a:pPr marL="274320" lvl="1" indent="0">
              <a:buFont typeface="Wingdings" pitchFamily="2" charset="2"/>
              <a:buNone/>
            </a:pPr>
            <a:r>
              <a:rPr lang="en-US" altLang="zh-TW" sz="1800" dirty="0">
                <a:solidFill>
                  <a:srgbClr val="007400"/>
                </a:solidFill>
                <a:latin typeface="Consolas" panose="020B0609020204030204" pitchFamily="49" charset="0"/>
              </a:rPr>
              <a:t># </a:t>
            </a:r>
            <a:r>
              <a:rPr lang="zh-TW" altLang="en-US" sz="1800" dirty="0">
                <a:solidFill>
                  <a:srgbClr val="007400"/>
                </a:solidFill>
                <a:latin typeface="Consolas" panose="020B0609020204030204" pitchFamily="49" charset="0"/>
              </a:rPr>
              <a:t>數值型屬性欄位</a:t>
            </a:r>
            <a:endParaRPr lang="en-US" altLang="zh-TW" sz="1800" dirty="0">
              <a:solidFill>
                <a:srgbClr val="007400"/>
              </a:solidFill>
              <a:latin typeface="Consolas" panose="020B0609020204030204" pitchFamily="49" charset="0"/>
            </a:endParaRPr>
          </a:p>
          <a:p>
            <a:pPr marL="274320" lvl="1" indent="0">
              <a:buFont typeface="Wingdings" pitchFamily="2" charset="2"/>
              <a:buNone/>
            </a:pPr>
            <a:r>
              <a:rPr lang="en-US" altLang="zh-TW" sz="1800" dirty="0" err="1">
                <a:solidFill>
                  <a:srgbClr val="242424"/>
                </a:solidFill>
                <a:latin typeface="Consolas" panose="020B0609020204030204" pitchFamily="49" charset="0"/>
              </a:rPr>
              <a:t>num_data</a:t>
            </a:r>
            <a:r>
              <a:rPr lang="en-US" altLang="zh-TW" sz="1800" dirty="0">
                <a:solidFill>
                  <a:srgbClr val="242424"/>
                </a:solidFill>
                <a:latin typeface="Consolas" panose="020B0609020204030204" pitchFamily="49" charset="0"/>
              </a:rPr>
              <a:t> = df2[</a:t>
            </a:r>
            <a:r>
              <a:rPr lang="en-US" altLang="zh-TW" sz="1800" dirty="0" err="1">
                <a:solidFill>
                  <a:srgbClr val="242424"/>
                </a:solidFill>
                <a:latin typeface="Consolas" panose="020B0609020204030204" pitchFamily="49" charset="0"/>
              </a:rPr>
              <a:t>numerical_cols</a:t>
            </a:r>
            <a:r>
              <a:rPr lang="en-US" altLang="zh-TW" sz="1800" dirty="0">
                <a:solidFill>
                  <a:srgbClr val="242424"/>
                </a:solidFill>
                <a:latin typeface="Consolas" panose="020B0609020204030204" pitchFamily="49" charset="0"/>
              </a:rPr>
              <a:t>]</a:t>
            </a:r>
          </a:p>
          <a:p>
            <a:pPr marL="274320" lvl="1" indent="0">
              <a:buFont typeface="Wingdings" pitchFamily="2" charset="2"/>
              <a:buNone/>
            </a:pPr>
            <a:r>
              <a:rPr lang="en-US" altLang="zh-TW" sz="1800" dirty="0">
                <a:solidFill>
                  <a:srgbClr val="007400"/>
                </a:solidFill>
                <a:latin typeface="Consolas" panose="020B0609020204030204" pitchFamily="49" charset="0"/>
              </a:rPr>
              <a:t># </a:t>
            </a:r>
            <a:r>
              <a:rPr lang="zh-TW" altLang="en-US" sz="1800" dirty="0">
                <a:solidFill>
                  <a:srgbClr val="007400"/>
                </a:solidFill>
                <a:latin typeface="Consolas" panose="020B0609020204030204" pitchFamily="49" charset="0"/>
              </a:rPr>
              <a:t>呼叫 </a:t>
            </a:r>
            <a:r>
              <a:rPr lang="en-US" altLang="zh-TW" sz="1800" dirty="0">
                <a:solidFill>
                  <a:srgbClr val="007400"/>
                </a:solidFill>
                <a:latin typeface="Consolas" panose="020B0609020204030204" pitchFamily="49" charset="0"/>
              </a:rPr>
              <a:t>KNN Imputer</a:t>
            </a:r>
          </a:p>
          <a:p>
            <a:pPr marL="274320" lvl="1" indent="0">
              <a:buFont typeface="Wingdings" pitchFamily="2" charset="2"/>
              <a:buNone/>
            </a:pPr>
            <a:r>
              <a:rPr lang="en-US" altLang="zh-TW" sz="1800" dirty="0">
                <a:solidFill>
                  <a:srgbClr val="242424"/>
                </a:solidFill>
                <a:latin typeface="Consolas" panose="020B0609020204030204" pitchFamily="49" charset="0"/>
              </a:rPr>
              <a:t>imputer = </a:t>
            </a:r>
            <a:r>
              <a:rPr lang="en-US" altLang="zh-TW" sz="1800" dirty="0" err="1">
                <a:solidFill>
                  <a:srgbClr val="242424"/>
                </a:solidFill>
                <a:latin typeface="Consolas" panose="020B0609020204030204" pitchFamily="49" charset="0"/>
              </a:rPr>
              <a:t>KNNImputer</a:t>
            </a:r>
            <a:r>
              <a:rPr lang="en-US" altLang="zh-TW" sz="1800" dirty="0">
                <a:solidFill>
                  <a:srgbClr val="242424"/>
                </a:solidFill>
                <a:latin typeface="Consolas" panose="020B0609020204030204" pitchFamily="49" charset="0"/>
              </a:rPr>
              <a:t>(</a:t>
            </a:r>
            <a:r>
              <a:rPr lang="en-US" altLang="zh-TW" sz="1800" dirty="0" err="1">
                <a:solidFill>
                  <a:srgbClr val="242424"/>
                </a:solidFill>
                <a:latin typeface="Consolas" panose="020B0609020204030204" pitchFamily="49" charset="0"/>
              </a:rPr>
              <a:t>n_neighbors</a:t>
            </a:r>
            <a:r>
              <a:rPr lang="en-US" altLang="zh-TW" sz="1800" dirty="0">
                <a:solidFill>
                  <a:srgbClr val="242424"/>
                </a:solidFill>
                <a:latin typeface="Consolas" panose="020B0609020204030204" pitchFamily="49" charset="0"/>
              </a:rPr>
              <a:t>=</a:t>
            </a:r>
            <a:r>
              <a:rPr lang="en-US" altLang="zh-TW" sz="1800" dirty="0">
                <a:solidFill>
                  <a:srgbClr val="1C00CF"/>
                </a:solidFill>
                <a:latin typeface="Consolas" panose="020B0609020204030204" pitchFamily="49" charset="0"/>
              </a:rPr>
              <a:t>5</a:t>
            </a:r>
            <a:r>
              <a:rPr lang="en-US" altLang="zh-TW" sz="1800" dirty="0">
                <a:solidFill>
                  <a:srgbClr val="242424"/>
                </a:solidFill>
                <a:latin typeface="Consolas" panose="020B0609020204030204" pitchFamily="49" charset="0"/>
              </a:rPr>
              <a:t>)</a:t>
            </a:r>
          </a:p>
          <a:p>
            <a:pPr marL="274320" lvl="1" indent="0">
              <a:buFont typeface="Wingdings" pitchFamily="2" charset="2"/>
              <a:buNone/>
            </a:pPr>
            <a:r>
              <a:rPr lang="en-US" altLang="zh-TW" sz="1800" dirty="0" err="1">
                <a:solidFill>
                  <a:srgbClr val="242424"/>
                </a:solidFill>
                <a:latin typeface="Consolas" panose="020B0609020204030204" pitchFamily="49" charset="0"/>
              </a:rPr>
              <a:t>num_data_imputed</a:t>
            </a:r>
            <a:r>
              <a:rPr lang="en-US" altLang="zh-TW" sz="1800" dirty="0">
                <a:solidFill>
                  <a:srgbClr val="242424"/>
                </a:solidFill>
                <a:latin typeface="Consolas" panose="020B0609020204030204" pitchFamily="49" charset="0"/>
              </a:rPr>
              <a:t> = </a:t>
            </a:r>
            <a:r>
              <a:rPr lang="en-US" altLang="zh-TW" sz="1800" dirty="0" err="1">
                <a:solidFill>
                  <a:srgbClr val="242424"/>
                </a:solidFill>
                <a:latin typeface="Consolas" panose="020B0609020204030204" pitchFamily="49" charset="0"/>
              </a:rPr>
              <a:t>pd.DataFrame</a:t>
            </a:r>
            <a:r>
              <a:rPr lang="en-US" altLang="zh-TW" sz="1800" dirty="0">
                <a:solidFill>
                  <a:srgbClr val="242424"/>
                </a:solidFill>
                <a:latin typeface="Consolas" panose="020B0609020204030204" pitchFamily="49" charset="0"/>
              </a:rPr>
              <a:t>(</a:t>
            </a:r>
            <a:r>
              <a:rPr lang="en-US" altLang="zh-TW" sz="1800" dirty="0" err="1">
                <a:solidFill>
                  <a:srgbClr val="242424"/>
                </a:solidFill>
                <a:latin typeface="Consolas" panose="020B0609020204030204" pitchFamily="49" charset="0"/>
              </a:rPr>
              <a:t>imputer.fit_transform</a:t>
            </a:r>
            <a:r>
              <a:rPr lang="en-US" altLang="zh-TW" sz="1800" dirty="0">
                <a:solidFill>
                  <a:srgbClr val="242424"/>
                </a:solidFill>
                <a:latin typeface="Consolas" panose="020B0609020204030204" pitchFamily="49" charset="0"/>
              </a:rPr>
              <a:t>(</a:t>
            </a:r>
            <a:r>
              <a:rPr lang="en-US" altLang="zh-TW" sz="1800" dirty="0" err="1">
                <a:solidFill>
                  <a:srgbClr val="242424"/>
                </a:solidFill>
                <a:latin typeface="Consolas" panose="020B0609020204030204" pitchFamily="49" charset="0"/>
              </a:rPr>
              <a:t>num_data</a:t>
            </a:r>
            <a:r>
              <a:rPr lang="en-US" altLang="zh-TW" sz="1800" dirty="0">
                <a:solidFill>
                  <a:srgbClr val="242424"/>
                </a:solidFill>
                <a:latin typeface="Consolas" panose="020B0609020204030204" pitchFamily="49" charset="0"/>
              </a:rPr>
              <a:t>), columns=</a:t>
            </a:r>
            <a:r>
              <a:rPr lang="en-US" altLang="zh-TW" sz="1800" dirty="0" err="1">
                <a:solidFill>
                  <a:srgbClr val="242424"/>
                </a:solidFill>
                <a:latin typeface="Consolas" panose="020B0609020204030204" pitchFamily="49" charset="0"/>
              </a:rPr>
              <a:t>num_data.columns</a:t>
            </a:r>
            <a:r>
              <a:rPr lang="en-US" altLang="zh-TW" sz="1800" dirty="0">
                <a:solidFill>
                  <a:srgbClr val="242424"/>
                </a:solidFill>
                <a:latin typeface="Consolas" panose="020B0609020204030204" pitchFamily="49" charset="0"/>
              </a:rPr>
              <a:t>)</a:t>
            </a:r>
          </a:p>
        </p:txBody>
      </p:sp>
    </p:spTree>
    <p:extLst>
      <p:ext uri="{BB962C8B-B14F-4D97-AF65-F5344CB8AC3E}">
        <p14:creationId xmlns:p14="http://schemas.microsoft.com/office/powerpoint/2010/main" val="36280523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4FC6242-0977-4116-AC6A-A2EFDEC20E41}"/>
              </a:ext>
            </a:extLst>
          </p:cNvPr>
          <p:cNvSpPr>
            <a:spLocks noGrp="1"/>
          </p:cNvSpPr>
          <p:nvPr>
            <p:ph type="title"/>
          </p:nvPr>
        </p:nvSpPr>
        <p:spPr/>
        <p:txBody>
          <a:bodyPr>
            <a:noAutofit/>
          </a:bodyPr>
          <a:lstStyle/>
          <a:p>
            <a:r>
              <a:rPr lang="zh-TW" altLang="en-US" sz="2400" b="1"/>
              <a:t>類別型資料（文字、分類）通常用 眾數（最常出現的值）來填補</a:t>
            </a:r>
          </a:p>
        </p:txBody>
      </p:sp>
      <p:sp>
        <p:nvSpPr>
          <p:cNvPr id="3" name="內容版面配置區 2">
            <a:extLst>
              <a:ext uri="{FF2B5EF4-FFF2-40B4-BE49-F238E27FC236}">
                <a16:creationId xmlns:a16="http://schemas.microsoft.com/office/drawing/2014/main" id="{B8499223-4DAB-4AC5-8AC1-8E3A8C2B3E1F}"/>
              </a:ext>
            </a:extLst>
          </p:cNvPr>
          <p:cNvSpPr>
            <a:spLocks noGrp="1"/>
          </p:cNvSpPr>
          <p:nvPr>
            <p:ph idx="1"/>
          </p:nvPr>
        </p:nvSpPr>
        <p:spPr>
          <a:xfrm>
            <a:off x="483637" y="1244906"/>
            <a:ext cx="11224726" cy="3721116"/>
          </a:xfrm>
        </p:spPr>
        <p:txBody>
          <a:bodyPr>
            <a:normAutofit/>
          </a:bodyPr>
          <a:lstStyle/>
          <a:p>
            <a:pPr marL="274320" lvl="1" indent="0">
              <a:buNone/>
            </a:pPr>
            <a:r>
              <a:rPr lang="en-US" altLang="zh-TW" sz="1800" b="0" i="0">
                <a:solidFill>
                  <a:srgbClr val="007400"/>
                </a:solidFill>
                <a:effectLst/>
                <a:latin typeface="Consolas" panose="020B0609020204030204" pitchFamily="49" charset="0"/>
              </a:rPr>
              <a:t># Extract only categorical columns</a:t>
            </a:r>
          </a:p>
          <a:p>
            <a:pPr marL="274320" lvl="1" indent="0">
              <a:buNone/>
            </a:pPr>
            <a:r>
              <a:rPr lang="en-US" altLang="zh-TW" sz="1800" b="0" i="0">
                <a:solidFill>
                  <a:srgbClr val="242424"/>
                </a:solidFill>
                <a:effectLst/>
                <a:latin typeface="Consolas" panose="020B0609020204030204" pitchFamily="49" charset="0"/>
              </a:rPr>
              <a:t>cat_data = df2[categorical_cols]</a:t>
            </a:r>
          </a:p>
          <a:p>
            <a:pPr marL="274320" lvl="1" indent="0">
              <a:buNone/>
            </a:pPr>
            <a:r>
              <a:rPr lang="en-US" altLang="zh-TW" sz="1800" b="0" i="0">
                <a:solidFill>
                  <a:srgbClr val="007400"/>
                </a:solidFill>
                <a:effectLst/>
                <a:latin typeface="Consolas" panose="020B0609020204030204" pitchFamily="49" charset="0"/>
              </a:rPr>
              <a:t># Fill missing values in categorical columns with the mode</a:t>
            </a:r>
          </a:p>
          <a:p>
            <a:pPr marL="274320" lvl="1" indent="0">
              <a:buNone/>
            </a:pPr>
            <a:r>
              <a:rPr lang="en-US" altLang="zh-TW" sz="1800" b="0" i="0">
                <a:solidFill>
                  <a:srgbClr val="AA0D91"/>
                </a:solidFill>
                <a:effectLst/>
                <a:latin typeface="Consolas" panose="020B0609020204030204" pitchFamily="49" charset="0"/>
              </a:rPr>
              <a:t>for</a:t>
            </a:r>
            <a:r>
              <a:rPr lang="en-US" altLang="zh-TW" sz="1800" b="0" i="0">
                <a:solidFill>
                  <a:srgbClr val="242424"/>
                </a:solidFill>
                <a:effectLst/>
                <a:latin typeface="Consolas" panose="020B0609020204030204" pitchFamily="49" charset="0"/>
              </a:rPr>
              <a:t> col </a:t>
            </a:r>
            <a:r>
              <a:rPr lang="en-US" altLang="zh-TW" sz="1800" b="0" i="0">
                <a:solidFill>
                  <a:srgbClr val="AA0D91"/>
                </a:solidFill>
                <a:effectLst/>
                <a:latin typeface="Consolas" panose="020B0609020204030204" pitchFamily="49" charset="0"/>
              </a:rPr>
              <a:t>in</a:t>
            </a:r>
            <a:r>
              <a:rPr lang="en-US" altLang="zh-TW" sz="1800" b="0" i="0">
                <a:solidFill>
                  <a:srgbClr val="242424"/>
                </a:solidFill>
                <a:effectLst/>
                <a:latin typeface="Consolas" panose="020B0609020204030204" pitchFamily="49" charset="0"/>
              </a:rPr>
              <a:t> categorical_cols:</a:t>
            </a:r>
          </a:p>
          <a:p>
            <a:pPr marL="548640" lvl="2" indent="0">
              <a:buNone/>
            </a:pPr>
            <a:r>
              <a:rPr lang="en-US" altLang="zh-TW" b="0" i="0">
                <a:solidFill>
                  <a:srgbClr val="242424"/>
                </a:solidFill>
                <a:effectLst/>
                <a:latin typeface="Consolas" panose="020B0609020204030204" pitchFamily="49" charset="0"/>
              </a:rPr>
              <a:t>cat_data[col].fillna(cat_data[col].mode()[</a:t>
            </a:r>
            <a:r>
              <a:rPr lang="en-US" altLang="zh-TW" b="0" i="0">
                <a:solidFill>
                  <a:srgbClr val="1C00CF"/>
                </a:solidFill>
                <a:effectLst/>
                <a:latin typeface="Consolas" panose="020B0609020204030204" pitchFamily="49" charset="0"/>
              </a:rPr>
              <a:t>0</a:t>
            </a:r>
            <a:r>
              <a:rPr lang="en-US" altLang="zh-TW" b="0" i="0">
                <a:solidFill>
                  <a:srgbClr val="242424"/>
                </a:solidFill>
                <a:effectLst/>
                <a:latin typeface="Consolas" panose="020B0609020204030204" pitchFamily="49" charset="0"/>
              </a:rPr>
              <a:t>], inplace=</a:t>
            </a:r>
            <a:r>
              <a:rPr lang="en-US" altLang="zh-TW" b="0" i="0">
                <a:solidFill>
                  <a:srgbClr val="AA0D91"/>
                </a:solidFill>
                <a:effectLst/>
                <a:latin typeface="Consolas" panose="020B0609020204030204" pitchFamily="49" charset="0"/>
              </a:rPr>
              <a:t>True</a:t>
            </a:r>
            <a:r>
              <a:rPr lang="en-US" altLang="zh-TW" b="0" i="0">
                <a:solidFill>
                  <a:srgbClr val="242424"/>
                </a:solidFill>
                <a:effectLst/>
                <a:latin typeface="Consolas" panose="020B0609020204030204" pitchFamily="49" charset="0"/>
              </a:rPr>
              <a:t>)</a:t>
            </a:r>
          </a:p>
          <a:p>
            <a:pPr marL="274320" lvl="1" indent="0">
              <a:buNone/>
            </a:pPr>
            <a:r>
              <a:rPr lang="en-US" altLang="zh-TW" sz="1800" b="0" i="0">
                <a:solidFill>
                  <a:srgbClr val="007400"/>
                </a:solidFill>
                <a:effectLst/>
                <a:latin typeface="Consolas" panose="020B0609020204030204" pitchFamily="49" charset="0"/>
              </a:rPr>
              <a:t># Combine the imputed numerical data and filled categorical data</a:t>
            </a:r>
          </a:p>
          <a:p>
            <a:pPr marL="274320" lvl="1" indent="0">
              <a:buNone/>
            </a:pPr>
            <a:r>
              <a:rPr lang="en-US" altLang="zh-TW" sz="1800" b="0" i="0">
                <a:solidFill>
                  <a:srgbClr val="242424"/>
                </a:solidFill>
                <a:effectLst/>
                <a:latin typeface="Consolas" panose="020B0609020204030204" pitchFamily="49" charset="0"/>
              </a:rPr>
              <a:t>df2 = pd.concat([num_data_imputed, cat_data], axis=</a:t>
            </a:r>
            <a:r>
              <a:rPr lang="en-US" altLang="zh-TW" sz="1800" b="0" i="0">
                <a:solidFill>
                  <a:srgbClr val="1C00CF"/>
                </a:solidFill>
                <a:effectLst/>
                <a:latin typeface="Consolas" panose="020B0609020204030204" pitchFamily="49" charset="0"/>
              </a:rPr>
              <a:t>1</a:t>
            </a:r>
            <a:r>
              <a:rPr lang="en-US" altLang="zh-TW" sz="1800" b="0" i="0">
                <a:solidFill>
                  <a:srgbClr val="242424"/>
                </a:solidFill>
                <a:effectLst/>
                <a:latin typeface="Consolas" panose="020B0609020204030204" pitchFamily="49" charset="0"/>
              </a:rPr>
              <a:t>)</a:t>
            </a:r>
            <a:endParaRPr lang="zh-TW" altLang="en-US" sz="1800">
              <a:latin typeface="Consolas" panose="020B0609020204030204" pitchFamily="49" charset="0"/>
            </a:endParaRPr>
          </a:p>
        </p:txBody>
      </p:sp>
      <p:sp>
        <p:nvSpPr>
          <p:cNvPr id="4" name="日期版面配置區 3">
            <a:extLst>
              <a:ext uri="{FF2B5EF4-FFF2-40B4-BE49-F238E27FC236}">
                <a16:creationId xmlns:a16="http://schemas.microsoft.com/office/drawing/2014/main" id="{7938D43D-292C-4049-A972-D36C31190B09}"/>
              </a:ext>
            </a:extLst>
          </p:cNvPr>
          <p:cNvSpPr>
            <a:spLocks noGrp="1"/>
          </p:cNvSpPr>
          <p:nvPr>
            <p:ph type="dt" sz="half" idx="10"/>
          </p:nvPr>
        </p:nvSpPr>
        <p:spPr/>
        <p:txBody>
          <a:bodyPr/>
          <a:lstStyle/>
          <a:p>
            <a:fld id="{DDA6C788-E503-48DF-B619-C7A48C63C141}" type="datetime1">
              <a:rPr lang="en-US" altLang="zh-TW" smtClean="0"/>
              <a:t>4/16/26</a:t>
            </a:fld>
            <a:endParaRPr lang="en-US" dirty="0"/>
          </a:p>
        </p:txBody>
      </p:sp>
      <p:sp>
        <p:nvSpPr>
          <p:cNvPr id="5" name="投影片編號版面配置區 4">
            <a:extLst>
              <a:ext uri="{FF2B5EF4-FFF2-40B4-BE49-F238E27FC236}">
                <a16:creationId xmlns:a16="http://schemas.microsoft.com/office/drawing/2014/main" id="{407417C6-4643-4AFC-AB9F-CE05160DC113}"/>
              </a:ext>
            </a:extLst>
          </p:cNvPr>
          <p:cNvSpPr>
            <a:spLocks noGrp="1"/>
          </p:cNvSpPr>
          <p:nvPr>
            <p:ph type="sldNum" sz="quarter" idx="12"/>
          </p:nvPr>
        </p:nvSpPr>
        <p:spPr/>
        <p:txBody>
          <a:bodyPr/>
          <a:lstStyle/>
          <a:p>
            <a:fld id="{4FAB73BC-B049-4115-A692-8D63A059BFB8}" type="slidenum">
              <a:rPr lang="en-US" smtClean="0"/>
              <a:t>7</a:t>
            </a:fld>
            <a:endParaRPr lang="en-US" dirty="0"/>
          </a:p>
        </p:txBody>
      </p:sp>
    </p:spTree>
    <p:extLst>
      <p:ext uri="{BB962C8B-B14F-4D97-AF65-F5344CB8AC3E}">
        <p14:creationId xmlns:p14="http://schemas.microsoft.com/office/powerpoint/2010/main" val="38654802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2816309-7C27-45AD-B3A1-8809C8604C8B}"/>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B9AD5225-C1FD-45E9-92BE-D3ACE3ADCD3B}"/>
              </a:ext>
            </a:extLst>
          </p:cNvPr>
          <p:cNvSpPr>
            <a:spLocks noGrp="1"/>
          </p:cNvSpPr>
          <p:nvPr>
            <p:ph idx="1"/>
          </p:nvPr>
        </p:nvSpPr>
        <p:spPr/>
        <p:txBody>
          <a:bodyPr/>
          <a:lstStyle/>
          <a:p>
            <a:r>
              <a:rPr lang="zh-TW" altLang="en-US"/>
              <a:t>資料集遺漏值</a:t>
            </a:r>
            <a:r>
              <a:rPr lang="en-US" altLang="zh-TW"/>
              <a:t>heatmap</a:t>
            </a:r>
          </a:p>
          <a:p>
            <a:pPr lvl="1"/>
            <a:r>
              <a:rPr lang="en-US" altLang="zh-TW" b="1">
                <a:solidFill>
                  <a:srgbClr val="0000FF"/>
                </a:solidFill>
                <a:latin typeface="Consolas" panose="020B0609020204030204" pitchFamily="49" charset="0"/>
              </a:rPr>
              <a:t>sns.heatmap(df.isnull(), cbar=false, cmap=‘viridis’)</a:t>
            </a:r>
          </a:p>
          <a:p>
            <a:pPr lvl="1"/>
            <a:r>
              <a:rPr lang="en-US" altLang="zh-TW" b="1">
                <a:solidFill>
                  <a:srgbClr val="0000FF"/>
                </a:solidFill>
                <a:latin typeface="Consolas" panose="020B0609020204030204" pitchFamily="49" charset="0"/>
              </a:rPr>
              <a:t>plt.show()</a:t>
            </a:r>
            <a:endParaRPr lang="zh-TW" altLang="en-US" b="1">
              <a:solidFill>
                <a:srgbClr val="0000FF"/>
              </a:solidFill>
              <a:latin typeface="Consolas" panose="020B0609020204030204" pitchFamily="49" charset="0"/>
            </a:endParaRPr>
          </a:p>
        </p:txBody>
      </p:sp>
      <p:sp>
        <p:nvSpPr>
          <p:cNvPr id="4" name="日期版面配置區 3">
            <a:extLst>
              <a:ext uri="{FF2B5EF4-FFF2-40B4-BE49-F238E27FC236}">
                <a16:creationId xmlns:a16="http://schemas.microsoft.com/office/drawing/2014/main" id="{FE16AE80-9486-4DE0-A417-E1DDB54F998C}"/>
              </a:ext>
            </a:extLst>
          </p:cNvPr>
          <p:cNvSpPr>
            <a:spLocks noGrp="1"/>
          </p:cNvSpPr>
          <p:nvPr>
            <p:ph type="dt" sz="half" idx="10"/>
          </p:nvPr>
        </p:nvSpPr>
        <p:spPr/>
        <p:txBody>
          <a:bodyPr/>
          <a:lstStyle/>
          <a:p>
            <a:fld id="{DDA6C788-E503-48DF-B619-C7A48C63C141}" type="datetime1">
              <a:rPr lang="en-US" altLang="zh-TW" smtClean="0"/>
              <a:t>4/16/26</a:t>
            </a:fld>
            <a:endParaRPr lang="en-US" dirty="0"/>
          </a:p>
        </p:txBody>
      </p:sp>
      <p:sp>
        <p:nvSpPr>
          <p:cNvPr id="5" name="投影片編號版面配置區 4">
            <a:extLst>
              <a:ext uri="{FF2B5EF4-FFF2-40B4-BE49-F238E27FC236}">
                <a16:creationId xmlns:a16="http://schemas.microsoft.com/office/drawing/2014/main" id="{A3F81244-1F48-4538-86F6-BD3CCA65D6D8}"/>
              </a:ext>
            </a:extLst>
          </p:cNvPr>
          <p:cNvSpPr>
            <a:spLocks noGrp="1"/>
          </p:cNvSpPr>
          <p:nvPr>
            <p:ph type="sldNum" sz="quarter" idx="12"/>
          </p:nvPr>
        </p:nvSpPr>
        <p:spPr/>
        <p:txBody>
          <a:bodyPr/>
          <a:lstStyle/>
          <a:p>
            <a:fld id="{4FAB73BC-B049-4115-A692-8D63A059BFB8}" type="slidenum">
              <a:rPr lang="en-US" smtClean="0"/>
              <a:t>8</a:t>
            </a:fld>
            <a:endParaRPr lang="en-US" dirty="0"/>
          </a:p>
        </p:txBody>
      </p:sp>
    </p:spTree>
    <p:extLst>
      <p:ext uri="{BB962C8B-B14F-4D97-AF65-F5344CB8AC3E}">
        <p14:creationId xmlns:p14="http://schemas.microsoft.com/office/powerpoint/2010/main" val="14274539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0BA93FF-28C7-4E14-8235-9F4E41D947E4}"/>
              </a:ext>
            </a:extLst>
          </p:cNvPr>
          <p:cNvSpPr>
            <a:spLocks noGrp="1"/>
          </p:cNvSpPr>
          <p:nvPr>
            <p:ph type="title"/>
          </p:nvPr>
        </p:nvSpPr>
        <p:spPr/>
        <p:txBody>
          <a:bodyPr>
            <a:normAutofit/>
          </a:bodyPr>
          <a:lstStyle/>
          <a:p>
            <a:r>
              <a:rPr lang="en-US" altLang="zh-TW"/>
              <a:t>Removing duplicates</a:t>
            </a:r>
            <a:endParaRPr lang="zh-TW" altLang="en-US"/>
          </a:p>
        </p:txBody>
      </p:sp>
      <p:sp>
        <p:nvSpPr>
          <p:cNvPr id="3" name="內容版面配置區 2">
            <a:extLst>
              <a:ext uri="{FF2B5EF4-FFF2-40B4-BE49-F238E27FC236}">
                <a16:creationId xmlns:a16="http://schemas.microsoft.com/office/drawing/2014/main" id="{F041CEBA-C62B-4420-89AB-63325009B7E8}"/>
              </a:ext>
            </a:extLst>
          </p:cNvPr>
          <p:cNvSpPr>
            <a:spLocks noGrp="1"/>
          </p:cNvSpPr>
          <p:nvPr>
            <p:ph idx="1"/>
          </p:nvPr>
        </p:nvSpPr>
        <p:spPr/>
        <p:txBody>
          <a:bodyPr/>
          <a:lstStyle/>
          <a:p>
            <a:r>
              <a:rPr lang="en-US" altLang="zh-TW"/>
              <a:t>Pandas</a:t>
            </a:r>
            <a:r>
              <a:rPr lang="zh-TW" altLang="en-US"/>
              <a:t>函數用來從</a:t>
            </a:r>
            <a:r>
              <a:rPr lang="en-US" altLang="zh-TW"/>
              <a:t>dataframe</a:t>
            </a:r>
            <a:r>
              <a:rPr lang="zh-TW" altLang="en-US"/>
              <a:t>的資料列中找出或移除重複資料</a:t>
            </a:r>
            <a:endParaRPr lang="en-US" altLang="zh-TW"/>
          </a:p>
          <a:p>
            <a:pPr lvl="1"/>
            <a:r>
              <a:rPr lang="en-US" altLang="zh-TW" b="1">
                <a:solidFill>
                  <a:srgbClr val="0000FF"/>
                </a:solidFill>
                <a:latin typeface="Consolas" panose="020B0609020204030204" pitchFamily="49" charset="0"/>
              </a:rPr>
              <a:t>df.duplicated(</a:t>
            </a:r>
            <a:r>
              <a:rPr lang="en-US" altLang="zh-TW" b="1">
                <a:solidFill>
                  <a:srgbClr val="00B050"/>
                </a:solidFill>
                <a:latin typeface="Consolas" panose="020B0609020204030204" pitchFamily="49" charset="0"/>
              </a:rPr>
              <a:t>subset</a:t>
            </a:r>
            <a:r>
              <a:rPr lang="en-US" altLang="zh-TW" b="1">
                <a:solidFill>
                  <a:srgbClr val="0000FF"/>
                </a:solidFill>
                <a:latin typeface="Consolas" panose="020B0609020204030204" pitchFamily="49" charset="0"/>
              </a:rPr>
              <a:t>=</a:t>
            </a:r>
            <a:r>
              <a:rPr lang="en-US" altLang="zh-TW" b="1">
                <a:latin typeface="Consolas" panose="020B0609020204030204" pitchFamily="49" charset="0"/>
              </a:rPr>
              <a:t>[colnames]</a:t>
            </a:r>
            <a:r>
              <a:rPr lang="en-US" altLang="zh-TW" b="1">
                <a:solidFill>
                  <a:srgbClr val="0000FF"/>
                </a:solidFill>
                <a:latin typeface="Consolas" panose="020B0609020204030204" pitchFamily="49" charset="0"/>
              </a:rPr>
              <a:t>, </a:t>
            </a:r>
            <a:r>
              <a:rPr lang="en-US" altLang="zh-TW" b="1">
                <a:solidFill>
                  <a:srgbClr val="00B050"/>
                </a:solidFill>
                <a:latin typeface="Consolas" panose="020B0609020204030204" pitchFamily="49" charset="0"/>
              </a:rPr>
              <a:t>keep</a:t>
            </a:r>
            <a:r>
              <a:rPr lang="en-US" altLang="zh-TW" b="1">
                <a:solidFill>
                  <a:srgbClr val="0000FF"/>
                </a:solidFill>
                <a:latin typeface="Consolas" panose="020B0609020204030204" pitchFamily="49" charset="0"/>
              </a:rPr>
              <a:t>=</a:t>
            </a:r>
            <a:r>
              <a:rPr lang="en-US" altLang="zh-TW" b="1">
                <a:latin typeface="Consolas" panose="020B0609020204030204" pitchFamily="49" charset="0"/>
              </a:rPr>
              <a:t>first/last/False</a:t>
            </a:r>
            <a:r>
              <a:rPr lang="en-US" altLang="zh-TW" b="1">
                <a:solidFill>
                  <a:srgbClr val="0000FF"/>
                </a:solidFill>
                <a:latin typeface="Consolas" panose="020B0609020204030204" pitchFamily="49" charset="0"/>
              </a:rPr>
              <a:t>) </a:t>
            </a:r>
            <a:r>
              <a:rPr lang="en-US" altLang="zh-TW"/>
              <a:t>:</a:t>
            </a:r>
            <a:r>
              <a:rPr lang="zh-TW" altLang="en-US" b="0" i="0">
                <a:solidFill>
                  <a:srgbClr val="000000"/>
                </a:solidFill>
                <a:effectLst/>
                <a:latin typeface="times" panose="02020603050405020304" pitchFamily="18" charset="0"/>
              </a:rPr>
              <a:t>查找所有欄位資料完全一樣的重複資料</a:t>
            </a:r>
          </a:p>
          <a:p>
            <a:pPr lvl="1"/>
            <a:r>
              <a:rPr lang="en-US" altLang="zh-TW" b="1">
                <a:solidFill>
                  <a:srgbClr val="0000FF"/>
                </a:solidFill>
                <a:latin typeface="Consolas" panose="020B0609020204030204" pitchFamily="49" charset="0"/>
              </a:rPr>
              <a:t>df.drop_duplicates(…, </a:t>
            </a:r>
            <a:r>
              <a:rPr lang="en-US" altLang="zh-TW" b="1">
                <a:solidFill>
                  <a:srgbClr val="00B050"/>
                </a:solidFill>
                <a:latin typeface="Consolas" panose="020B0609020204030204" pitchFamily="49" charset="0"/>
              </a:rPr>
              <a:t>inplace</a:t>
            </a:r>
            <a:r>
              <a:rPr lang="en-US" altLang="zh-TW" b="1">
                <a:solidFill>
                  <a:srgbClr val="0000FF"/>
                </a:solidFill>
                <a:latin typeface="Consolas" panose="020B0609020204030204" pitchFamily="49" charset="0"/>
              </a:rPr>
              <a:t>=</a:t>
            </a:r>
            <a:r>
              <a:rPr lang="en-US" altLang="zh-TW" b="1">
                <a:latin typeface="Consolas" panose="020B0609020204030204" pitchFamily="49" charset="0"/>
              </a:rPr>
              <a:t>True</a:t>
            </a:r>
            <a:r>
              <a:rPr lang="en-US" altLang="zh-TW" b="1">
                <a:solidFill>
                  <a:srgbClr val="0000FF"/>
                </a:solidFill>
                <a:latin typeface="Consolas" panose="020B0609020204030204" pitchFamily="49" charset="0"/>
              </a:rPr>
              <a:t>) </a:t>
            </a:r>
            <a:r>
              <a:rPr lang="en-US" altLang="zh-TW"/>
              <a:t>:</a:t>
            </a:r>
            <a:r>
              <a:rPr lang="zh-TW" altLang="en-US" b="0" i="0">
                <a:solidFill>
                  <a:srgbClr val="000000"/>
                </a:solidFill>
                <a:effectLst/>
                <a:latin typeface="times" panose="02020603050405020304" pitchFamily="18" charset="0"/>
              </a:rPr>
              <a:t>刪除完全一樣的重複資料</a:t>
            </a:r>
            <a:endParaRPr lang="en-US" altLang="zh-TW"/>
          </a:p>
        </p:txBody>
      </p:sp>
      <p:sp>
        <p:nvSpPr>
          <p:cNvPr id="4" name="日期版面配置區 3">
            <a:extLst>
              <a:ext uri="{FF2B5EF4-FFF2-40B4-BE49-F238E27FC236}">
                <a16:creationId xmlns:a16="http://schemas.microsoft.com/office/drawing/2014/main" id="{F6612FED-FFA7-48FE-9F19-A714DAC523DA}"/>
              </a:ext>
            </a:extLst>
          </p:cNvPr>
          <p:cNvSpPr>
            <a:spLocks noGrp="1"/>
          </p:cNvSpPr>
          <p:nvPr>
            <p:ph type="dt" sz="half" idx="10"/>
          </p:nvPr>
        </p:nvSpPr>
        <p:spPr/>
        <p:txBody>
          <a:bodyPr/>
          <a:lstStyle/>
          <a:p>
            <a:fld id="{D8A9264C-55B4-4EBC-BAC3-B3689AF556A6}" type="datetime1">
              <a:rPr lang="en-US" altLang="zh-TW" smtClean="0"/>
              <a:t>4/16/26</a:t>
            </a:fld>
            <a:endParaRPr lang="en-US" dirty="0"/>
          </a:p>
        </p:txBody>
      </p:sp>
      <p:sp>
        <p:nvSpPr>
          <p:cNvPr id="5" name="投影片編號版面配置區 4">
            <a:extLst>
              <a:ext uri="{FF2B5EF4-FFF2-40B4-BE49-F238E27FC236}">
                <a16:creationId xmlns:a16="http://schemas.microsoft.com/office/drawing/2014/main" id="{2DF91E1A-A8B9-4032-86F8-063097E1D1C4}"/>
              </a:ext>
            </a:extLst>
          </p:cNvPr>
          <p:cNvSpPr>
            <a:spLocks noGrp="1"/>
          </p:cNvSpPr>
          <p:nvPr>
            <p:ph type="sldNum" sz="quarter" idx="12"/>
          </p:nvPr>
        </p:nvSpPr>
        <p:spPr/>
        <p:txBody>
          <a:bodyPr/>
          <a:lstStyle/>
          <a:p>
            <a:fld id="{4FAB73BC-B049-4115-A692-8D63A059BFB8}" type="slidenum">
              <a:rPr lang="en-US" smtClean="0"/>
              <a:t>9</a:t>
            </a:fld>
            <a:endParaRPr lang="en-US" dirty="0"/>
          </a:p>
        </p:txBody>
      </p:sp>
    </p:spTree>
    <p:extLst>
      <p:ext uri="{BB962C8B-B14F-4D97-AF65-F5344CB8AC3E}">
        <p14:creationId xmlns:p14="http://schemas.microsoft.com/office/powerpoint/2010/main" val="1883109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9BC0EAC-6D40-4130-A5F4-F8EACD48E2B8}"/>
              </a:ext>
            </a:extLst>
          </p:cNvPr>
          <p:cNvSpPr>
            <a:spLocks noGrp="1"/>
          </p:cNvSpPr>
          <p:nvPr>
            <p:ph type="title"/>
          </p:nvPr>
        </p:nvSpPr>
        <p:spPr/>
        <p:txBody>
          <a:bodyPr>
            <a:normAutofit/>
          </a:bodyPr>
          <a:lstStyle/>
          <a:p>
            <a:r>
              <a:rPr lang="en-US" altLang="zh-TW"/>
              <a:t>Scaling and normalization</a:t>
            </a:r>
            <a:endParaRPr lang="zh-TW" altLang="en-US"/>
          </a:p>
        </p:txBody>
      </p:sp>
      <p:sp>
        <p:nvSpPr>
          <p:cNvPr id="3" name="內容版面配置區 2">
            <a:extLst>
              <a:ext uri="{FF2B5EF4-FFF2-40B4-BE49-F238E27FC236}">
                <a16:creationId xmlns:a16="http://schemas.microsoft.com/office/drawing/2014/main" id="{815A7A31-D3CA-4B6D-A794-99C1CD68F575}"/>
              </a:ext>
            </a:extLst>
          </p:cNvPr>
          <p:cNvSpPr>
            <a:spLocks noGrp="1"/>
          </p:cNvSpPr>
          <p:nvPr>
            <p:ph idx="1"/>
          </p:nvPr>
        </p:nvSpPr>
        <p:spPr/>
        <p:txBody>
          <a:bodyPr/>
          <a:lstStyle/>
          <a:p>
            <a:r>
              <a:rPr lang="zh-TW" altLang="en-US" b="1">
                <a:solidFill>
                  <a:srgbClr val="C00000"/>
                </a:solidFill>
              </a:rPr>
              <a:t>特徵工程</a:t>
            </a:r>
            <a:r>
              <a:rPr lang="zh-TW" altLang="en-US"/>
              <a:t>是將原始資料轉換為能夠更好地代表預測模型所面臨的潛在問題的特徵，從而提高模型的準確性</a:t>
            </a:r>
            <a:endParaRPr lang="en-US" altLang="zh-TW"/>
          </a:p>
          <a:p>
            <a:r>
              <a:rPr lang="zh-TW" altLang="en-US" b="1"/>
              <a:t>特徵縮放</a:t>
            </a:r>
            <a:r>
              <a:rPr lang="en-US" altLang="zh-TW" b="1"/>
              <a:t>(scaling)</a:t>
            </a:r>
            <a:r>
              <a:rPr lang="zh-TW" altLang="en-US"/>
              <a:t>是指改變特徵值範圍的一般過程，改變資料的比例，使所有特徵對模型的貢獻都相同</a:t>
            </a:r>
            <a:r>
              <a:rPr lang="en-US" altLang="zh-TW"/>
              <a:t>(</a:t>
            </a:r>
            <a:r>
              <a:rPr lang="zh-TW" altLang="en-US"/>
              <a:t>將數值特徵轉換到相同範圍或尺度</a:t>
            </a:r>
            <a:r>
              <a:rPr lang="en-US" altLang="zh-TW"/>
              <a:t>)</a:t>
            </a:r>
          </a:p>
          <a:p>
            <a:pPr lvl="1"/>
            <a:r>
              <a:rPr lang="zh-TW" altLang="en-US" b="1"/>
              <a:t>歸一化</a:t>
            </a:r>
            <a:r>
              <a:rPr lang="en-US" altLang="zh-TW" b="1"/>
              <a:t>(normalization)</a:t>
            </a:r>
            <a:r>
              <a:rPr lang="zh-TW" altLang="en-US"/>
              <a:t> （也稱為最小</a:t>
            </a:r>
            <a:r>
              <a:rPr lang="en-US" altLang="zh-TW"/>
              <a:t>-</a:t>
            </a:r>
            <a:r>
              <a:rPr lang="zh-TW" altLang="en-US"/>
              <a:t>最大縮放）將資料轉換為適合特定範圍的值，通常介於 </a:t>
            </a:r>
            <a:r>
              <a:rPr lang="en-US" altLang="zh-TW"/>
              <a:t>0 </a:t>
            </a:r>
            <a:r>
              <a:rPr lang="zh-TW" altLang="en-US"/>
              <a:t>和 </a:t>
            </a:r>
            <a:r>
              <a:rPr lang="en-US" altLang="zh-TW"/>
              <a:t>1 </a:t>
            </a:r>
            <a:r>
              <a:rPr lang="zh-TW" altLang="en-US"/>
              <a:t>之間。</a:t>
            </a:r>
            <a:endParaRPr lang="en-US" altLang="zh-TW"/>
          </a:p>
          <a:p>
            <a:pPr lvl="1"/>
            <a:r>
              <a:rPr lang="zh-TW" altLang="en-US" b="1"/>
              <a:t>標準化</a:t>
            </a:r>
            <a:r>
              <a:rPr lang="en-US" altLang="zh-TW" b="1"/>
              <a:t>(standardization)</a:t>
            </a:r>
            <a:r>
              <a:rPr lang="zh-TW" altLang="en-US"/>
              <a:t>（也稱為 </a:t>
            </a:r>
            <a:r>
              <a:rPr lang="en-US" altLang="zh-TW"/>
              <a:t>Z </a:t>
            </a:r>
            <a:r>
              <a:rPr lang="zh-TW" altLang="en-US"/>
              <a:t>分數歸一化）將您的資料轉換為平均值為 </a:t>
            </a:r>
            <a:r>
              <a:rPr lang="en-US" altLang="zh-TW"/>
              <a:t>0</a:t>
            </a:r>
            <a:r>
              <a:rPr lang="zh-TW" altLang="en-US"/>
              <a:t>、標準差為 </a:t>
            </a:r>
            <a:r>
              <a:rPr lang="en-US" altLang="zh-TW"/>
              <a:t>1 </a:t>
            </a:r>
            <a:r>
              <a:rPr lang="zh-TW" altLang="en-US"/>
              <a:t>的資料</a:t>
            </a:r>
            <a:endParaRPr lang="en-US" altLang="zh-TW"/>
          </a:p>
          <a:p>
            <a:r>
              <a:rPr lang="zh-TW" altLang="en-US"/>
              <a:t>歸一化與標準化區別</a:t>
            </a:r>
          </a:p>
          <a:p>
            <a:pPr lvl="1"/>
            <a:endParaRPr lang="zh-TW" altLang="en-US"/>
          </a:p>
          <a:p>
            <a:pPr lvl="1"/>
            <a:endParaRPr lang="zh-TW" altLang="en-US"/>
          </a:p>
          <a:p>
            <a:endParaRPr lang="en-US" altLang="zh-TW"/>
          </a:p>
          <a:p>
            <a:endParaRPr lang="zh-TW" altLang="en-US"/>
          </a:p>
          <a:p>
            <a:endParaRPr lang="zh-TW" altLang="en-US"/>
          </a:p>
        </p:txBody>
      </p:sp>
      <p:sp>
        <p:nvSpPr>
          <p:cNvPr id="4" name="日期版面配置區 3">
            <a:extLst>
              <a:ext uri="{FF2B5EF4-FFF2-40B4-BE49-F238E27FC236}">
                <a16:creationId xmlns:a16="http://schemas.microsoft.com/office/drawing/2014/main" id="{F0A08C66-8671-4774-AFAA-9C5ECE98088B}"/>
              </a:ext>
            </a:extLst>
          </p:cNvPr>
          <p:cNvSpPr>
            <a:spLocks noGrp="1"/>
          </p:cNvSpPr>
          <p:nvPr>
            <p:ph type="dt" sz="half" idx="10"/>
          </p:nvPr>
        </p:nvSpPr>
        <p:spPr/>
        <p:txBody>
          <a:bodyPr/>
          <a:lstStyle/>
          <a:p>
            <a:fld id="{050142A8-9D5B-4631-A831-D4EB2BC58866}" type="datetime1">
              <a:rPr lang="en-US" altLang="zh-TW" smtClean="0"/>
              <a:t>4/16/26</a:t>
            </a:fld>
            <a:endParaRPr lang="en-US" dirty="0"/>
          </a:p>
        </p:txBody>
      </p:sp>
      <p:sp>
        <p:nvSpPr>
          <p:cNvPr id="5" name="投影片編號版面配置區 4">
            <a:extLst>
              <a:ext uri="{FF2B5EF4-FFF2-40B4-BE49-F238E27FC236}">
                <a16:creationId xmlns:a16="http://schemas.microsoft.com/office/drawing/2014/main" id="{D387B3AE-482B-4035-A757-6F2C54911294}"/>
              </a:ext>
            </a:extLst>
          </p:cNvPr>
          <p:cNvSpPr>
            <a:spLocks noGrp="1"/>
          </p:cNvSpPr>
          <p:nvPr>
            <p:ph type="sldNum" sz="quarter" idx="12"/>
          </p:nvPr>
        </p:nvSpPr>
        <p:spPr/>
        <p:txBody>
          <a:bodyPr/>
          <a:lstStyle/>
          <a:p>
            <a:fld id="{4FAB73BC-B049-4115-A692-8D63A059BFB8}" type="slidenum">
              <a:rPr lang="en-US" smtClean="0"/>
              <a:t>10</a:t>
            </a:fld>
            <a:endParaRPr lang="en-US" dirty="0"/>
          </a:p>
        </p:txBody>
      </p:sp>
      <p:graphicFrame>
        <p:nvGraphicFramePr>
          <p:cNvPr id="6" name="表格 6">
            <a:extLst>
              <a:ext uri="{FF2B5EF4-FFF2-40B4-BE49-F238E27FC236}">
                <a16:creationId xmlns:a16="http://schemas.microsoft.com/office/drawing/2014/main" id="{DD8A7D0D-35C2-473A-8A9F-A0CCFF680F72}"/>
              </a:ext>
            </a:extLst>
          </p:cNvPr>
          <p:cNvGraphicFramePr>
            <a:graphicFrameLocks noGrp="1"/>
          </p:cNvGraphicFramePr>
          <p:nvPr>
            <p:extLst>
              <p:ext uri="{D42A27DB-BD31-4B8C-83A1-F6EECF244321}">
                <p14:modId xmlns:p14="http://schemas.microsoft.com/office/powerpoint/2010/main" val="1280838012"/>
              </p:ext>
            </p:extLst>
          </p:nvPr>
        </p:nvGraphicFramePr>
        <p:xfrm>
          <a:off x="1480855" y="4616068"/>
          <a:ext cx="8128000" cy="202184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53204213"/>
                    </a:ext>
                  </a:extLst>
                </a:gridCol>
                <a:gridCol w="4064000">
                  <a:extLst>
                    <a:ext uri="{9D8B030D-6E8A-4147-A177-3AD203B41FA5}">
                      <a16:colId xmlns:a16="http://schemas.microsoft.com/office/drawing/2014/main" val="717955315"/>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a:t>Nomalizaiton</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a:t>Standardization</a:t>
                      </a:r>
                    </a:p>
                  </a:txBody>
                  <a:tcPr/>
                </a:tc>
                <a:extLst>
                  <a:ext uri="{0D108BD9-81ED-4DB2-BD59-A6C34878D82A}">
                    <a16:rowId xmlns:a16="http://schemas.microsoft.com/office/drawing/2014/main" val="338748176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b="1"/>
                        <a:t>歸一化可以限制</a:t>
                      </a:r>
                      <a:r>
                        <a:rPr lang="zh-TW" altLang="en-US"/>
                        <a:t>你的資料範圍</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b="1"/>
                        <a:t>標準化</a:t>
                      </a:r>
                      <a:r>
                        <a:rPr lang="zh-TW" altLang="en-US"/>
                        <a:t>並不會限制你的數據</a:t>
                      </a:r>
                    </a:p>
                  </a:txBody>
                  <a:tcPr/>
                </a:tc>
                <a:extLst>
                  <a:ext uri="{0D108BD9-81ED-4DB2-BD59-A6C34878D82A}">
                    <a16:rowId xmlns:a16="http://schemas.microsoft.com/office/drawing/2014/main" val="202023213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a:t>介於 </a:t>
                      </a:r>
                      <a:r>
                        <a:rPr lang="en-US" altLang="zh-TW"/>
                        <a:t>0 </a:t>
                      </a:r>
                      <a:r>
                        <a:rPr lang="zh-TW" altLang="en-US"/>
                        <a:t>和 </a:t>
                      </a:r>
                      <a:r>
                        <a:rPr lang="en-US" altLang="zh-TW"/>
                        <a:t>1 </a:t>
                      </a:r>
                      <a:r>
                        <a:rPr lang="zh-TW" altLang="en-US"/>
                        <a:t>之間（或您指定的任何範圍</a:t>
                      </a:r>
                      <a:r>
                        <a:rPr lang="en-US" altLang="zh-TW"/>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a:t>大多數數值都落在</a:t>
                      </a:r>
                      <a:r>
                        <a:rPr lang="en-US" altLang="zh-TW"/>
                        <a:t>-3</a:t>
                      </a:r>
                      <a:r>
                        <a:rPr lang="zh-TW" altLang="en-US"/>
                        <a:t>到</a:t>
                      </a:r>
                      <a:r>
                        <a:rPr lang="en-US" altLang="zh-TW"/>
                        <a:t>+3</a:t>
                      </a:r>
                      <a:r>
                        <a:rPr lang="zh-TW" altLang="en-US"/>
                        <a:t>之間</a:t>
                      </a:r>
                    </a:p>
                    <a:p>
                      <a:endParaRPr lang="zh-TW" altLang="en-US"/>
                    </a:p>
                  </a:txBody>
                  <a:tcPr/>
                </a:tc>
                <a:extLst>
                  <a:ext uri="{0D108BD9-81ED-4DB2-BD59-A6C34878D82A}">
                    <a16:rowId xmlns:a16="http://schemas.microsoft.com/office/drawing/2014/main" val="381401695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a:t>使用了最小值和最大值，因此對異常值很敏感</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a:t>使用平均值和標準差，因此對異常值的敏感度較低</a:t>
                      </a:r>
                    </a:p>
                  </a:txBody>
                  <a:tcPr/>
                </a:tc>
                <a:extLst>
                  <a:ext uri="{0D108BD9-81ED-4DB2-BD59-A6C34878D82A}">
                    <a16:rowId xmlns:a16="http://schemas.microsoft.com/office/drawing/2014/main" val="3042215208"/>
                  </a:ext>
                </a:extLst>
              </a:tr>
            </a:tbl>
          </a:graphicData>
        </a:graphic>
      </p:graphicFrame>
    </p:spTree>
    <p:extLst>
      <p:ext uri="{BB962C8B-B14F-4D97-AF65-F5344CB8AC3E}">
        <p14:creationId xmlns:p14="http://schemas.microsoft.com/office/powerpoint/2010/main" val="29805798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F14FEA5-FF03-47CF-9537-A26B9C218FBA}"/>
              </a:ext>
            </a:extLst>
          </p:cNvPr>
          <p:cNvSpPr>
            <a:spLocks noGrp="1"/>
          </p:cNvSpPr>
          <p:nvPr>
            <p:ph type="title"/>
          </p:nvPr>
        </p:nvSpPr>
        <p:spPr/>
        <p:txBody>
          <a:bodyPr/>
          <a:lstStyle/>
          <a:p>
            <a:r>
              <a:rPr lang="zh-TW" altLang="en-US"/>
              <a:t>對演算法的影響</a:t>
            </a:r>
          </a:p>
        </p:txBody>
      </p:sp>
      <p:sp>
        <p:nvSpPr>
          <p:cNvPr id="3" name="內容版面配置區 2">
            <a:extLst>
              <a:ext uri="{FF2B5EF4-FFF2-40B4-BE49-F238E27FC236}">
                <a16:creationId xmlns:a16="http://schemas.microsoft.com/office/drawing/2014/main" id="{CAA94BC9-EA92-4BD7-BF18-5A29D2F036CB}"/>
              </a:ext>
            </a:extLst>
          </p:cNvPr>
          <p:cNvSpPr>
            <a:spLocks noGrp="1"/>
          </p:cNvSpPr>
          <p:nvPr>
            <p:ph idx="1"/>
          </p:nvPr>
        </p:nvSpPr>
        <p:spPr/>
        <p:txBody>
          <a:bodyPr/>
          <a:lstStyle/>
          <a:p>
            <a:r>
              <a:rPr lang="zh-TW" altLang="en-US" b="1" i="0">
                <a:solidFill>
                  <a:srgbClr val="0F0F0F"/>
                </a:solidFill>
                <a:effectLst/>
                <a:latin typeface="Roboto" panose="02000000000000000000" pitchFamily="2" charset="0"/>
              </a:rPr>
              <a:t>基於距離的演算法</a:t>
            </a:r>
            <a:r>
              <a:rPr lang="zh-TW" altLang="en-US" b="0" i="0">
                <a:solidFill>
                  <a:srgbClr val="0F0F0F"/>
                </a:solidFill>
                <a:effectLst/>
                <a:latin typeface="Roboto" panose="02000000000000000000" pitchFamily="2" charset="0"/>
              </a:rPr>
              <a:t>，數值較大的特徵可能會被賦予更高的權重。這自然會</a:t>
            </a:r>
            <a:r>
              <a:rPr lang="zh-TW" altLang="en-US" i="0">
                <a:solidFill>
                  <a:srgbClr val="0F0F0F"/>
                </a:solidFill>
                <a:effectLst/>
                <a:latin typeface="Roboto" panose="02000000000000000000" pitchFamily="2" charset="0"/>
              </a:rPr>
              <a:t>影響機器學習演算法的效能</a:t>
            </a:r>
            <a:r>
              <a:rPr lang="zh-TW" altLang="en-US" b="0" i="0">
                <a:solidFill>
                  <a:srgbClr val="0F0F0F"/>
                </a:solidFill>
                <a:effectLst/>
                <a:latin typeface="Roboto" panose="02000000000000000000" pitchFamily="2" charset="0"/>
              </a:rPr>
              <a:t>，而且我們顯然不希望演算法偏向某個特定特徵，因此需要進行尺度變換。</a:t>
            </a:r>
            <a:endParaRPr lang="en-US" altLang="zh-TW" b="0" i="0">
              <a:solidFill>
                <a:srgbClr val="0F0F0F"/>
              </a:solidFill>
              <a:effectLst/>
              <a:latin typeface="Roboto" panose="02000000000000000000" pitchFamily="2" charset="0"/>
            </a:endParaRPr>
          </a:p>
          <a:p>
            <a:r>
              <a:rPr lang="zh-TW" altLang="en-US" b="1" i="0">
                <a:solidFill>
                  <a:srgbClr val="0F0F0F"/>
                </a:solidFill>
                <a:effectLst/>
                <a:latin typeface="Roboto" panose="02000000000000000000" pitchFamily="2" charset="0"/>
              </a:rPr>
              <a:t>基於樹的演算法</a:t>
            </a:r>
            <a:r>
              <a:rPr lang="zh-TW" altLang="en-US" b="0" i="0">
                <a:solidFill>
                  <a:srgbClr val="0F0F0F"/>
                </a:solidFill>
                <a:effectLst/>
                <a:latin typeface="Roboto" panose="02000000000000000000" pitchFamily="2" charset="0"/>
              </a:rPr>
              <a:t>，例如決策樹和隨機森林，</a:t>
            </a:r>
            <a:r>
              <a:rPr lang="zh-TW" altLang="en-US" i="0">
                <a:solidFill>
                  <a:srgbClr val="0F0F0F"/>
                </a:solidFill>
                <a:effectLst/>
                <a:latin typeface="Roboto" panose="02000000000000000000" pitchFamily="2" charset="0"/>
              </a:rPr>
              <a:t>對特徵縮放的影響很小</a:t>
            </a:r>
            <a:r>
              <a:rPr lang="zh-TW" altLang="en-US" b="0" i="0">
                <a:solidFill>
                  <a:srgbClr val="0F0F0F"/>
                </a:solidFill>
                <a:effectLst/>
                <a:latin typeface="Roboto" panose="02000000000000000000" pitchFamily="2" charset="0"/>
              </a:rPr>
              <a:t>。這是因為在基於樹的演算法中，節點的分裂是基於單一特徵進行的，其他特徵不會影響這種基於特徵的分裂。</a:t>
            </a:r>
            <a:endParaRPr lang="zh-TW" altLang="en-US"/>
          </a:p>
        </p:txBody>
      </p:sp>
      <p:sp>
        <p:nvSpPr>
          <p:cNvPr id="4" name="日期版面配置區 3">
            <a:extLst>
              <a:ext uri="{FF2B5EF4-FFF2-40B4-BE49-F238E27FC236}">
                <a16:creationId xmlns:a16="http://schemas.microsoft.com/office/drawing/2014/main" id="{30C727F5-EB3A-4579-940C-25C95305300F}"/>
              </a:ext>
            </a:extLst>
          </p:cNvPr>
          <p:cNvSpPr>
            <a:spLocks noGrp="1"/>
          </p:cNvSpPr>
          <p:nvPr>
            <p:ph type="dt" sz="half" idx="10"/>
          </p:nvPr>
        </p:nvSpPr>
        <p:spPr/>
        <p:txBody>
          <a:bodyPr/>
          <a:lstStyle/>
          <a:p>
            <a:fld id="{DDA6C788-E503-48DF-B619-C7A48C63C141}" type="datetime1">
              <a:rPr lang="en-US" altLang="zh-TW" smtClean="0"/>
              <a:t>4/16/26</a:t>
            </a:fld>
            <a:endParaRPr lang="en-US" dirty="0"/>
          </a:p>
        </p:txBody>
      </p:sp>
      <p:sp>
        <p:nvSpPr>
          <p:cNvPr id="5" name="投影片編號版面配置區 4">
            <a:extLst>
              <a:ext uri="{FF2B5EF4-FFF2-40B4-BE49-F238E27FC236}">
                <a16:creationId xmlns:a16="http://schemas.microsoft.com/office/drawing/2014/main" id="{2B5A1BAA-D364-48CE-9823-A89A8AC87BC4}"/>
              </a:ext>
            </a:extLst>
          </p:cNvPr>
          <p:cNvSpPr>
            <a:spLocks noGrp="1"/>
          </p:cNvSpPr>
          <p:nvPr>
            <p:ph type="sldNum" sz="quarter" idx="12"/>
          </p:nvPr>
        </p:nvSpPr>
        <p:spPr/>
        <p:txBody>
          <a:bodyPr/>
          <a:lstStyle/>
          <a:p>
            <a:fld id="{4FAB73BC-B049-4115-A692-8D63A059BFB8}" type="slidenum">
              <a:rPr lang="en-US" smtClean="0"/>
              <a:t>11</a:t>
            </a:fld>
            <a:endParaRPr lang="en-US" dirty="0"/>
          </a:p>
        </p:txBody>
      </p:sp>
    </p:spTree>
    <p:extLst>
      <p:ext uri="{BB962C8B-B14F-4D97-AF65-F5344CB8AC3E}">
        <p14:creationId xmlns:p14="http://schemas.microsoft.com/office/powerpoint/2010/main" val="33544207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B465864-EAAA-4EAA-BC21-7776E23445C0}"/>
              </a:ext>
            </a:extLst>
          </p:cNvPr>
          <p:cNvSpPr>
            <a:spLocks noGrp="1"/>
          </p:cNvSpPr>
          <p:nvPr>
            <p:ph type="title"/>
          </p:nvPr>
        </p:nvSpPr>
        <p:spPr/>
        <p:txBody>
          <a:bodyPr>
            <a:normAutofit/>
          </a:bodyPr>
          <a:lstStyle/>
          <a:p>
            <a:r>
              <a:rPr lang="zh-TW" altLang="en-US" b="1" i="0">
                <a:solidFill>
                  <a:srgbClr val="0F0F0F"/>
                </a:solidFill>
                <a:effectLst/>
                <a:latin typeface="Roboto" panose="02000000000000000000" pitchFamily="2" charset="0"/>
              </a:rPr>
              <a:t>縮放技術</a:t>
            </a:r>
            <a:endParaRPr lang="zh-TW" altLang="en-US"/>
          </a:p>
        </p:txBody>
      </p:sp>
      <p:sp>
        <p:nvSpPr>
          <p:cNvPr id="3" name="內容版面配置區 2">
            <a:extLst>
              <a:ext uri="{FF2B5EF4-FFF2-40B4-BE49-F238E27FC236}">
                <a16:creationId xmlns:a16="http://schemas.microsoft.com/office/drawing/2014/main" id="{51D12933-ABA1-4429-A914-12F385B00170}"/>
              </a:ext>
            </a:extLst>
          </p:cNvPr>
          <p:cNvSpPr>
            <a:spLocks noGrp="1"/>
          </p:cNvSpPr>
          <p:nvPr>
            <p:ph idx="1"/>
          </p:nvPr>
        </p:nvSpPr>
        <p:spPr/>
        <p:txBody>
          <a:bodyPr/>
          <a:lstStyle/>
          <a:p>
            <a:r>
              <a:rPr lang="en-US" altLang="zh-TW" b="1" i="0">
                <a:solidFill>
                  <a:srgbClr val="0F0F0F"/>
                </a:solidFill>
                <a:effectLst/>
                <a:latin typeface="Roboto" panose="02000000000000000000" pitchFamily="2" charset="0"/>
              </a:rPr>
              <a:t>Min-Max Scaling (Normalization)</a:t>
            </a:r>
          </a:p>
          <a:p>
            <a:pPr lvl="1"/>
            <a:r>
              <a:rPr lang="zh-TW" altLang="en-US" b="0" i="0">
                <a:solidFill>
                  <a:srgbClr val="0F0F0F"/>
                </a:solidFill>
                <a:effectLst/>
                <a:latin typeface="Roboto" panose="02000000000000000000" pitchFamily="2" charset="0"/>
              </a:rPr>
              <a:t>將特徵縮放到固定範圍 </a:t>
            </a:r>
            <a:r>
              <a:rPr lang="en-US" altLang="zh-TW" b="0" i="0">
                <a:solidFill>
                  <a:srgbClr val="0F0F0F"/>
                </a:solidFill>
                <a:effectLst/>
                <a:latin typeface="Roboto" panose="02000000000000000000" pitchFamily="2" charset="0"/>
              </a:rPr>
              <a:t>[0, 1]</a:t>
            </a:r>
            <a:r>
              <a:rPr lang="zh-TW" altLang="en-US" b="0" i="0">
                <a:solidFill>
                  <a:srgbClr val="0F0F0F"/>
                </a:solidFill>
                <a:effectLst/>
                <a:latin typeface="Roboto" panose="02000000000000000000" pitchFamily="2" charset="0"/>
              </a:rPr>
              <a:t>，適合用於神經網路、梯度下降優化</a:t>
            </a:r>
            <a:endParaRPr lang="en-US" altLang="zh-TW" b="0" i="0">
              <a:solidFill>
                <a:srgbClr val="0F0F0F"/>
              </a:solidFill>
              <a:effectLst/>
              <a:latin typeface="Roboto" panose="02000000000000000000" pitchFamily="2" charset="0"/>
            </a:endParaRPr>
          </a:p>
          <a:p>
            <a:pPr marL="274320" lvl="1" indent="0">
              <a:buNone/>
            </a:pPr>
            <a:r>
              <a:rPr lang="en-US" altLang="zh-TW">
                <a:solidFill>
                  <a:srgbClr val="0000FF"/>
                </a:solidFill>
                <a:latin typeface="Consolas" panose="020B0609020204030204" pitchFamily="49" charset="0"/>
              </a:rPr>
              <a:t>from sklearn.preprocessing import MinMaxScaler  </a:t>
            </a:r>
          </a:p>
          <a:p>
            <a:pPr marL="274320" lvl="1" indent="0">
              <a:buNone/>
            </a:pPr>
            <a:r>
              <a:rPr lang="en-US" altLang="zh-TW">
                <a:solidFill>
                  <a:srgbClr val="0000FF"/>
                </a:solidFill>
                <a:latin typeface="Consolas" panose="020B0609020204030204" pitchFamily="49" charset="0"/>
              </a:rPr>
              <a:t>scaler = MinMaxScaler()</a:t>
            </a:r>
          </a:p>
          <a:p>
            <a:r>
              <a:rPr lang="en-US" altLang="zh-TW" b="1" i="0">
                <a:solidFill>
                  <a:srgbClr val="0F0F0F"/>
                </a:solidFill>
                <a:effectLst/>
                <a:latin typeface="Roboto" panose="02000000000000000000" pitchFamily="2" charset="0"/>
              </a:rPr>
              <a:t>Standard Scaling (Z-score Standardization)</a:t>
            </a:r>
          </a:p>
          <a:p>
            <a:pPr lvl="1"/>
            <a:r>
              <a:rPr lang="zh-TW" altLang="en-US" b="0" i="0">
                <a:solidFill>
                  <a:srgbClr val="0F0F0F"/>
                </a:solidFill>
                <a:effectLst/>
                <a:latin typeface="Roboto" panose="02000000000000000000" pitchFamily="2" charset="0"/>
              </a:rPr>
              <a:t>將資料中心化，平均數為</a:t>
            </a:r>
            <a:r>
              <a:rPr lang="en-US" altLang="zh-TW" b="0" i="0">
                <a:solidFill>
                  <a:srgbClr val="0F0F0F"/>
                </a:solidFill>
                <a:effectLst/>
                <a:latin typeface="Roboto" panose="02000000000000000000" pitchFamily="2" charset="0"/>
              </a:rPr>
              <a:t>0</a:t>
            </a:r>
            <a:r>
              <a:rPr lang="zh-TW" altLang="en-US" b="0" i="0">
                <a:solidFill>
                  <a:srgbClr val="0F0F0F"/>
                </a:solidFill>
                <a:effectLst/>
                <a:latin typeface="Roboto" panose="02000000000000000000" pitchFamily="2" charset="0"/>
              </a:rPr>
              <a:t>，標準差為</a:t>
            </a:r>
            <a:r>
              <a:rPr lang="en-US" altLang="zh-TW" b="0" i="0">
                <a:solidFill>
                  <a:srgbClr val="0F0F0F"/>
                </a:solidFill>
                <a:effectLst/>
                <a:latin typeface="Roboto" panose="02000000000000000000" pitchFamily="2" charset="0"/>
              </a:rPr>
              <a:t>1</a:t>
            </a:r>
            <a:r>
              <a:rPr lang="zh-TW" altLang="en-US" b="0" i="0">
                <a:solidFill>
                  <a:srgbClr val="0F0F0F"/>
                </a:solidFill>
                <a:effectLst/>
                <a:latin typeface="Roboto" panose="02000000000000000000" pitchFamily="2" charset="0"/>
              </a:rPr>
              <a:t>，適合用於線性迴歸、邏輯迴歸、支援向量機、</a:t>
            </a:r>
            <a:r>
              <a:rPr lang="en-US" altLang="zh-TW" b="0" i="0">
                <a:solidFill>
                  <a:srgbClr val="0F0F0F"/>
                </a:solidFill>
                <a:effectLst/>
                <a:latin typeface="Roboto" panose="02000000000000000000" pitchFamily="2" charset="0"/>
              </a:rPr>
              <a:t>K</a:t>
            </a:r>
            <a:r>
              <a:rPr lang="zh-TW" altLang="en-US" b="0" i="0">
                <a:solidFill>
                  <a:srgbClr val="0F0F0F"/>
                </a:solidFill>
                <a:effectLst/>
                <a:latin typeface="Roboto" panose="02000000000000000000" pitchFamily="2" charset="0"/>
              </a:rPr>
              <a:t>均值聚類</a:t>
            </a:r>
            <a:endParaRPr lang="en-US" altLang="zh-TW" b="0" i="0">
              <a:solidFill>
                <a:srgbClr val="0F0F0F"/>
              </a:solidFill>
              <a:effectLst/>
              <a:latin typeface="Roboto" panose="02000000000000000000" pitchFamily="2" charset="0"/>
            </a:endParaRPr>
          </a:p>
          <a:p>
            <a:pPr marL="274320" lvl="1" indent="0">
              <a:buNone/>
            </a:pPr>
            <a:r>
              <a:rPr lang="en-US" altLang="zh-TW">
                <a:solidFill>
                  <a:srgbClr val="0000FF"/>
                </a:solidFill>
                <a:latin typeface="Consolas" panose="020B0609020204030204" pitchFamily="49" charset="0"/>
              </a:rPr>
              <a:t>from sklearn.preprocessing import StandardScaler  </a:t>
            </a:r>
          </a:p>
          <a:p>
            <a:pPr marL="274320" lvl="1" indent="0">
              <a:buNone/>
            </a:pPr>
            <a:r>
              <a:rPr lang="en-US" altLang="zh-TW">
                <a:solidFill>
                  <a:srgbClr val="0000FF"/>
                </a:solidFill>
                <a:latin typeface="Consolas" panose="020B0609020204030204" pitchFamily="49" charset="0"/>
              </a:rPr>
              <a:t>scaler = StandardScaler()</a:t>
            </a:r>
          </a:p>
          <a:p>
            <a:r>
              <a:rPr lang="en-US" altLang="zh-TW" b="1" i="0">
                <a:solidFill>
                  <a:srgbClr val="0F0F0F"/>
                </a:solidFill>
                <a:effectLst/>
                <a:latin typeface="Roboto" panose="02000000000000000000" pitchFamily="2" charset="0"/>
              </a:rPr>
              <a:t>Robust Scaling</a:t>
            </a:r>
          </a:p>
          <a:p>
            <a:pPr lvl="1"/>
            <a:r>
              <a:rPr lang="zh-TW" altLang="en-US" b="0" i="0">
                <a:solidFill>
                  <a:srgbClr val="0F0F0F"/>
                </a:solidFill>
                <a:effectLst/>
                <a:latin typeface="Roboto" panose="02000000000000000000" pitchFamily="2" charset="0"/>
              </a:rPr>
              <a:t>使用中位數和四分位距來代替平均數和標準差，適合用於包含大量異常值的數據</a:t>
            </a:r>
            <a:endParaRPr lang="en-US" altLang="zh-TW" b="0" i="0">
              <a:solidFill>
                <a:srgbClr val="0F0F0F"/>
              </a:solidFill>
              <a:effectLst/>
              <a:latin typeface="Roboto" panose="02000000000000000000" pitchFamily="2" charset="0"/>
            </a:endParaRPr>
          </a:p>
          <a:p>
            <a:pPr lvl="1"/>
            <a:r>
              <a:rPr lang="en-US" altLang="zh-TW">
                <a:solidFill>
                  <a:srgbClr val="0000FF"/>
                </a:solidFill>
                <a:latin typeface="Consolas" panose="020B0609020204030204" pitchFamily="49" charset="0"/>
              </a:rPr>
              <a:t>from sklearn.preprocessing import RobustScaler  </a:t>
            </a:r>
          </a:p>
          <a:p>
            <a:pPr lvl="1"/>
            <a:r>
              <a:rPr lang="en-US" altLang="zh-TW">
                <a:solidFill>
                  <a:srgbClr val="0000FF"/>
                </a:solidFill>
                <a:latin typeface="Consolas" panose="020B0609020204030204" pitchFamily="49" charset="0"/>
              </a:rPr>
              <a:t>scaler = RobustScaler()</a:t>
            </a:r>
            <a:endParaRPr lang="zh-TW" altLang="en-US">
              <a:solidFill>
                <a:srgbClr val="0000FF"/>
              </a:solidFill>
              <a:latin typeface="Consolas" panose="020B0609020204030204" pitchFamily="49" charset="0"/>
            </a:endParaRPr>
          </a:p>
        </p:txBody>
      </p:sp>
      <p:sp>
        <p:nvSpPr>
          <p:cNvPr id="4" name="日期版面配置區 3">
            <a:extLst>
              <a:ext uri="{FF2B5EF4-FFF2-40B4-BE49-F238E27FC236}">
                <a16:creationId xmlns:a16="http://schemas.microsoft.com/office/drawing/2014/main" id="{48660E66-9AFC-4075-9433-E9E4C81B71F4}"/>
              </a:ext>
            </a:extLst>
          </p:cNvPr>
          <p:cNvSpPr>
            <a:spLocks noGrp="1"/>
          </p:cNvSpPr>
          <p:nvPr>
            <p:ph type="dt" sz="half" idx="10"/>
          </p:nvPr>
        </p:nvSpPr>
        <p:spPr/>
        <p:txBody>
          <a:bodyPr/>
          <a:lstStyle/>
          <a:p>
            <a:fld id="{DDA6C788-E503-48DF-B619-C7A48C63C141}" type="datetime1">
              <a:rPr lang="en-US" altLang="zh-TW" smtClean="0"/>
              <a:t>4/16/26</a:t>
            </a:fld>
            <a:endParaRPr lang="en-US" dirty="0"/>
          </a:p>
        </p:txBody>
      </p:sp>
      <p:sp>
        <p:nvSpPr>
          <p:cNvPr id="5" name="投影片編號版面配置區 4">
            <a:extLst>
              <a:ext uri="{FF2B5EF4-FFF2-40B4-BE49-F238E27FC236}">
                <a16:creationId xmlns:a16="http://schemas.microsoft.com/office/drawing/2014/main" id="{E93214BE-20E6-439C-B1E4-981DDE9025B4}"/>
              </a:ext>
            </a:extLst>
          </p:cNvPr>
          <p:cNvSpPr>
            <a:spLocks noGrp="1"/>
          </p:cNvSpPr>
          <p:nvPr>
            <p:ph type="sldNum" sz="quarter" idx="12"/>
          </p:nvPr>
        </p:nvSpPr>
        <p:spPr/>
        <p:txBody>
          <a:bodyPr/>
          <a:lstStyle/>
          <a:p>
            <a:fld id="{4FAB73BC-B049-4115-A692-8D63A059BFB8}" type="slidenum">
              <a:rPr lang="en-US" smtClean="0"/>
              <a:t>12</a:t>
            </a:fld>
            <a:endParaRPr lang="en-US" dirty="0"/>
          </a:p>
        </p:txBody>
      </p:sp>
    </p:spTree>
    <p:extLst>
      <p:ext uri="{BB962C8B-B14F-4D97-AF65-F5344CB8AC3E}">
        <p14:creationId xmlns:p14="http://schemas.microsoft.com/office/powerpoint/2010/main" val="21194481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36217A-4B27-498F-8A19-5494BA5B7DBA}"/>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045DE37D-D6DA-4F1B-A96E-BB05C07AB168}"/>
              </a:ext>
            </a:extLst>
          </p:cNvPr>
          <p:cNvSpPr>
            <a:spLocks noGrp="1"/>
          </p:cNvSpPr>
          <p:nvPr>
            <p:ph idx="1"/>
          </p:nvPr>
        </p:nvSpPr>
        <p:spPr/>
        <p:txBody>
          <a:bodyPr/>
          <a:lstStyle/>
          <a:p>
            <a:r>
              <a:rPr lang="en-US" altLang="zh-TW" b="1" i="0">
                <a:solidFill>
                  <a:srgbClr val="0F0F0F"/>
                </a:solidFill>
                <a:effectLst/>
                <a:latin typeface="Roboto" panose="02000000000000000000" pitchFamily="2" charset="0"/>
              </a:rPr>
              <a:t>Max Abs Scaling</a:t>
            </a:r>
          </a:p>
          <a:p>
            <a:pPr lvl="1"/>
            <a:r>
              <a:rPr lang="zh-TW" altLang="en-US" b="0" i="0">
                <a:solidFill>
                  <a:srgbClr val="0F0F0F"/>
                </a:solidFill>
                <a:effectLst/>
                <a:latin typeface="Roboto" panose="02000000000000000000" pitchFamily="2" charset="0"/>
              </a:rPr>
              <a:t>將每個特徵以其最大絕對值進行縮放，適合用於稀疏資料（大量零值）</a:t>
            </a:r>
            <a:endParaRPr lang="en-US" altLang="zh-TW" b="0" i="0">
              <a:solidFill>
                <a:srgbClr val="0F0F0F"/>
              </a:solidFill>
              <a:effectLst/>
              <a:latin typeface="Roboto" panose="02000000000000000000" pitchFamily="2" charset="0"/>
            </a:endParaRPr>
          </a:p>
          <a:p>
            <a:pPr marL="274320" lvl="1" indent="0">
              <a:buNone/>
            </a:pPr>
            <a:r>
              <a:rPr lang="en-US" altLang="zh-TW" i="0">
                <a:solidFill>
                  <a:srgbClr val="0000FF"/>
                </a:solidFill>
                <a:effectLst/>
                <a:latin typeface="Consolas" panose="020B0609020204030204" pitchFamily="49" charset="0"/>
              </a:rPr>
              <a:t>from sklearn.preprocessing import MaxAbsScaler  </a:t>
            </a:r>
          </a:p>
          <a:p>
            <a:pPr marL="274320" lvl="1" indent="0">
              <a:buNone/>
            </a:pPr>
            <a:r>
              <a:rPr lang="en-US" altLang="zh-TW" i="0">
                <a:solidFill>
                  <a:srgbClr val="0000FF"/>
                </a:solidFill>
                <a:effectLst/>
                <a:latin typeface="Consolas" panose="020B0609020204030204" pitchFamily="49" charset="0"/>
              </a:rPr>
              <a:t>scaler = MaxAbsScaler()</a:t>
            </a:r>
          </a:p>
          <a:p>
            <a:r>
              <a:rPr lang="en-US" altLang="zh-TW" b="1" i="0">
                <a:solidFill>
                  <a:srgbClr val="0F0F0F"/>
                </a:solidFill>
                <a:effectLst/>
                <a:latin typeface="Roboto" panose="02000000000000000000" pitchFamily="2" charset="0"/>
              </a:rPr>
              <a:t>Log Transformation</a:t>
            </a:r>
          </a:p>
          <a:p>
            <a:pPr lvl="1"/>
            <a:r>
              <a:rPr lang="zh-TW" altLang="en-US" b="0" i="0">
                <a:solidFill>
                  <a:srgbClr val="0F0F0F"/>
                </a:solidFill>
                <a:effectLst/>
                <a:latin typeface="Roboto" panose="02000000000000000000" pitchFamily="2" charset="0"/>
              </a:rPr>
              <a:t>應用對數來減少右偏度，適合用於指數分佈的資料（例如收入、人口）</a:t>
            </a:r>
            <a:endParaRPr lang="en-US" altLang="zh-TW" b="0" i="0">
              <a:solidFill>
                <a:srgbClr val="0F0F0F"/>
              </a:solidFill>
              <a:effectLst/>
              <a:latin typeface="Roboto" panose="02000000000000000000" pitchFamily="2" charset="0"/>
            </a:endParaRPr>
          </a:p>
          <a:p>
            <a:pPr marL="274320" lvl="1" indent="0">
              <a:buNone/>
            </a:pPr>
            <a:r>
              <a:rPr lang="en-US" altLang="zh-TW" i="0">
                <a:solidFill>
                  <a:srgbClr val="0000FF"/>
                </a:solidFill>
                <a:effectLst/>
                <a:latin typeface="Roboto" panose="02000000000000000000" pitchFamily="2" charset="0"/>
              </a:rPr>
              <a:t>import numpy as np  </a:t>
            </a:r>
          </a:p>
          <a:p>
            <a:pPr marL="274320" lvl="1" indent="0">
              <a:buNone/>
            </a:pPr>
            <a:r>
              <a:rPr lang="en-US" altLang="zh-TW" i="0">
                <a:solidFill>
                  <a:srgbClr val="0000FF"/>
                </a:solidFill>
                <a:effectLst/>
                <a:latin typeface="Roboto" panose="02000000000000000000" pitchFamily="2" charset="0"/>
              </a:rPr>
              <a:t>scaled_data = np.log( data + 1 ) # + 1</a:t>
            </a:r>
            <a:r>
              <a:rPr lang="zh-TW" altLang="en-US" i="0">
                <a:solidFill>
                  <a:srgbClr val="0000FF"/>
                </a:solidFill>
                <a:effectLst/>
                <a:latin typeface="Roboto" panose="02000000000000000000" pitchFamily="2" charset="0"/>
              </a:rPr>
              <a:t>用於處理零值</a:t>
            </a:r>
            <a:endParaRPr lang="en-US" altLang="zh-TW" i="0">
              <a:solidFill>
                <a:srgbClr val="0000FF"/>
              </a:solidFill>
              <a:effectLst/>
              <a:latin typeface="Roboto" panose="02000000000000000000" pitchFamily="2" charset="0"/>
            </a:endParaRPr>
          </a:p>
          <a:p>
            <a:r>
              <a:rPr lang="en-US" altLang="zh-TW" b="1" i="0">
                <a:solidFill>
                  <a:srgbClr val="0F0F0F"/>
                </a:solidFill>
                <a:effectLst/>
                <a:latin typeface="Roboto" panose="02000000000000000000" pitchFamily="2" charset="0"/>
              </a:rPr>
              <a:t>Power Transformation (Box-Cox, Yeo-Johnson)</a:t>
            </a:r>
          </a:p>
          <a:p>
            <a:pPr lvl="1"/>
            <a:r>
              <a:rPr lang="zh-TW" altLang="en-US" b="0" i="0">
                <a:solidFill>
                  <a:srgbClr val="0F0F0F"/>
                </a:solidFill>
                <a:effectLst/>
                <a:latin typeface="Roboto" panose="02000000000000000000" pitchFamily="2" charset="0"/>
              </a:rPr>
              <a:t>自動找到最佳數學變換，將非常態分佈資料轉換為常態分佈數據</a:t>
            </a:r>
            <a:endParaRPr lang="en-US" altLang="zh-TW" b="0" i="0">
              <a:solidFill>
                <a:srgbClr val="0F0F0F"/>
              </a:solidFill>
              <a:effectLst/>
              <a:latin typeface="Roboto" panose="02000000000000000000" pitchFamily="2" charset="0"/>
            </a:endParaRPr>
          </a:p>
          <a:p>
            <a:pPr marL="274320" lvl="1" indent="0">
              <a:buNone/>
            </a:pPr>
            <a:r>
              <a:rPr lang="en-US" altLang="zh-TW" i="0">
                <a:solidFill>
                  <a:srgbClr val="0000FF"/>
                </a:solidFill>
                <a:effectLst/>
                <a:latin typeface="Roboto" panose="02000000000000000000" pitchFamily="2" charset="0"/>
              </a:rPr>
              <a:t>from sklearn.preprocessing import PowerTransformer  </a:t>
            </a:r>
          </a:p>
          <a:p>
            <a:pPr marL="274320" lvl="1" indent="0">
              <a:buNone/>
            </a:pPr>
            <a:r>
              <a:rPr lang="en-US" altLang="zh-TW" i="0">
                <a:solidFill>
                  <a:srgbClr val="0000FF"/>
                </a:solidFill>
                <a:effectLst/>
                <a:latin typeface="Roboto" panose="02000000000000000000" pitchFamily="2" charset="0"/>
              </a:rPr>
              <a:t>scaler = PowerTransformer(method= 'yeo-johnson' )</a:t>
            </a:r>
          </a:p>
          <a:p>
            <a:endParaRPr lang="zh-TW" altLang="en-US"/>
          </a:p>
        </p:txBody>
      </p:sp>
      <p:sp>
        <p:nvSpPr>
          <p:cNvPr id="4" name="日期版面配置區 3">
            <a:extLst>
              <a:ext uri="{FF2B5EF4-FFF2-40B4-BE49-F238E27FC236}">
                <a16:creationId xmlns:a16="http://schemas.microsoft.com/office/drawing/2014/main" id="{245F9AE3-FD8E-453C-93A4-C75D6508B080}"/>
              </a:ext>
            </a:extLst>
          </p:cNvPr>
          <p:cNvSpPr>
            <a:spLocks noGrp="1"/>
          </p:cNvSpPr>
          <p:nvPr>
            <p:ph type="dt" sz="half" idx="10"/>
          </p:nvPr>
        </p:nvSpPr>
        <p:spPr/>
        <p:txBody>
          <a:bodyPr/>
          <a:lstStyle/>
          <a:p>
            <a:fld id="{DDA6C788-E503-48DF-B619-C7A48C63C141}" type="datetime1">
              <a:rPr lang="en-US" altLang="zh-TW" smtClean="0"/>
              <a:t>4/16/26</a:t>
            </a:fld>
            <a:endParaRPr lang="en-US" dirty="0"/>
          </a:p>
        </p:txBody>
      </p:sp>
      <p:sp>
        <p:nvSpPr>
          <p:cNvPr id="5" name="投影片編號版面配置區 4">
            <a:extLst>
              <a:ext uri="{FF2B5EF4-FFF2-40B4-BE49-F238E27FC236}">
                <a16:creationId xmlns:a16="http://schemas.microsoft.com/office/drawing/2014/main" id="{9545AB92-0E31-45F1-86B1-4FB18DC9A17B}"/>
              </a:ext>
            </a:extLst>
          </p:cNvPr>
          <p:cNvSpPr>
            <a:spLocks noGrp="1"/>
          </p:cNvSpPr>
          <p:nvPr>
            <p:ph type="sldNum" sz="quarter" idx="12"/>
          </p:nvPr>
        </p:nvSpPr>
        <p:spPr/>
        <p:txBody>
          <a:bodyPr/>
          <a:lstStyle/>
          <a:p>
            <a:fld id="{4FAB73BC-B049-4115-A692-8D63A059BFB8}" type="slidenum">
              <a:rPr lang="en-US" smtClean="0"/>
              <a:t>13</a:t>
            </a:fld>
            <a:endParaRPr lang="en-US" dirty="0"/>
          </a:p>
        </p:txBody>
      </p:sp>
    </p:spTree>
    <p:extLst>
      <p:ext uri="{BB962C8B-B14F-4D97-AF65-F5344CB8AC3E}">
        <p14:creationId xmlns:p14="http://schemas.microsoft.com/office/powerpoint/2010/main" val="40006669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DAEA15B-55A9-4099-BCBC-3D2E36B195F1}"/>
              </a:ext>
            </a:extLst>
          </p:cNvPr>
          <p:cNvSpPr>
            <a:spLocks noGrp="1"/>
          </p:cNvSpPr>
          <p:nvPr>
            <p:ph type="title"/>
          </p:nvPr>
        </p:nvSpPr>
        <p:spPr>
          <a:xfrm>
            <a:off x="1066800" y="220091"/>
            <a:ext cx="10058400" cy="880705"/>
          </a:xfrm>
        </p:spPr>
        <p:txBody>
          <a:bodyPr>
            <a:normAutofit/>
          </a:bodyPr>
          <a:lstStyle/>
          <a:p>
            <a:r>
              <a:rPr lang="zh-TW" altLang="en-US" b="1" i="0">
                <a:solidFill>
                  <a:srgbClr val="0F0F0F"/>
                </a:solidFill>
                <a:effectLst/>
                <a:latin typeface="Roboto" panose="02000000000000000000" pitchFamily="2" charset="0"/>
              </a:rPr>
              <a:t>使用指南</a:t>
            </a:r>
            <a:endParaRPr lang="zh-TW" altLang="en-US"/>
          </a:p>
        </p:txBody>
      </p:sp>
      <p:sp>
        <p:nvSpPr>
          <p:cNvPr id="4" name="日期版面配置區 3">
            <a:extLst>
              <a:ext uri="{FF2B5EF4-FFF2-40B4-BE49-F238E27FC236}">
                <a16:creationId xmlns:a16="http://schemas.microsoft.com/office/drawing/2014/main" id="{614FBD41-E472-48A9-8736-E503DD06C8C0}"/>
              </a:ext>
            </a:extLst>
          </p:cNvPr>
          <p:cNvSpPr>
            <a:spLocks noGrp="1"/>
          </p:cNvSpPr>
          <p:nvPr>
            <p:ph type="dt" sz="half" idx="10"/>
          </p:nvPr>
        </p:nvSpPr>
        <p:spPr/>
        <p:txBody>
          <a:bodyPr/>
          <a:lstStyle/>
          <a:p>
            <a:fld id="{DDA6C788-E503-48DF-B619-C7A48C63C141}" type="datetime1">
              <a:rPr lang="en-US" altLang="zh-TW" smtClean="0"/>
              <a:t>4/16/26</a:t>
            </a:fld>
            <a:endParaRPr lang="en-US" dirty="0"/>
          </a:p>
        </p:txBody>
      </p:sp>
      <p:sp>
        <p:nvSpPr>
          <p:cNvPr id="5" name="投影片編號版面配置區 4">
            <a:extLst>
              <a:ext uri="{FF2B5EF4-FFF2-40B4-BE49-F238E27FC236}">
                <a16:creationId xmlns:a16="http://schemas.microsoft.com/office/drawing/2014/main" id="{12933062-1C4D-4364-8640-9687690FF537}"/>
              </a:ext>
            </a:extLst>
          </p:cNvPr>
          <p:cNvSpPr>
            <a:spLocks noGrp="1"/>
          </p:cNvSpPr>
          <p:nvPr>
            <p:ph type="sldNum" sz="quarter" idx="12"/>
          </p:nvPr>
        </p:nvSpPr>
        <p:spPr/>
        <p:txBody>
          <a:bodyPr/>
          <a:lstStyle/>
          <a:p>
            <a:fld id="{4FAB73BC-B049-4115-A692-8D63A059BFB8}" type="slidenum">
              <a:rPr lang="en-US" smtClean="0"/>
              <a:t>14</a:t>
            </a:fld>
            <a:endParaRPr lang="en-US" dirty="0"/>
          </a:p>
        </p:txBody>
      </p:sp>
      <p:sp>
        <p:nvSpPr>
          <p:cNvPr id="6" name="矩形: 圓角 5">
            <a:extLst>
              <a:ext uri="{FF2B5EF4-FFF2-40B4-BE49-F238E27FC236}">
                <a16:creationId xmlns:a16="http://schemas.microsoft.com/office/drawing/2014/main" id="{3D4761FA-95F4-4A17-8569-DB184AEA73EA}"/>
              </a:ext>
            </a:extLst>
          </p:cNvPr>
          <p:cNvSpPr/>
          <p:nvPr/>
        </p:nvSpPr>
        <p:spPr>
          <a:xfrm>
            <a:off x="4732750" y="5911399"/>
            <a:ext cx="1766170" cy="72651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400"/>
              <a:t>冪縮放</a:t>
            </a:r>
          </a:p>
        </p:txBody>
      </p:sp>
      <p:sp>
        <p:nvSpPr>
          <p:cNvPr id="7" name="矩形: 圓角 6">
            <a:extLst>
              <a:ext uri="{FF2B5EF4-FFF2-40B4-BE49-F238E27FC236}">
                <a16:creationId xmlns:a16="http://schemas.microsoft.com/office/drawing/2014/main" id="{3005FEB3-8CCC-4192-A4F7-F7C846BC8FFC}"/>
              </a:ext>
            </a:extLst>
          </p:cNvPr>
          <p:cNvSpPr/>
          <p:nvPr/>
        </p:nvSpPr>
        <p:spPr>
          <a:xfrm>
            <a:off x="4732750" y="2375282"/>
            <a:ext cx="1766170" cy="72651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400"/>
              <a:t>標準縮放</a:t>
            </a:r>
          </a:p>
        </p:txBody>
      </p:sp>
      <p:sp>
        <p:nvSpPr>
          <p:cNvPr id="8" name="矩形: 圓角 7">
            <a:extLst>
              <a:ext uri="{FF2B5EF4-FFF2-40B4-BE49-F238E27FC236}">
                <a16:creationId xmlns:a16="http://schemas.microsoft.com/office/drawing/2014/main" id="{C2712EFF-3ED8-4C46-95DD-B6FE000CF34E}"/>
              </a:ext>
            </a:extLst>
          </p:cNvPr>
          <p:cNvSpPr/>
          <p:nvPr/>
        </p:nvSpPr>
        <p:spPr>
          <a:xfrm>
            <a:off x="4695172" y="3296928"/>
            <a:ext cx="1766170" cy="72651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400"/>
              <a:t>最小</a:t>
            </a:r>
            <a:r>
              <a:rPr lang="en-US" altLang="zh-TW" sz="2400"/>
              <a:t>-</a:t>
            </a:r>
            <a:r>
              <a:rPr lang="zh-TW" altLang="en-US" sz="2400"/>
              <a:t>最大縮放</a:t>
            </a:r>
          </a:p>
        </p:txBody>
      </p:sp>
      <p:sp>
        <p:nvSpPr>
          <p:cNvPr id="9" name="矩形: 圓角 8">
            <a:extLst>
              <a:ext uri="{FF2B5EF4-FFF2-40B4-BE49-F238E27FC236}">
                <a16:creationId xmlns:a16="http://schemas.microsoft.com/office/drawing/2014/main" id="{89B9A0C3-9CD2-4C0F-A911-8EECE35F96E5}"/>
              </a:ext>
            </a:extLst>
          </p:cNvPr>
          <p:cNvSpPr/>
          <p:nvPr/>
        </p:nvSpPr>
        <p:spPr>
          <a:xfrm>
            <a:off x="4732750" y="5023401"/>
            <a:ext cx="1766170" cy="72651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400"/>
              <a:t>對數轉換</a:t>
            </a:r>
          </a:p>
        </p:txBody>
      </p:sp>
      <p:sp>
        <p:nvSpPr>
          <p:cNvPr id="10" name="矩形: 圓角 9">
            <a:extLst>
              <a:ext uri="{FF2B5EF4-FFF2-40B4-BE49-F238E27FC236}">
                <a16:creationId xmlns:a16="http://schemas.microsoft.com/office/drawing/2014/main" id="{08B06DAF-C442-41E9-BD0A-6ABB994EBE6F}"/>
              </a:ext>
            </a:extLst>
          </p:cNvPr>
          <p:cNvSpPr/>
          <p:nvPr/>
        </p:nvSpPr>
        <p:spPr>
          <a:xfrm>
            <a:off x="4732750" y="4187542"/>
            <a:ext cx="1766170" cy="72651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400"/>
              <a:t>穩健縮放</a:t>
            </a:r>
          </a:p>
        </p:txBody>
      </p:sp>
      <p:sp>
        <p:nvSpPr>
          <p:cNvPr id="11" name="流程圖: 決策 10">
            <a:extLst>
              <a:ext uri="{FF2B5EF4-FFF2-40B4-BE49-F238E27FC236}">
                <a16:creationId xmlns:a16="http://schemas.microsoft.com/office/drawing/2014/main" id="{B0C63978-5FCE-44FC-8EC8-293449D233E7}"/>
              </a:ext>
            </a:extLst>
          </p:cNvPr>
          <p:cNvSpPr/>
          <p:nvPr/>
        </p:nvSpPr>
        <p:spPr>
          <a:xfrm>
            <a:off x="576198" y="1560693"/>
            <a:ext cx="2530257" cy="880705"/>
          </a:xfrm>
          <a:prstGeom prst="flowChartDecision">
            <a:avLst/>
          </a:prstGeom>
          <a:solidFill>
            <a:srgbClr val="0000FF"/>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a:solidFill>
                  <a:schemeClr val="bg1"/>
                </a:solidFill>
              </a:rPr>
              <a:t>數據有異常值</a:t>
            </a:r>
          </a:p>
        </p:txBody>
      </p:sp>
      <p:sp>
        <p:nvSpPr>
          <p:cNvPr id="12" name="流程圖: 決策 11">
            <a:extLst>
              <a:ext uri="{FF2B5EF4-FFF2-40B4-BE49-F238E27FC236}">
                <a16:creationId xmlns:a16="http://schemas.microsoft.com/office/drawing/2014/main" id="{A14107B1-BBBA-4C69-BE1E-81E9E07BC41E}"/>
              </a:ext>
            </a:extLst>
          </p:cNvPr>
          <p:cNvSpPr/>
          <p:nvPr/>
        </p:nvSpPr>
        <p:spPr>
          <a:xfrm>
            <a:off x="576198" y="2746198"/>
            <a:ext cx="2530257" cy="880705"/>
          </a:xfrm>
          <a:prstGeom prst="flowChartDecision">
            <a:avLst/>
          </a:prstGeom>
          <a:solidFill>
            <a:srgbClr val="0000FF"/>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a:solidFill>
                  <a:schemeClr val="bg1"/>
                </a:solidFill>
              </a:rPr>
              <a:t>演算法需界值</a:t>
            </a:r>
          </a:p>
        </p:txBody>
      </p:sp>
      <p:sp>
        <p:nvSpPr>
          <p:cNvPr id="13" name="流程圖: 決策 12">
            <a:extLst>
              <a:ext uri="{FF2B5EF4-FFF2-40B4-BE49-F238E27FC236}">
                <a16:creationId xmlns:a16="http://schemas.microsoft.com/office/drawing/2014/main" id="{3E31B2CA-5455-4366-91F0-12B588456F44}"/>
              </a:ext>
            </a:extLst>
          </p:cNvPr>
          <p:cNvSpPr/>
          <p:nvPr/>
        </p:nvSpPr>
        <p:spPr>
          <a:xfrm>
            <a:off x="576198" y="3931703"/>
            <a:ext cx="2530257" cy="880705"/>
          </a:xfrm>
          <a:prstGeom prst="flowChartDecision">
            <a:avLst/>
          </a:prstGeom>
          <a:solidFill>
            <a:srgbClr val="0000FF"/>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a:solidFill>
                  <a:schemeClr val="bg1"/>
                </a:solidFill>
              </a:rPr>
              <a:t>數據符合常態分佈</a:t>
            </a:r>
          </a:p>
        </p:txBody>
      </p:sp>
      <p:cxnSp>
        <p:nvCxnSpPr>
          <p:cNvPr id="15" name="直線單箭頭接點 14">
            <a:extLst>
              <a:ext uri="{FF2B5EF4-FFF2-40B4-BE49-F238E27FC236}">
                <a16:creationId xmlns:a16="http://schemas.microsoft.com/office/drawing/2014/main" id="{5429EF70-06E2-429B-9234-0CB33931DC97}"/>
              </a:ext>
            </a:extLst>
          </p:cNvPr>
          <p:cNvCxnSpPr>
            <a:stCxn id="11" idx="2"/>
            <a:endCxn id="12" idx="0"/>
          </p:cNvCxnSpPr>
          <p:nvPr/>
        </p:nvCxnSpPr>
        <p:spPr>
          <a:xfrm>
            <a:off x="1841327" y="2441398"/>
            <a:ext cx="0" cy="3048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接點: 肘形 16">
            <a:extLst>
              <a:ext uri="{FF2B5EF4-FFF2-40B4-BE49-F238E27FC236}">
                <a16:creationId xmlns:a16="http://schemas.microsoft.com/office/drawing/2014/main" id="{CAB64081-BF97-418B-A206-64AA0FD836F0}"/>
              </a:ext>
            </a:extLst>
          </p:cNvPr>
          <p:cNvCxnSpPr>
            <a:stCxn id="11" idx="3"/>
            <a:endCxn id="10" idx="1"/>
          </p:cNvCxnSpPr>
          <p:nvPr/>
        </p:nvCxnSpPr>
        <p:spPr>
          <a:xfrm>
            <a:off x="3106455" y="2001046"/>
            <a:ext cx="1626295" cy="2549751"/>
          </a:xfrm>
          <a:prstGeom prst="bentConnector3">
            <a:avLst>
              <a:gd name="adj1" fmla="val 50000"/>
            </a:avLst>
          </a:prstGeom>
          <a:ln w="1905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19" name="接點: 肘形 18">
            <a:extLst>
              <a:ext uri="{FF2B5EF4-FFF2-40B4-BE49-F238E27FC236}">
                <a16:creationId xmlns:a16="http://schemas.microsoft.com/office/drawing/2014/main" id="{30F2497D-AA07-4D1A-A1CD-A1677CD81C3E}"/>
              </a:ext>
            </a:extLst>
          </p:cNvPr>
          <p:cNvCxnSpPr>
            <a:stCxn id="11" idx="3"/>
            <a:endCxn id="9" idx="1"/>
          </p:cNvCxnSpPr>
          <p:nvPr/>
        </p:nvCxnSpPr>
        <p:spPr>
          <a:xfrm>
            <a:off x="3106455" y="2001046"/>
            <a:ext cx="1626295" cy="3385610"/>
          </a:xfrm>
          <a:prstGeom prst="bentConnector3">
            <a:avLst>
              <a:gd name="adj1" fmla="val 50000"/>
            </a:avLst>
          </a:prstGeom>
          <a:ln w="1905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21" name="接點: 肘形 20">
            <a:extLst>
              <a:ext uri="{FF2B5EF4-FFF2-40B4-BE49-F238E27FC236}">
                <a16:creationId xmlns:a16="http://schemas.microsoft.com/office/drawing/2014/main" id="{78BF564D-59C1-41AD-B52F-B4173AEC750C}"/>
              </a:ext>
            </a:extLst>
          </p:cNvPr>
          <p:cNvCxnSpPr>
            <a:cxnSpLocks/>
            <a:stCxn id="12" idx="3"/>
            <a:endCxn id="8" idx="1"/>
          </p:cNvCxnSpPr>
          <p:nvPr/>
        </p:nvCxnSpPr>
        <p:spPr>
          <a:xfrm>
            <a:off x="3106455" y="3186551"/>
            <a:ext cx="1588717" cy="473632"/>
          </a:xfrm>
          <a:prstGeom prst="bentConnector3">
            <a:avLst>
              <a:gd name="adj1" fmla="val 86268"/>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線單箭頭接點 23">
            <a:extLst>
              <a:ext uri="{FF2B5EF4-FFF2-40B4-BE49-F238E27FC236}">
                <a16:creationId xmlns:a16="http://schemas.microsoft.com/office/drawing/2014/main" id="{C3BEB3F1-946D-44B6-8A5C-C824B87F0B16}"/>
              </a:ext>
            </a:extLst>
          </p:cNvPr>
          <p:cNvCxnSpPr>
            <a:stCxn id="12" idx="2"/>
            <a:endCxn id="13" idx="0"/>
          </p:cNvCxnSpPr>
          <p:nvPr/>
        </p:nvCxnSpPr>
        <p:spPr>
          <a:xfrm>
            <a:off x="1841327" y="3626903"/>
            <a:ext cx="0" cy="3048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接點: 肘形 25">
            <a:extLst>
              <a:ext uri="{FF2B5EF4-FFF2-40B4-BE49-F238E27FC236}">
                <a16:creationId xmlns:a16="http://schemas.microsoft.com/office/drawing/2014/main" id="{CE3BF382-DE81-4F4A-9A4B-6BAE147799CE}"/>
              </a:ext>
            </a:extLst>
          </p:cNvPr>
          <p:cNvCxnSpPr>
            <a:cxnSpLocks/>
            <a:stCxn id="13" idx="3"/>
            <a:endCxn id="7" idx="1"/>
          </p:cNvCxnSpPr>
          <p:nvPr/>
        </p:nvCxnSpPr>
        <p:spPr>
          <a:xfrm flipV="1">
            <a:off x="3106455" y="2738537"/>
            <a:ext cx="1626295" cy="1633519"/>
          </a:xfrm>
          <a:prstGeom prst="bentConnector3">
            <a:avLst>
              <a:gd name="adj1" fmla="val 64634"/>
            </a:avLst>
          </a:prstGeom>
          <a:ln w="190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41" name="接點: 肘形 40">
            <a:extLst>
              <a:ext uri="{FF2B5EF4-FFF2-40B4-BE49-F238E27FC236}">
                <a16:creationId xmlns:a16="http://schemas.microsoft.com/office/drawing/2014/main" id="{4793A38D-E61A-46B7-9925-F441116A4E39}"/>
              </a:ext>
            </a:extLst>
          </p:cNvPr>
          <p:cNvCxnSpPr>
            <a:stCxn id="13" idx="2"/>
            <a:endCxn id="8" idx="1"/>
          </p:cNvCxnSpPr>
          <p:nvPr/>
        </p:nvCxnSpPr>
        <p:spPr>
          <a:xfrm rot="5400000" flipH="1" flipV="1">
            <a:off x="2692136" y="2809373"/>
            <a:ext cx="1152225" cy="2853845"/>
          </a:xfrm>
          <a:prstGeom prst="bentConnector4">
            <a:avLst>
              <a:gd name="adj1" fmla="val -19840"/>
              <a:gd name="adj2" fmla="val 64264"/>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接點: 肘形 42">
            <a:extLst>
              <a:ext uri="{FF2B5EF4-FFF2-40B4-BE49-F238E27FC236}">
                <a16:creationId xmlns:a16="http://schemas.microsoft.com/office/drawing/2014/main" id="{78F8EB32-CF1D-44F6-8FF9-EA22071A175B}"/>
              </a:ext>
            </a:extLst>
          </p:cNvPr>
          <p:cNvCxnSpPr>
            <a:stCxn id="13" idx="2"/>
            <a:endCxn id="6" idx="1"/>
          </p:cNvCxnSpPr>
          <p:nvPr/>
        </p:nvCxnSpPr>
        <p:spPr>
          <a:xfrm rot="16200000" flipH="1">
            <a:off x="2555915" y="4097819"/>
            <a:ext cx="1462246" cy="2891423"/>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46" name="矩形: 圓角 45">
            <a:extLst>
              <a:ext uri="{FF2B5EF4-FFF2-40B4-BE49-F238E27FC236}">
                <a16:creationId xmlns:a16="http://schemas.microsoft.com/office/drawing/2014/main" id="{4EFE8B41-F9A4-4FE7-8842-97A71173D3F1}"/>
              </a:ext>
            </a:extLst>
          </p:cNvPr>
          <p:cNvSpPr/>
          <p:nvPr/>
        </p:nvSpPr>
        <p:spPr>
          <a:xfrm>
            <a:off x="4732750" y="1503083"/>
            <a:ext cx="1766170" cy="72651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400"/>
              <a:t>最大絕對縮放</a:t>
            </a:r>
          </a:p>
        </p:txBody>
      </p:sp>
      <p:sp>
        <p:nvSpPr>
          <p:cNvPr id="59" name="流程圖: 決策 58">
            <a:extLst>
              <a:ext uri="{FF2B5EF4-FFF2-40B4-BE49-F238E27FC236}">
                <a16:creationId xmlns:a16="http://schemas.microsoft.com/office/drawing/2014/main" id="{06AA7D21-935B-4768-9DF4-751F14D6FB80}"/>
              </a:ext>
            </a:extLst>
          </p:cNvPr>
          <p:cNvSpPr/>
          <p:nvPr/>
        </p:nvSpPr>
        <p:spPr>
          <a:xfrm>
            <a:off x="8087637" y="1415340"/>
            <a:ext cx="2530257" cy="880705"/>
          </a:xfrm>
          <a:prstGeom prst="flowChartDecision">
            <a:avLst/>
          </a:prstGeom>
          <a:solidFill>
            <a:srgbClr val="0000FF"/>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a:solidFill>
                  <a:schemeClr val="bg1"/>
                </a:solidFill>
              </a:rPr>
              <a:t>數據具稀疏</a:t>
            </a:r>
          </a:p>
        </p:txBody>
      </p:sp>
      <p:cxnSp>
        <p:nvCxnSpPr>
          <p:cNvPr id="61" name="接點: 肘形 60">
            <a:extLst>
              <a:ext uri="{FF2B5EF4-FFF2-40B4-BE49-F238E27FC236}">
                <a16:creationId xmlns:a16="http://schemas.microsoft.com/office/drawing/2014/main" id="{28387155-CD79-4B54-A732-F9D2E12C6D31}"/>
              </a:ext>
            </a:extLst>
          </p:cNvPr>
          <p:cNvCxnSpPr>
            <a:cxnSpLocks/>
            <a:stCxn id="59" idx="1"/>
            <a:endCxn id="46" idx="3"/>
          </p:cNvCxnSpPr>
          <p:nvPr/>
        </p:nvCxnSpPr>
        <p:spPr>
          <a:xfrm rot="10800000" flipV="1">
            <a:off x="6498921" y="1855692"/>
            <a:ext cx="1588717" cy="1064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接點: 肘形 62">
            <a:extLst>
              <a:ext uri="{FF2B5EF4-FFF2-40B4-BE49-F238E27FC236}">
                <a16:creationId xmlns:a16="http://schemas.microsoft.com/office/drawing/2014/main" id="{5DF371A1-FE63-4C93-BD08-7E8470D6D369}"/>
              </a:ext>
            </a:extLst>
          </p:cNvPr>
          <p:cNvCxnSpPr>
            <a:cxnSpLocks/>
            <a:stCxn id="59" idx="2"/>
            <a:endCxn id="8" idx="3"/>
          </p:cNvCxnSpPr>
          <p:nvPr/>
        </p:nvCxnSpPr>
        <p:spPr>
          <a:xfrm rot="5400000">
            <a:off x="7224985" y="1532402"/>
            <a:ext cx="1364138" cy="2891424"/>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5" name="接點: 肘形 64">
            <a:extLst>
              <a:ext uri="{FF2B5EF4-FFF2-40B4-BE49-F238E27FC236}">
                <a16:creationId xmlns:a16="http://schemas.microsoft.com/office/drawing/2014/main" id="{3F7D9873-5CBC-4DB6-8868-97BB585F8A73}"/>
              </a:ext>
            </a:extLst>
          </p:cNvPr>
          <p:cNvCxnSpPr>
            <a:stCxn id="59" idx="2"/>
            <a:endCxn id="7" idx="3"/>
          </p:cNvCxnSpPr>
          <p:nvPr/>
        </p:nvCxnSpPr>
        <p:spPr>
          <a:xfrm rot="5400000">
            <a:off x="7704597" y="1090368"/>
            <a:ext cx="442492" cy="2853846"/>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72" name="流程圖: 決策 71">
            <a:extLst>
              <a:ext uri="{FF2B5EF4-FFF2-40B4-BE49-F238E27FC236}">
                <a16:creationId xmlns:a16="http://schemas.microsoft.com/office/drawing/2014/main" id="{3C9BE918-6ED4-4B1A-BC39-7BEC2C9C4CCC}"/>
              </a:ext>
            </a:extLst>
          </p:cNvPr>
          <p:cNvSpPr/>
          <p:nvPr/>
        </p:nvSpPr>
        <p:spPr>
          <a:xfrm>
            <a:off x="8269308" y="4946304"/>
            <a:ext cx="2530257" cy="880705"/>
          </a:xfrm>
          <a:prstGeom prst="flowChartDecision">
            <a:avLst/>
          </a:prstGeom>
          <a:solidFill>
            <a:srgbClr val="0000FF"/>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a:solidFill>
                  <a:schemeClr val="bg1"/>
                </a:solidFill>
              </a:rPr>
              <a:t>數據呈指數分布</a:t>
            </a:r>
          </a:p>
        </p:txBody>
      </p:sp>
      <p:cxnSp>
        <p:nvCxnSpPr>
          <p:cNvPr id="74" name="接點: 肘形 73">
            <a:extLst>
              <a:ext uri="{FF2B5EF4-FFF2-40B4-BE49-F238E27FC236}">
                <a16:creationId xmlns:a16="http://schemas.microsoft.com/office/drawing/2014/main" id="{8A64FCA2-02D6-4988-90A7-B35079F2792B}"/>
              </a:ext>
            </a:extLst>
          </p:cNvPr>
          <p:cNvCxnSpPr>
            <a:stCxn id="72" idx="1"/>
            <a:endCxn id="9" idx="3"/>
          </p:cNvCxnSpPr>
          <p:nvPr/>
        </p:nvCxnSpPr>
        <p:spPr>
          <a:xfrm rot="10800000">
            <a:off x="6498920" y="5386657"/>
            <a:ext cx="1770388" cy="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6" name="接點: 肘形 75">
            <a:extLst>
              <a:ext uri="{FF2B5EF4-FFF2-40B4-BE49-F238E27FC236}">
                <a16:creationId xmlns:a16="http://schemas.microsoft.com/office/drawing/2014/main" id="{6BF0DB6C-DB71-4B39-AC7F-7C6CCEC9D076}"/>
              </a:ext>
            </a:extLst>
          </p:cNvPr>
          <p:cNvCxnSpPr>
            <a:cxnSpLocks/>
            <a:stCxn id="72" idx="0"/>
          </p:cNvCxnSpPr>
          <p:nvPr/>
        </p:nvCxnSpPr>
        <p:spPr>
          <a:xfrm rot="16200000" flipV="1">
            <a:off x="6970146" y="2382013"/>
            <a:ext cx="2070142" cy="305844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79" name="文字方塊 78">
            <a:extLst>
              <a:ext uri="{FF2B5EF4-FFF2-40B4-BE49-F238E27FC236}">
                <a16:creationId xmlns:a16="http://schemas.microsoft.com/office/drawing/2014/main" id="{839D4583-E08D-4474-9FD1-352B6BFD0A55}"/>
              </a:ext>
            </a:extLst>
          </p:cNvPr>
          <p:cNvSpPr txBox="1"/>
          <p:nvPr/>
        </p:nvSpPr>
        <p:spPr>
          <a:xfrm>
            <a:off x="7298911" y="1404058"/>
            <a:ext cx="314510" cy="369332"/>
          </a:xfrm>
          <a:prstGeom prst="rect">
            <a:avLst/>
          </a:prstGeom>
          <a:noFill/>
        </p:spPr>
        <p:txBody>
          <a:bodyPr wrap="none" rtlCol="0">
            <a:spAutoFit/>
          </a:bodyPr>
          <a:lstStyle/>
          <a:p>
            <a:r>
              <a:rPr lang="en-US" altLang="zh-TW"/>
              <a:t>y</a:t>
            </a:r>
            <a:endParaRPr lang="zh-TW" altLang="en-US"/>
          </a:p>
        </p:txBody>
      </p:sp>
      <p:sp>
        <p:nvSpPr>
          <p:cNvPr id="80" name="文字方塊 79">
            <a:extLst>
              <a:ext uri="{FF2B5EF4-FFF2-40B4-BE49-F238E27FC236}">
                <a16:creationId xmlns:a16="http://schemas.microsoft.com/office/drawing/2014/main" id="{F2DDE73F-5078-4806-B76F-836545E1DA57}"/>
              </a:ext>
            </a:extLst>
          </p:cNvPr>
          <p:cNvSpPr txBox="1"/>
          <p:nvPr/>
        </p:nvSpPr>
        <p:spPr>
          <a:xfrm>
            <a:off x="3313181" y="3931703"/>
            <a:ext cx="314510" cy="369332"/>
          </a:xfrm>
          <a:prstGeom prst="rect">
            <a:avLst/>
          </a:prstGeom>
          <a:noFill/>
        </p:spPr>
        <p:txBody>
          <a:bodyPr wrap="none" rtlCol="0">
            <a:spAutoFit/>
          </a:bodyPr>
          <a:lstStyle/>
          <a:p>
            <a:r>
              <a:rPr lang="en-US" altLang="zh-TW"/>
              <a:t>y</a:t>
            </a:r>
            <a:endParaRPr lang="zh-TW" altLang="en-US"/>
          </a:p>
        </p:txBody>
      </p:sp>
      <p:sp>
        <p:nvSpPr>
          <p:cNvPr id="81" name="文字方塊 80">
            <a:extLst>
              <a:ext uri="{FF2B5EF4-FFF2-40B4-BE49-F238E27FC236}">
                <a16:creationId xmlns:a16="http://schemas.microsoft.com/office/drawing/2014/main" id="{E520976C-D960-4FFC-A527-68042AEB9860}"/>
              </a:ext>
            </a:extLst>
          </p:cNvPr>
          <p:cNvSpPr txBox="1"/>
          <p:nvPr/>
        </p:nvSpPr>
        <p:spPr>
          <a:xfrm>
            <a:off x="3361516" y="2730365"/>
            <a:ext cx="314510" cy="369332"/>
          </a:xfrm>
          <a:prstGeom prst="rect">
            <a:avLst/>
          </a:prstGeom>
          <a:noFill/>
        </p:spPr>
        <p:txBody>
          <a:bodyPr wrap="none" rtlCol="0">
            <a:spAutoFit/>
          </a:bodyPr>
          <a:lstStyle/>
          <a:p>
            <a:r>
              <a:rPr lang="en-US" altLang="zh-TW"/>
              <a:t>y</a:t>
            </a:r>
            <a:endParaRPr lang="zh-TW" altLang="en-US"/>
          </a:p>
        </p:txBody>
      </p:sp>
      <p:sp>
        <p:nvSpPr>
          <p:cNvPr id="82" name="文字方塊 81">
            <a:extLst>
              <a:ext uri="{FF2B5EF4-FFF2-40B4-BE49-F238E27FC236}">
                <a16:creationId xmlns:a16="http://schemas.microsoft.com/office/drawing/2014/main" id="{4AB3E4E3-EC70-4F86-9C5F-19B1DDA8C457}"/>
              </a:ext>
            </a:extLst>
          </p:cNvPr>
          <p:cNvSpPr txBox="1"/>
          <p:nvPr/>
        </p:nvSpPr>
        <p:spPr>
          <a:xfrm>
            <a:off x="3287038" y="1657332"/>
            <a:ext cx="314510" cy="369332"/>
          </a:xfrm>
          <a:prstGeom prst="rect">
            <a:avLst/>
          </a:prstGeom>
          <a:noFill/>
        </p:spPr>
        <p:txBody>
          <a:bodyPr wrap="none" rtlCol="0">
            <a:spAutoFit/>
          </a:bodyPr>
          <a:lstStyle/>
          <a:p>
            <a:r>
              <a:rPr lang="en-US" altLang="zh-TW"/>
              <a:t>y</a:t>
            </a:r>
            <a:endParaRPr lang="zh-TW" altLang="en-US"/>
          </a:p>
        </p:txBody>
      </p:sp>
      <p:sp>
        <p:nvSpPr>
          <p:cNvPr id="83" name="文字方塊 82">
            <a:extLst>
              <a:ext uri="{FF2B5EF4-FFF2-40B4-BE49-F238E27FC236}">
                <a16:creationId xmlns:a16="http://schemas.microsoft.com/office/drawing/2014/main" id="{40BF7816-7A58-42F3-9CB2-87E8F513E276}"/>
              </a:ext>
            </a:extLst>
          </p:cNvPr>
          <p:cNvSpPr txBox="1"/>
          <p:nvPr/>
        </p:nvSpPr>
        <p:spPr>
          <a:xfrm>
            <a:off x="7624174" y="5003307"/>
            <a:ext cx="314510" cy="369332"/>
          </a:xfrm>
          <a:prstGeom prst="rect">
            <a:avLst/>
          </a:prstGeom>
          <a:noFill/>
        </p:spPr>
        <p:txBody>
          <a:bodyPr wrap="square" rtlCol="0">
            <a:spAutoFit/>
          </a:bodyPr>
          <a:lstStyle/>
          <a:p>
            <a:r>
              <a:rPr lang="en-US" altLang="zh-TW"/>
              <a:t>y</a:t>
            </a:r>
            <a:endParaRPr lang="zh-TW" altLang="en-US"/>
          </a:p>
        </p:txBody>
      </p:sp>
      <p:sp>
        <p:nvSpPr>
          <p:cNvPr id="86" name="文字方塊 85">
            <a:extLst>
              <a:ext uri="{FF2B5EF4-FFF2-40B4-BE49-F238E27FC236}">
                <a16:creationId xmlns:a16="http://schemas.microsoft.com/office/drawing/2014/main" id="{F6E233CE-0F80-4E2B-9055-BAABA27520DA}"/>
              </a:ext>
            </a:extLst>
          </p:cNvPr>
          <p:cNvSpPr txBox="1"/>
          <p:nvPr/>
        </p:nvSpPr>
        <p:spPr>
          <a:xfrm>
            <a:off x="9534436" y="4394268"/>
            <a:ext cx="317716" cy="369332"/>
          </a:xfrm>
          <a:prstGeom prst="rect">
            <a:avLst/>
          </a:prstGeom>
          <a:noFill/>
        </p:spPr>
        <p:txBody>
          <a:bodyPr wrap="none" rtlCol="0">
            <a:spAutoFit/>
          </a:bodyPr>
          <a:lstStyle/>
          <a:p>
            <a:r>
              <a:rPr lang="en-US" altLang="zh-TW"/>
              <a:t>n</a:t>
            </a:r>
            <a:endParaRPr lang="zh-TW" altLang="en-US"/>
          </a:p>
        </p:txBody>
      </p:sp>
      <p:sp>
        <p:nvSpPr>
          <p:cNvPr id="87" name="文字方塊 86">
            <a:extLst>
              <a:ext uri="{FF2B5EF4-FFF2-40B4-BE49-F238E27FC236}">
                <a16:creationId xmlns:a16="http://schemas.microsoft.com/office/drawing/2014/main" id="{53EF56AC-F936-4AAE-A3E8-F2C5AFA08AF7}"/>
              </a:ext>
            </a:extLst>
          </p:cNvPr>
          <p:cNvSpPr txBox="1"/>
          <p:nvPr/>
        </p:nvSpPr>
        <p:spPr>
          <a:xfrm>
            <a:off x="9284744" y="2294083"/>
            <a:ext cx="317716" cy="369332"/>
          </a:xfrm>
          <a:prstGeom prst="rect">
            <a:avLst/>
          </a:prstGeom>
          <a:noFill/>
        </p:spPr>
        <p:txBody>
          <a:bodyPr wrap="none" rtlCol="0">
            <a:spAutoFit/>
          </a:bodyPr>
          <a:lstStyle/>
          <a:p>
            <a:r>
              <a:rPr lang="en-US" altLang="zh-TW"/>
              <a:t>n</a:t>
            </a:r>
            <a:endParaRPr lang="zh-TW" altLang="en-US"/>
          </a:p>
        </p:txBody>
      </p:sp>
      <p:sp>
        <p:nvSpPr>
          <p:cNvPr id="88" name="文字方塊 87">
            <a:extLst>
              <a:ext uri="{FF2B5EF4-FFF2-40B4-BE49-F238E27FC236}">
                <a16:creationId xmlns:a16="http://schemas.microsoft.com/office/drawing/2014/main" id="{1A73BC7F-BC8E-4CFC-A5FA-C44D4751EB49}"/>
              </a:ext>
            </a:extLst>
          </p:cNvPr>
          <p:cNvSpPr txBox="1"/>
          <p:nvPr/>
        </p:nvSpPr>
        <p:spPr>
          <a:xfrm>
            <a:off x="1501885" y="4899262"/>
            <a:ext cx="317716" cy="369332"/>
          </a:xfrm>
          <a:prstGeom prst="rect">
            <a:avLst/>
          </a:prstGeom>
          <a:noFill/>
        </p:spPr>
        <p:txBody>
          <a:bodyPr wrap="none" rtlCol="0">
            <a:spAutoFit/>
          </a:bodyPr>
          <a:lstStyle/>
          <a:p>
            <a:r>
              <a:rPr lang="en-US" altLang="zh-TW"/>
              <a:t>n</a:t>
            </a:r>
            <a:endParaRPr lang="zh-TW" altLang="en-US"/>
          </a:p>
        </p:txBody>
      </p:sp>
      <p:sp>
        <p:nvSpPr>
          <p:cNvPr id="89" name="文字方塊 88">
            <a:extLst>
              <a:ext uri="{FF2B5EF4-FFF2-40B4-BE49-F238E27FC236}">
                <a16:creationId xmlns:a16="http://schemas.microsoft.com/office/drawing/2014/main" id="{12F8FEE3-9F15-4190-AFF4-27A66704A95D}"/>
              </a:ext>
            </a:extLst>
          </p:cNvPr>
          <p:cNvSpPr txBox="1"/>
          <p:nvPr/>
        </p:nvSpPr>
        <p:spPr>
          <a:xfrm>
            <a:off x="1960172" y="3594637"/>
            <a:ext cx="317716" cy="369332"/>
          </a:xfrm>
          <a:prstGeom prst="rect">
            <a:avLst/>
          </a:prstGeom>
          <a:noFill/>
        </p:spPr>
        <p:txBody>
          <a:bodyPr wrap="none" rtlCol="0">
            <a:spAutoFit/>
          </a:bodyPr>
          <a:lstStyle/>
          <a:p>
            <a:r>
              <a:rPr lang="en-US" altLang="zh-TW"/>
              <a:t>n</a:t>
            </a:r>
            <a:endParaRPr lang="zh-TW" altLang="en-US"/>
          </a:p>
        </p:txBody>
      </p:sp>
      <p:sp>
        <p:nvSpPr>
          <p:cNvPr id="90" name="文字方塊 89">
            <a:extLst>
              <a:ext uri="{FF2B5EF4-FFF2-40B4-BE49-F238E27FC236}">
                <a16:creationId xmlns:a16="http://schemas.microsoft.com/office/drawing/2014/main" id="{C91965A8-2F56-4EA7-91BA-63A47484696F}"/>
              </a:ext>
            </a:extLst>
          </p:cNvPr>
          <p:cNvSpPr txBox="1"/>
          <p:nvPr/>
        </p:nvSpPr>
        <p:spPr>
          <a:xfrm>
            <a:off x="1937530" y="2328797"/>
            <a:ext cx="317716" cy="369332"/>
          </a:xfrm>
          <a:prstGeom prst="rect">
            <a:avLst/>
          </a:prstGeom>
          <a:noFill/>
        </p:spPr>
        <p:txBody>
          <a:bodyPr wrap="none" rtlCol="0">
            <a:spAutoFit/>
          </a:bodyPr>
          <a:lstStyle/>
          <a:p>
            <a:r>
              <a:rPr lang="en-US" altLang="zh-TW"/>
              <a:t>n</a:t>
            </a:r>
            <a:endParaRPr lang="zh-TW" altLang="en-US"/>
          </a:p>
        </p:txBody>
      </p:sp>
    </p:spTree>
    <p:extLst>
      <p:ext uri="{BB962C8B-B14F-4D97-AF65-F5344CB8AC3E}">
        <p14:creationId xmlns:p14="http://schemas.microsoft.com/office/powerpoint/2010/main" val="20377270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54D3A66-4FB1-45A9-8DEA-BB296D7B4ACE}"/>
              </a:ext>
            </a:extLst>
          </p:cNvPr>
          <p:cNvSpPr>
            <a:spLocks noGrp="1"/>
          </p:cNvSpPr>
          <p:nvPr>
            <p:ph type="title"/>
          </p:nvPr>
        </p:nvSpPr>
        <p:spPr/>
        <p:txBody>
          <a:bodyPr>
            <a:normAutofit/>
          </a:bodyPr>
          <a:lstStyle/>
          <a:p>
            <a:r>
              <a:rPr lang="zh-TW" altLang="en-US" b="1" i="0">
                <a:solidFill>
                  <a:srgbClr val="0F0F0F"/>
                </a:solidFill>
                <a:effectLst/>
                <a:latin typeface="Roboto" panose="02000000000000000000" pitchFamily="2" charset="0"/>
              </a:rPr>
              <a:t>演算法特定指南</a:t>
            </a:r>
            <a:endParaRPr lang="zh-TW" altLang="en-US"/>
          </a:p>
        </p:txBody>
      </p:sp>
      <p:sp>
        <p:nvSpPr>
          <p:cNvPr id="3" name="內容版面配置區 2">
            <a:extLst>
              <a:ext uri="{FF2B5EF4-FFF2-40B4-BE49-F238E27FC236}">
                <a16:creationId xmlns:a16="http://schemas.microsoft.com/office/drawing/2014/main" id="{3C954EE6-5F6E-4D66-B1F5-8E84CF150346}"/>
              </a:ext>
            </a:extLst>
          </p:cNvPr>
          <p:cNvSpPr>
            <a:spLocks noGrp="1"/>
          </p:cNvSpPr>
          <p:nvPr>
            <p:ph idx="1"/>
          </p:nvPr>
        </p:nvSpPr>
        <p:spPr/>
        <p:txBody>
          <a:bodyPr/>
          <a:lstStyle/>
          <a:p>
            <a:pPr algn="l">
              <a:buFont typeface="Arial" panose="020B0604020202020204" pitchFamily="34" charset="0"/>
              <a:buChar char="•"/>
            </a:pPr>
            <a:r>
              <a:rPr lang="zh-TW" altLang="en-US" b="1" i="0">
                <a:solidFill>
                  <a:srgbClr val="0F0F0F"/>
                </a:solidFill>
                <a:effectLst/>
                <a:latin typeface="Roboto" panose="02000000000000000000" pitchFamily="2" charset="0"/>
              </a:rPr>
              <a:t>基於距離的演算法</a:t>
            </a:r>
            <a:r>
              <a:rPr lang="zh-TW" altLang="en-US" b="0" i="0">
                <a:solidFill>
                  <a:srgbClr val="0F0F0F"/>
                </a:solidFill>
                <a:effectLst/>
                <a:latin typeface="Roboto" panose="02000000000000000000" pitchFamily="2" charset="0"/>
              </a:rPr>
              <a:t>（</a:t>
            </a:r>
            <a:r>
              <a:rPr lang="en-US" altLang="zh-TW" b="0" i="0">
                <a:solidFill>
                  <a:srgbClr val="0F0F0F"/>
                </a:solidFill>
                <a:effectLst/>
                <a:latin typeface="Roboto" panose="02000000000000000000" pitchFamily="2" charset="0"/>
              </a:rPr>
              <a:t>KNN</a:t>
            </a:r>
            <a:r>
              <a:rPr lang="zh-TW" altLang="en-US" b="0" i="0">
                <a:solidFill>
                  <a:srgbClr val="0F0F0F"/>
                </a:solidFill>
                <a:effectLst/>
                <a:latin typeface="Roboto" panose="02000000000000000000" pitchFamily="2" charset="0"/>
              </a:rPr>
              <a:t>、</a:t>
            </a:r>
            <a:r>
              <a:rPr lang="en-US" altLang="zh-TW" b="0" i="0">
                <a:solidFill>
                  <a:srgbClr val="0F0F0F"/>
                </a:solidFill>
                <a:effectLst/>
                <a:latin typeface="Roboto" panose="02000000000000000000" pitchFamily="2" charset="0"/>
              </a:rPr>
              <a:t>K</a:t>
            </a:r>
            <a:r>
              <a:rPr lang="zh-TW" altLang="en-US" b="0" i="0">
                <a:solidFill>
                  <a:srgbClr val="0F0F0F"/>
                </a:solidFill>
                <a:effectLst/>
                <a:latin typeface="Roboto" panose="02000000000000000000" pitchFamily="2" charset="0"/>
              </a:rPr>
              <a:t>均值、</a:t>
            </a:r>
            <a:r>
              <a:rPr lang="en-US" altLang="zh-TW" b="0" i="0">
                <a:solidFill>
                  <a:srgbClr val="0F0F0F"/>
                </a:solidFill>
                <a:effectLst/>
                <a:latin typeface="Roboto" panose="02000000000000000000" pitchFamily="2" charset="0"/>
              </a:rPr>
              <a:t>SVM</a:t>
            </a:r>
            <a:r>
              <a:rPr lang="zh-TW" altLang="en-US" b="0" i="0">
                <a:solidFill>
                  <a:srgbClr val="0F0F0F"/>
                </a:solidFill>
                <a:effectLst/>
                <a:latin typeface="Roboto" panose="02000000000000000000" pitchFamily="2" charset="0"/>
              </a:rPr>
              <a:t>）</a:t>
            </a:r>
            <a:endParaRPr lang="en-US" altLang="zh-TW" b="0" i="0">
              <a:solidFill>
                <a:srgbClr val="0F0F0F"/>
              </a:solidFill>
              <a:effectLst/>
              <a:latin typeface="Roboto" panose="02000000000000000000" pitchFamily="2" charset="0"/>
            </a:endParaRPr>
          </a:p>
          <a:p>
            <a:pPr lvl="1">
              <a:buFont typeface="Arial" panose="020B0604020202020204" pitchFamily="34" charset="0"/>
              <a:buChar char="•"/>
            </a:pPr>
            <a:r>
              <a:rPr lang="zh-TW" altLang="en-US" b="0" i="0">
                <a:solidFill>
                  <a:srgbClr val="0F0F0F"/>
                </a:solidFill>
                <a:effectLst/>
                <a:latin typeface="Roboto" panose="02000000000000000000" pitchFamily="2" charset="0"/>
              </a:rPr>
              <a:t>務必進行縮放！使用標準縮放或最小</a:t>
            </a:r>
            <a:r>
              <a:rPr lang="en-US" altLang="zh-TW" b="0" i="0">
                <a:solidFill>
                  <a:srgbClr val="0F0F0F"/>
                </a:solidFill>
                <a:effectLst/>
                <a:latin typeface="Roboto" panose="02000000000000000000" pitchFamily="2" charset="0"/>
              </a:rPr>
              <a:t>-</a:t>
            </a:r>
            <a:r>
              <a:rPr lang="zh-TW" altLang="en-US" b="0" i="0">
                <a:solidFill>
                  <a:srgbClr val="0F0F0F"/>
                </a:solidFill>
                <a:effectLst/>
                <a:latin typeface="Roboto" panose="02000000000000000000" pitchFamily="2" charset="0"/>
              </a:rPr>
              <a:t>最大縮放。</a:t>
            </a:r>
          </a:p>
          <a:p>
            <a:pPr algn="l">
              <a:buFont typeface="Arial" panose="020B0604020202020204" pitchFamily="34" charset="0"/>
              <a:buChar char="•"/>
            </a:pPr>
            <a:r>
              <a:rPr lang="zh-TW" altLang="en-US" b="1" i="0">
                <a:solidFill>
                  <a:srgbClr val="0F0F0F"/>
                </a:solidFill>
                <a:effectLst/>
                <a:latin typeface="Roboto" panose="02000000000000000000" pitchFamily="2" charset="0"/>
              </a:rPr>
              <a:t>基於樹的演算法</a:t>
            </a:r>
            <a:r>
              <a:rPr lang="zh-TW" altLang="en-US" b="0" i="0">
                <a:solidFill>
                  <a:srgbClr val="0F0F0F"/>
                </a:solidFill>
                <a:effectLst/>
                <a:latin typeface="Roboto" panose="02000000000000000000" pitchFamily="2" charset="0"/>
              </a:rPr>
              <a:t>（決策樹、隨機森林、</a:t>
            </a:r>
            <a:r>
              <a:rPr lang="en-US" altLang="zh-TW" b="0" i="0">
                <a:solidFill>
                  <a:srgbClr val="0F0F0F"/>
                </a:solidFill>
                <a:effectLst/>
                <a:latin typeface="Roboto" panose="02000000000000000000" pitchFamily="2" charset="0"/>
              </a:rPr>
              <a:t>XGBoost</a:t>
            </a:r>
            <a:r>
              <a:rPr lang="zh-TW" altLang="en-US" b="0" i="0">
                <a:solidFill>
                  <a:srgbClr val="0F0F0F"/>
                </a:solidFill>
                <a:effectLst/>
                <a:latin typeface="Roboto" panose="02000000000000000000" pitchFamily="2" charset="0"/>
              </a:rPr>
              <a:t>）</a:t>
            </a:r>
            <a:endParaRPr lang="en-US" altLang="zh-TW" b="0" i="0">
              <a:solidFill>
                <a:srgbClr val="0F0F0F"/>
              </a:solidFill>
              <a:effectLst/>
              <a:latin typeface="Roboto" panose="02000000000000000000" pitchFamily="2" charset="0"/>
            </a:endParaRPr>
          </a:p>
          <a:p>
            <a:pPr lvl="1">
              <a:buFont typeface="Arial" panose="020B0604020202020204" pitchFamily="34" charset="0"/>
              <a:buChar char="•"/>
            </a:pPr>
            <a:r>
              <a:rPr lang="zh-TW" altLang="en-US" b="0" i="0">
                <a:solidFill>
                  <a:srgbClr val="0F0F0F"/>
                </a:solidFill>
                <a:effectLst/>
                <a:latin typeface="Roboto" panose="02000000000000000000" pitchFamily="2" charset="0"/>
              </a:rPr>
              <a:t>無需擴展（它們直接根據特徵值進行分割）</a:t>
            </a:r>
          </a:p>
          <a:p>
            <a:pPr algn="l">
              <a:buFont typeface="Arial" panose="020B0604020202020204" pitchFamily="34" charset="0"/>
              <a:buChar char="•"/>
            </a:pPr>
            <a:r>
              <a:rPr lang="zh-TW" altLang="en-US" b="1" i="0">
                <a:solidFill>
                  <a:srgbClr val="0F0F0F"/>
                </a:solidFill>
                <a:effectLst/>
                <a:latin typeface="Roboto" panose="02000000000000000000" pitchFamily="2" charset="0"/>
              </a:rPr>
              <a:t>線性模型</a:t>
            </a:r>
            <a:r>
              <a:rPr lang="zh-TW" altLang="en-US" b="0" i="0">
                <a:solidFill>
                  <a:srgbClr val="0F0F0F"/>
                </a:solidFill>
                <a:effectLst/>
                <a:latin typeface="Roboto" panose="02000000000000000000" pitchFamily="2" charset="0"/>
              </a:rPr>
              <a:t>（線性迴歸、邏輯迴歸）</a:t>
            </a:r>
            <a:endParaRPr lang="en-US" altLang="zh-TW" b="0" i="0">
              <a:solidFill>
                <a:srgbClr val="0F0F0F"/>
              </a:solidFill>
              <a:effectLst/>
              <a:latin typeface="Roboto" panose="02000000000000000000" pitchFamily="2" charset="0"/>
            </a:endParaRPr>
          </a:p>
          <a:p>
            <a:pPr lvl="1">
              <a:buFont typeface="Arial" panose="020B0604020202020204" pitchFamily="34" charset="0"/>
              <a:buChar char="•"/>
            </a:pPr>
            <a:r>
              <a:rPr lang="zh-TW" altLang="en-US" b="0" i="0">
                <a:solidFill>
                  <a:srgbClr val="0F0F0F"/>
                </a:solidFill>
                <a:effectLst/>
                <a:latin typeface="Roboto" panose="02000000000000000000" pitchFamily="2" charset="0"/>
              </a:rPr>
              <a:t>使用標準尺度（提高收斂性和可解釋性）</a:t>
            </a:r>
          </a:p>
          <a:p>
            <a:pPr algn="l">
              <a:buFont typeface="Arial" panose="020B0604020202020204" pitchFamily="34" charset="0"/>
              <a:buChar char="•"/>
            </a:pPr>
            <a:r>
              <a:rPr lang="zh-TW" altLang="en-US" b="1" i="0">
                <a:solidFill>
                  <a:srgbClr val="0F0F0F"/>
                </a:solidFill>
                <a:effectLst/>
                <a:latin typeface="Roboto" panose="02000000000000000000" pitchFamily="2" charset="0"/>
              </a:rPr>
              <a:t>神經網路</a:t>
            </a:r>
            <a:endParaRPr lang="en-US" altLang="zh-TW" b="0">
              <a:solidFill>
                <a:srgbClr val="0F0F0F"/>
              </a:solidFill>
              <a:latin typeface="Roboto" panose="02000000000000000000" pitchFamily="2" charset="0"/>
            </a:endParaRPr>
          </a:p>
          <a:p>
            <a:pPr lvl="1">
              <a:buFont typeface="Arial" panose="020B0604020202020204" pitchFamily="34" charset="0"/>
              <a:buChar char="•"/>
            </a:pPr>
            <a:r>
              <a:rPr lang="zh-TW" altLang="en-US" b="0" i="0">
                <a:solidFill>
                  <a:srgbClr val="0F0F0F"/>
                </a:solidFill>
                <a:effectLst/>
                <a:latin typeface="Roboto" panose="02000000000000000000" pitchFamily="2" charset="0"/>
              </a:rPr>
              <a:t>使用最小</a:t>
            </a:r>
            <a:r>
              <a:rPr lang="en-US" altLang="zh-TW" b="0" i="0">
                <a:solidFill>
                  <a:srgbClr val="0F0F0F"/>
                </a:solidFill>
                <a:effectLst/>
                <a:latin typeface="Roboto" panose="02000000000000000000" pitchFamily="2" charset="0"/>
              </a:rPr>
              <a:t>-</a:t>
            </a:r>
            <a:r>
              <a:rPr lang="zh-TW" altLang="en-US" b="0" i="0">
                <a:solidFill>
                  <a:srgbClr val="0F0F0F"/>
                </a:solidFill>
                <a:effectLst/>
                <a:latin typeface="Roboto" panose="02000000000000000000" pitchFamily="2" charset="0"/>
              </a:rPr>
              <a:t>最大縮放（神經元偏好 </a:t>
            </a:r>
            <a:r>
              <a:rPr lang="en-US" altLang="zh-TW" b="0" i="0">
                <a:solidFill>
                  <a:srgbClr val="0F0F0F"/>
                </a:solidFill>
                <a:effectLst/>
                <a:latin typeface="Roboto" panose="02000000000000000000" pitchFamily="2" charset="0"/>
              </a:rPr>
              <a:t>[0,1] </a:t>
            </a:r>
            <a:r>
              <a:rPr lang="zh-TW" altLang="en-US" b="0" i="0">
                <a:solidFill>
                  <a:srgbClr val="0F0F0F"/>
                </a:solidFill>
                <a:effectLst/>
                <a:latin typeface="Roboto" panose="02000000000000000000" pitchFamily="2" charset="0"/>
              </a:rPr>
              <a:t>或 </a:t>
            </a:r>
            <a:r>
              <a:rPr lang="en-US" altLang="zh-TW" b="0" i="0">
                <a:solidFill>
                  <a:srgbClr val="0F0F0F"/>
                </a:solidFill>
                <a:effectLst/>
                <a:latin typeface="Roboto" panose="02000000000000000000" pitchFamily="2" charset="0"/>
              </a:rPr>
              <a:t>[-1,1] </a:t>
            </a:r>
            <a:r>
              <a:rPr lang="zh-TW" altLang="en-US" b="0" i="0">
                <a:solidFill>
                  <a:srgbClr val="0F0F0F"/>
                </a:solidFill>
                <a:effectLst/>
                <a:latin typeface="Roboto" panose="02000000000000000000" pitchFamily="2" charset="0"/>
              </a:rPr>
              <a:t>範圍）</a:t>
            </a:r>
          </a:p>
          <a:p>
            <a:pPr algn="l">
              <a:buFont typeface="Arial" panose="020B0604020202020204" pitchFamily="34" charset="0"/>
              <a:buChar char="•"/>
            </a:pPr>
            <a:r>
              <a:rPr lang="zh-TW" altLang="en-US" b="1" i="0">
                <a:solidFill>
                  <a:srgbClr val="0F0F0F"/>
                </a:solidFill>
                <a:effectLst/>
                <a:latin typeface="Roboto" panose="02000000000000000000" pitchFamily="2" charset="0"/>
              </a:rPr>
              <a:t>梯度下降最佳化</a:t>
            </a:r>
            <a:endParaRPr lang="en-US" altLang="zh-TW" b="0">
              <a:solidFill>
                <a:srgbClr val="0F0F0F"/>
              </a:solidFill>
              <a:latin typeface="Roboto" panose="02000000000000000000" pitchFamily="2" charset="0"/>
            </a:endParaRPr>
          </a:p>
          <a:p>
            <a:pPr lvl="1">
              <a:buFont typeface="Arial" panose="020B0604020202020204" pitchFamily="34" charset="0"/>
              <a:buChar char="•"/>
            </a:pPr>
            <a:r>
              <a:rPr lang="zh-TW" altLang="en-US" b="0" i="0">
                <a:solidFill>
                  <a:srgbClr val="0F0F0F"/>
                </a:solidFill>
                <a:effectLst/>
                <a:latin typeface="Roboto" panose="02000000000000000000" pitchFamily="2" charset="0"/>
              </a:rPr>
              <a:t>始終進行縮放！使用標準縮放或最小</a:t>
            </a:r>
            <a:r>
              <a:rPr lang="en-US" altLang="zh-TW" b="0" i="0">
                <a:solidFill>
                  <a:srgbClr val="0F0F0F"/>
                </a:solidFill>
                <a:effectLst/>
                <a:latin typeface="Roboto" panose="02000000000000000000" pitchFamily="2" charset="0"/>
              </a:rPr>
              <a:t>-</a:t>
            </a:r>
            <a:r>
              <a:rPr lang="zh-TW" altLang="en-US" b="0" i="0">
                <a:solidFill>
                  <a:srgbClr val="0F0F0F"/>
                </a:solidFill>
                <a:effectLst/>
                <a:latin typeface="Roboto" panose="02000000000000000000" pitchFamily="2" charset="0"/>
              </a:rPr>
              <a:t>最大縮放</a:t>
            </a:r>
          </a:p>
          <a:p>
            <a:endParaRPr lang="zh-TW" altLang="en-US"/>
          </a:p>
        </p:txBody>
      </p:sp>
      <p:sp>
        <p:nvSpPr>
          <p:cNvPr id="4" name="日期版面配置區 3">
            <a:extLst>
              <a:ext uri="{FF2B5EF4-FFF2-40B4-BE49-F238E27FC236}">
                <a16:creationId xmlns:a16="http://schemas.microsoft.com/office/drawing/2014/main" id="{C0EC472F-CA78-4255-AB97-9348F7B7C936}"/>
              </a:ext>
            </a:extLst>
          </p:cNvPr>
          <p:cNvSpPr>
            <a:spLocks noGrp="1"/>
          </p:cNvSpPr>
          <p:nvPr>
            <p:ph type="dt" sz="half" idx="10"/>
          </p:nvPr>
        </p:nvSpPr>
        <p:spPr/>
        <p:txBody>
          <a:bodyPr/>
          <a:lstStyle/>
          <a:p>
            <a:fld id="{DDA6C788-E503-48DF-B619-C7A48C63C141}" type="datetime1">
              <a:rPr lang="en-US" altLang="zh-TW" smtClean="0"/>
              <a:t>4/16/26</a:t>
            </a:fld>
            <a:endParaRPr lang="en-US" dirty="0"/>
          </a:p>
        </p:txBody>
      </p:sp>
      <p:sp>
        <p:nvSpPr>
          <p:cNvPr id="5" name="投影片編號版面配置區 4">
            <a:extLst>
              <a:ext uri="{FF2B5EF4-FFF2-40B4-BE49-F238E27FC236}">
                <a16:creationId xmlns:a16="http://schemas.microsoft.com/office/drawing/2014/main" id="{80541B35-E6B0-4C63-9577-09227E8C81A2}"/>
              </a:ext>
            </a:extLst>
          </p:cNvPr>
          <p:cNvSpPr>
            <a:spLocks noGrp="1"/>
          </p:cNvSpPr>
          <p:nvPr>
            <p:ph type="sldNum" sz="quarter" idx="12"/>
          </p:nvPr>
        </p:nvSpPr>
        <p:spPr/>
        <p:txBody>
          <a:bodyPr/>
          <a:lstStyle/>
          <a:p>
            <a:fld id="{4FAB73BC-B049-4115-A692-8D63A059BFB8}" type="slidenum">
              <a:rPr lang="en-US" smtClean="0"/>
              <a:t>15</a:t>
            </a:fld>
            <a:endParaRPr lang="en-US" dirty="0"/>
          </a:p>
        </p:txBody>
      </p:sp>
    </p:spTree>
    <p:extLst>
      <p:ext uri="{BB962C8B-B14F-4D97-AF65-F5344CB8AC3E}">
        <p14:creationId xmlns:p14="http://schemas.microsoft.com/office/powerpoint/2010/main" val="18920551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9B83F7D-209A-42B3-B7A6-61013FCDAE71}"/>
              </a:ext>
            </a:extLst>
          </p:cNvPr>
          <p:cNvSpPr>
            <a:spLocks noGrp="1"/>
          </p:cNvSpPr>
          <p:nvPr>
            <p:ph type="title"/>
          </p:nvPr>
        </p:nvSpPr>
        <p:spPr>
          <a:xfrm>
            <a:off x="1066800" y="209748"/>
            <a:ext cx="10058400" cy="730393"/>
          </a:xfrm>
        </p:spPr>
        <p:txBody>
          <a:bodyPr>
            <a:normAutofit fontScale="90000"/>
          </a:bodyPr>
          <a:lstStyle/>
          <a:p>
            <a:r>
              <a:rPr lang="zh-TW" altLang="en-US"/>
              <a:t>注意事項</a:t>
            </a:r>
          </a:p>
        </p:txBody>
      </p:sp>
      <p:sp>
        <p:nvSpPr>
          <p:cNvPr id="6" name="文字版面配置區 5">
            <a:extLst>
              <a:ext uri="{FF2B5EF4-FFF2-40B4-BE49-F238E27FC236}">
                <a16:creationId xmlns:a16="http://schemas.microsoft.com/office/drawing/2014/main" id="{B4FB2AAA-4C51-4FA7-BB56-496B7ABDFDA9}"/>
              </a:ext>
            </a:extLst>
          </p:cNvPr>
          <p:cNvSpPr>
            <a:spLocks noGrp="1"/>
          </p:cNvSpPr>
          <p:nvPr>
            <p:ph type="body" idx="1"/>
          </p:nvPr>
        </p:nvSpPr>
        <p:spPr>
          <a:xfrm>
            <a:off x="442587" y="1201590"/>
            <a:ext cx="5382141" cy="640080"/>
          </a:xfrm>
        </p:spPr>
        <p:txBody>
          <a:bodyPr/>
          <a:lstStyle/>
          <a:p>
            <a:pPr algn="ctr"/>
            <a:r>
              <a:rPr lang="zh-TW" altLang="en-US" sz="2400" b="1" i="0">
                <a:solidFill>
                  <a:srgbClr val="00B050"/>
                </a:solidFill>
                <a:effectLst/>
                <a:latin typeface="Roboto" panose="02000000000000000000" pitchFamily="2" charset="0"/>
                <a:sym typeface="Wingdings" panose="05000000000000000000" pitchFamily="2" charset="2"/>
              </a:rPr>
              <a:t></a:t>
            </a:r>
            <a:r>
              <a:rPr lang="zh-TW" altLang="en-US" b="1" i="0">
                <a:solidFill>
                  <a:srgbClr val="0F0F0F"/>
                </a:solidFill>
                <a:effectLst/>
                <a:latin typeface="Roboto" panose="02000000000000000000" pitchFamily="2" charset="0"/>
              </a:rPr>
              <a:t>應該做的</a:t>
            </a:r>
          </a:p>
        </p:txBody>
      </p:sp>
      <p:sp>
        <p:nvSpPr>
          <p:cNvPr id="7" name="內容版面配置區 6">
            <a:extLst>
              <a:ext uri="{FF2B5EF4-FFF2-40B4-BE49-F238E27FC236}">
                <a16:creationId xmlns:a16="http://schemas.microsoft.com/office/drawing/2014/main" id="{C77086A2-A6B2-4E0C-9CB8-1094BD6F9407}"/>
              </a:ext>
            </a:extLst>
          </p:cNvPr>
          <p:cNvSpPr>
            <a:spLocks noGrp="1"/>
          </p:cNvSpPr>
          <p:nvPr>
            <p:ph sz="half" idx="2"/>
          </p:nvPr>
        </p:nvSpPr>
        <p:spPr>
          <a:xfrm>
            <a:off x="442587" y="1979112"/>
            <a:ext cx="5382141" cy="4055928"/>
          </a:xfrm>
        </p:spPr>
        <p:txBody>
          <a:bodyPr/>
          <a:lstStyle/>
          <a:p>
            <a:r>
              <a:rPr lang="zh-TW" altLang="en-US" b="1" i="0">
                <a:solidFill>
                  <a:srgbClr val="0F0F0F"/>
                </a:solidFill>
                <a:effectLst/>
                <a:latin typeface="Roboto" panose="02000000000000000000" pitchFamily="2" charset="0"/>
              </a:rPr>
              <a:t>只在訓練資料上擬合縮放器</a:t>
            </a:r>
            <a:r>
              <a:rPr lang="zh-TW" altLang="en-US" b="0" i="0">
                <a:solidFill>
                  <a:srgbClr val="0F0F0F"/>
                </a:solidFill>
                <a:effectLst/>
                <a:latin typeface="Roboto" panose="02000000000000000000" pitchFamily="2" charset="0"/>
              </a:rPr>
              <a:t>，然後再轉換訓練資料和測試資料</a:t>
            </a:r>
            <a:endParaRPr lang="en-US" altLang="zh-TW" b="0" i="0">
              <a:solidFill>
                <a:srgbClr val="0F0F0F"/>
              </a:solidFill>
              <a:effectLst/>
              <a:latin typeface="Roboto" panose="02000000000000000000" pitchFamily="2" charset="0"/>
            </a:endParaRPr>
          </a:p>
          <a:p>
            <a:r>
              <a:rPr lang="zh-TW" altLang="en-US" b="1" i="0">
                <a:solidFill>
                  <a:srgbClr val="0F0F0F"/>
                </a:solidFill>
                <a:effectLst/>
                <a:latin typeface="Roboto" panose="02000000000000000000" pitchFamily="2" charset="0"/>
              </a:rPr>
              <a:t>資料分割</a:t>
            </a:r>
            <a:r>
              <a:rPr lang="zh-TW" altLang="en-US" b="0" i="0">
                <a:solidFill>
                  <a:srgbClr val="0F0F0F"/>
                </a:solidFill>
                <a:effectLst/>
                <a:latin typeface="Roboto" panose="02000000000000000000" pitchFamily="2" charset="0"/>
              </a:rPr>
              <a:t>（訓練集</a:t>
            </a:r>
            <a:r>
              <a:rPr lang="en-US" altLang="zh-TW" b="0" i="0">
                <a:solidFill>
                  <a:srgbClr val="0F0F0F"/>
                </a:solidFill>
                <a:effectLst/>
                <a:latin typeface="Roboto" panose="02000000000000000000" pitchFamily="2" charset="0"/>
              </a:rPr>
              <a:t>/</a:t>
            </a:r>
            <a:r>
              <a:rPr lang="zh-TW" altLang="en-US" b="0" i="0">
                <a:solidFill>
                  <a:srgbClr val="0F0F0F"/>
                </a:solidFill>
                <a:effectLst/>
                <a:latin typeface="Roboto" panose="02000000000000000000" pitchFamily="2" charset="0"/>
              </a:rPr>
              <a:t>測試集分割）後進行縮放，切勿在分割前進行縮放</a:t>
            </a:r>
            <a:endParaRPr lang="en-US" altLang="zh-TW" b="0" i="0">
              <a:solidFill>
                <a:srgbClr val="0F0F0F"/>
              </a:solidFill>
              <a:effectLst/>
              <a:latin typeface="Roboto" panose="02000000000000000000" pitchFamily="2" charset="0"/>
            </a:endParaRPr>
          </a:p>
          <a:p>
            <a:r>
              <a:rPr lang="zh-TW" altLang="en-US" b="1" i="0">
                <a:solidFill>
                  <a:srgbClr val="0F0F0F"/>
                </a:solidFill>
                <a:effectLst/>
                <a:latin typeface="Roboto" panose="02000000000000000000" pitchFamily="2" charset="0"/>
              </a:rPr>
              <a:t>把你的縮放器留作</a:t>
            </a:r>
            <a:r>
              <a:rPr lang="zh-TW" altLang="en-US" b="0" i="0">
                <a:solidFill>
                  <a:srgbClr val="0F0F0F"/>
                </a:solidFill>
                <a:effectLst/>
                <a:latin typeface="Roboto" panose="02000000000000000000" pitchFamily="2" charset="0"/>
              </a:rPr>
              <a:t>生產用途吧</a:t>
            </a:r>
            <a:endParaRPr lang="en-US" altLang="zh-TW" b="0" i="0">
              <a:solidFill>
                <a:srgbClr val="0F0F0F"/>
              </a:solidFill>
              <a:effectLst/>
              <a:latin typeface="Roboto" panose="02000000000000000000" pitchFamily="2" charset="0"/>
            </a:endParaRPr>
          </a:p>
          <a:p>
            <a:r>
              <a:rPr lang="zh-TW" altLang="en-US" b="1" i="0">
                <a:solidFill>
                  <a:srgbClr val="0F0F0F"/>
                </a:solidFill>
                <a:effectLst/>
                <a:latin typeface="Roboto" panose="02000000000000000000" pitchFamily="2" charset="0"/>
              </a:rPr>
              <a:t>將規模擴大前後的對比視覺化</a:t>
            </a:r>
            <a:r>
              <a:rPr lang="zh-TW" altLang="en-US" b="0" i="0">
                <a:solidFill>
                  <a:srgbClr val="0F0F0F"/>
                </a:solidFill>
                <a:effectLst/>
                <a:latin typeface="Roboto" panose="02000000000000000000" pitchFamily="2" charset="0"/>
              </a:rPr>
              <a:t>，以了解其影響</a:t>
            </a:r>
            <a:endParaRPr lang="en-US" altLang="zh-TW" b="0" i="0">
              <a:solidFill>
                <a:srgbClr val="0F0F0F"/>
              </a:solidFill>
              <a:effectLst/>
              <a:latin typeface="Roboto" panose="02000000000000000000" pitchFamily="2" charset="0"/>
            </a:endParaRPr>
          </a:p>
          <a:p>
            <a:r>
              <a:rPr lang="zh-TW" altLang="en-US" b="1" i="0">
                <a:solidFill>
                  <a:srgbClr val="0F0F0F"/>
                </a:solidFill>
                <a:effectLst/>
                <a:latin typeface="Roboto" panose="02000000000000000000" pitchFamily="2" charset="0"/>
              </a:rPr>
              <a:t>嘗試不同的方法</a:t>
            </a:r>
            <a:r>
              <a:rPr lang="zh-TW" altLang="en-US" b="0" i="0">
                <a:solidFill>
                  <a:srgbClr val="0F0F0F"/>
                </a:solidFill>
                <a:effectLst/>
                <a:latin typeface="Roboto" panose="02000000000000000000" pitchFamily="2" charset="0"/>
              </a:rPr>
              <a:t>並比較模型性能</a:t>
            </a:r>
            <a:endParaRPr lang="zh-TW" altLang="en-US"/>
          </a:p>
        </p:txBody>
      </p:sp>
      <p:sp>
        <p:nvSpPr>
          <p:cNvPr id="8" name="文字版面配置區 7">
            <a:extLst>
              <a:ext uri="{FF2B5EF4-FFF2-40B4-BE49-F238E27FC236}">
                <a16:creationId xmlns:a16="http://schemas.microsoft.com/office/drawing/2014/main" id="{5D6CFD52-67FC-4AAB-A4EF-BB483B4634FC}"/>
              </a:ext>
            </a:extLst>
          </p:cNvPr>
          <p:cNvSpPr>
            <a:spLocks noGrp="1"/>
          </p:cNvSpPr>
          <p:nvPr>
            <p:ph type="body" sz="quarter" idx="3"/>
          </p:nvPr>
        </p:nvSpPr>
        <p:spPr>
          <a:xfrm>
            <a:off x="6164892" y="1201590"/>
            <a:ext cx="5584521" cy="640080"/>
          </a:xfrm>
        </p:spPr>
        <p:txBody>
          <a:bodyPr/>
          <a:lstStyle/>
          <a:p>
            <a:pPr algn="ctr"/>
            <a:r>
              <a:rPr lang="zh-TW" altLang="en-US" sz="2400" b="1" i="0">
                <a:solidFill>
                  <a:srgbClr val="C00000"/>
                </a:solidFill>
                <a:effectLst/>
                <a:latin typeface="Roboto" panose="02000000000000000000" pitchFamily="2" charset="0"/>
                <a:sym typeface="Wingdings" panose="05000000000000000000" pitchFamily="2" charset="2"/>
              </a:rPr>
              <a:t></a:t>
            </a:r>
            <a:r>
              <a:rPr lang="zh-TW" altLang="en-US" b="1" i="0">
                <a:solidFill>
                  <a:srgbClr val="0F0F0F"/>
                </a:solidFill>
                <a:effectLst/>
                <a:latin typeface="Roboto" panose="02000000000000000000" pitchFamily="2" charset="0"/>
              </a:rPr>
              <a:t>禁止事項</a:t>
            </a:r>
          </a:p>
        </p:txBody>
      </p:sp>
      <p:sp>
        <p:nvSpPr>
          <p:cNvPr id="9" name="內容版面配置區 8">
            <a:extLst>
              <a:ext uri="{FF2B5EF4-FFF2-40B4-BE49-F238E27FC236}">
                <a16:creationId xmlns:a16="http://schemas.microsoft.com/office/drawing/2014/main" id="{5C57CB53-9D51-4A3B-9B15-E185AF923164}"/>
              </a:ext>
            </a:extLst>
          </p:cNvPr>
          <p:cNvSpPr>
            <a:spLocks noGrp="1"/>
          </p:cNvSpPr>
          <p:nvPr>
            <p:ph sz="quarter" idx="4"/>
          </p:nvPr>
        </p:nvSpPr>
        <p:spPr>
          <a:xfrm>
            <a:off x="6164893" y="1979112"/>
            <a:ext cx="5584520" cy="4055928"/>
          </a:xfrm>
        </p:spPr>
        <p:txBody>
          <a:bodyPr/>
          <a:lstStyle/>
          <a:p>
            <a:r>
              <a:rPr lang="zh-TW" altLang="en-US" b="1" i="0">
                <a:solidFill>
                  <a:srgbClr val="0F0F0F"/>
                </a:solidFill>
                <a:effectLst/>
                <a:latin typeface="Roboto" panose="02000000000000000000" pitchFamily="2" charset="0"/>
              </a:rPr>
              <a:t>不要覆蓋整個資料集</a:t>
            </a:r>
            <a:r>
              <a:rPr lang="zh-TW" altLang="en-US" b="0" i="0">
                <a:solidFill>
                  <a:srgbClr val="0F0F0F"/>
                </a:solidFill>
                <a:effectLst/>
                <a:latin typeface="Roboto" panose="02000000000000000000" pitchFamily="2" charset="0"/>
              </a:rPr>
              <a:t>（這會導致資料外洩！）</a:t>
            </a:r>
            <a:endParaRPr lang="en-US" altLang="zh-TW"/>
          </a:p>
          <a:p>
            <a:r>
              <a:rPr lang="zh-TW" altLang="en-US" b="1" i="0">
                <a:solidFill>
                  <a:srgbClr val="0F0F0F"/>
                </a:solidFill>
                <a:effectLst/>
                <a:latin typeface="Roboto" panose="02000000000000000000" pitchFamily="2" charset="0"/>
              </a:rPr>
              <a:t>在迴歸分析中，通常不要</a:t>
            </a:r>
            <a:r>
              <a:rPr lang="zh-TW" altLang="en-US" b="0" i="0">
                <a:solidFill>
                  <a:srgbClr val="0F0F0F"/>
                </a:solidFill>
                <a:effectLst/>
                <a:latin typeface="Roboto" panose="02000000000000000000" pitchFamily="2" charset="0"/>
              </a:rPr>
              <a:t>對目標變數進行縮放</a:t>
            </a:r>
            <a:endParaRPr lang="en-US" altLang="zh-TW" b="0" i="0">
              <a:solidFill>
                <a:srgbClr val="0F0F0F"/>
              </a:solidFill>
              <a:effectLst/>
              <a:latin typeface="Roboto" panose="02000000000000000000" pitchFamily="2" charset="0"/>
            </a:endParaRPr>
          </a:p>
          <a:p>
            <a:r>
              <a:rPr lang="zh-TW" altLang="en-US" b="1" i="0">
                <a:solidFill>
                  <a:srgbClr val="0F0F0F"/>
                </a:solidFill>
                <a:effectLst/>
                <a:latin typeface="Roboto" panose="02000000000000000000" pitchFamily="2" charset="0"/>
              </a:rPr>
              <a:t>不要對分類變數進行尺度變換</a:t>
            </a:r>
            <a:r>
              <a:rPr lang="zh-TW" altLang="en-US" b="0" i="0">
                <a:solidFill>
                  <a:srgbClr val="0F0F0F"/>
                </a:solidFill>
                <a:effectLst/>
                <a:latin typeface="Roboto" panose="02000000000000000000" pitchFamily="2" charset="0"/>
              </a:rPr>
              <a:t>（它們需要先進行編碼）</a:t>
            </a:r>
            <a:endParaRPr lang="en-US" altLang="zh-TW" b="0" i="0">
              <a:solidFill>
                <a:srgbClr val="0F0F0F"/>
              </a:solidFill>
              <a:effectLst/>
              <a:latin typeface="Roboto" panose="02000000000000000000" pitchFamily="2" charset="0"/>
            </a:endParaRPr>
          </a:p>
          <a:p>
            <a:r>
              <a:rPr lang="zh-TW" altLang="en-US" b="1" i="0">
                <a:solidFill>
                  <a:srgbClr val="0F0F0F"/>
                </a:solidFill>
                <a:effectLst/>
                <a:latin typeface="Roboto" panose="02000000000000000000" pitchFamily="2" charset="0"/>
              </a:rPr>
              <a:t>不要以為一種技術就能滿足</a:t>
            </a:r>
            <a:r>
              <a:rPr lang="zh-TW" altLang="en-US" b="0" i="0">
                <a:solidFill>
                  <a:srgbClr val="0F0F0F"/>
                </a:solidFill>
                <a:effectLst/>
                <a:latin typeface="Roboto" panose="02000000000000000000" pitchFamily="2" charset="0"/>
              </a:rPr>
              <a:t>你所有的需求</a:t>
            </a:r>
            <a:endParaRPr lang="en-US" altLang="zh-TW" b="0" i="0">
              <a:solidFill>
                <a:srgbClr val="0F0F0F"/>
              </a:solidFill>
              <a:effectLst/>
              <a:latin typeface="Roboto" panose="02000000000000000000" pitchFamily="2" charset="0"/>
            </a:endParaRPr>
          </a:p>
          <a:p>
            <a:r>
              <a:rPr lang="zh-TW" altLang="en-US" b="0" i="0">
                <a:solidFill>
                  <a:srgbClr val="0F0F0F"/>
                </a:solidFill>
                <a:effectLst/>
                <a:latin typeface="Roboto" panose="02000000000000000000" pitchFamily="2" charset="0"/>
              </a:rPr>
              <a:t>必要時</a:t>
            </a:r>
            <a:r>
              <a:rPr lang="zh-TW" altLang="en-US" b="1" i="0">
                <a:solidFill>
                  <a:srgbClr val="0F0F0F"/>
                </a:solidFill>
                <a:effectLst/>
                <a:latin typeface="Roboto" panose="02000000000000000000" pitchFamily="2" charset="0"/>
              </a:rPr>
              <a:t>不要忘記對預測結果進行逆變換</a:t>
            </a:r>
            <a:endParaRPr lang="zh-TW" altLang="en-US"/>
          </a:p>
        </p:txBody>
      </p:sp>
      <p:sp>
        <p:nvSpPr>
          <p:cNvPr id="4" name="日期版面配置區 3">
            <a:extLst>
              <a:ext uri="{FF2B5EF4-FFF2-40B4-BE49-F238E27FC236}">
                <a16:creationId xmlns:a16="http://schemas.microsoft.com/office/drawing/2014/main" id="{38C7C39C-44E9-462C-B003-2CD6BB55CC88}"/>
              </a:ext>
            </a:extLst>
          </p:cNvPr>
          <p:cNvSpPr>
            <a:spLocks noGrp="1"/>
          </p:cNvSpPr>
          <p:nvPr>
            <p:ph type="dt" sz="half" idx="10"/>
          </p:nvPr>
        </p:nvSpPr>
        <p:spPr/>
        <p:txBody>
          <a:bodyPr/>
          <a:lstStyle/>
          <a:p>
            <a:fld id="{DDA6C788-E503-48DF-B619-C7A48C63C141}" type="datetime1">
              <a:rPr lang="en-US" altLang="zh-TW" smtClean="0"/>
              <a:t>4/16/26</a:t>
            </a:fld>
            <a:endParaRPr lang="en-US" dirty="0"/>
          </a:p>
        </p:txBody>
      </p:sp>
      <p:sp>
        <p:nvSpPr>
          <p:cNvPr id="5" name="投影片編號版面配置區 4">
            <a:extLst>
              <a:ext uri="{FF2B5EF4-FFF2-40B4-BE49-F238E27FC236}">
                <a16:creationId xmlns:a16="http://schemas.microsoft.com/office/drawing/2014/main" id="{D1C3D23E-1BD1-48CE-8978-29857B9EC2E0}"/>
              </a:ext>
            </a:extLst>
          </p:cNvPr>
          <p:cNvSpPr>
            <a:spLocks noGrp="1"/>
          </p:cNvSpPr>
          <p:nvPr>
            <p:ph type="sldNum" sz="quarter" idx="12"/>
          </p:nvPr>
        </p:nvSpPr>
        <p:spPr/>
        <p:txBody>
          <a:bodyPr/>
          <a:lstStyle/>
          <a:p>
            <a:fld id="{4FAB73BC-B049-4115-A692-8D63A059BFB8}" type="slidenum">
              <a:rPr lang="en-US" smtClean="0"/>
              <a:t>16</a:t>
            </a:fld>
            <a:endParaRPr lang="en-US" dirty="0"/>
          </a:p>
        </p:txBody>
      </p:sp>
    </p:spTree>
    <p:extLst>
      <p:ext uri="{BB962C8B-B14F-4D97-AF65-F5344CB8AC3E}">
        <p14:creationId xmlns:p14="http://schemas.microsoft.com/office/powerpoint/2010/main" val="1040915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891D1A5-5549-4F59-852E-F492B9B0606B}"/>
              </a:ext>
            </a:extLst>
          </p:cNvPr>
          <p:cNvSpPr>
            <a:spLocks noGrp="1"/>
          </p:cNvSpPr>
          <p:nvPr>
            <p:ph type="title"/>
          </p:nvPr>
        </p:nvSpPr>
        <p:spPr/>
        <p:txBody>
          <a:bodyPr>
            <a:normAutofit/>
          </a:bodyPr>
          <a:lstStyle/>
          <a:p>
            <a:r>
              <a:rPr lang="en-US" altLang="zh-TW"/>
              <a:t>Categorical data encoding</a:t>
            </a:r>
            <a:endParaRPr lang="zh-TW" altLang="en-US"/>
          </a:p>
        </p:txBody>
      </p:sp>
      <p:sp>
        <p:nvSpPr>
          <p:cNvPr id="3" name="內容版面配置區 2">
            <a:extLst>
              <a:ext uri="{FF2B5EF4-FFF2-40B4-BE49-F238E27FC236}">
                <a16:creationId xmlns:a16="http://schemas.microsoft.com/office/drawing/2014/main" id="{665EE0E1-D82E-405F-B6D9-794FDC68EAFC}"/>
              </a:ext>
            </a:extLst>
          </p:cNvPr>
          <p:cNvSpPr>
            <a:spLocks noGrp="1"/>
          </p:cNvSpPr>
          <p:nvPr>
            <p:ph idx="1"/>
          </p:nvPr>
        </p:nvSpPr>
        <p:spPr/>
        <p:txBody>
          <a:bodyPr/>
          <a:lstStyle/>
          <a:p>
            <a:r>
              <a:rPr lang="zh-TW" altLang="en-US" b="0">
                <a:effectLst/>
                <a:latin typeface="source-serif-pro"/>
              </a:rPr>
              <a:t>資料編碼</a:t>
            </a:r>
            <a:r>
              <a:rPr lang="zh-TW" altLang="en-US" b="0">
                <a:effectLst/>
              </a:rPr>
              <a:t>編碼是指將類別型或文字型資料轉換為數值格式的過程，以便將其用作演算法的輸入，</a:t>
            </a:r>
            <a:r>
              <a:rPr lang="zh-TW" altLang="en-US" b="0" i="0">
                <a:solidFill>
                  <a:srgbClr val="242424"/>
                </a:solidFill>
                <a:effectLst/>
                <a:latin typeface="source-serif-pro"/>
              </a:rPr>
              <a:t>因為大多數機器學習演算法處理的是數字，而不是文字或類別型變數</a:t>
            </a:r>
            <a:endParaRPr lang="en-US" altLang="zh-TW" b="0" i="0">
              <a:solidFill>
                <a:srgbClr val="242424"/>
              </a:solidFill>
              <a:effectLst/>
              <a:latin typeface="source-serif-pro"/>
            </a:endParaRPr>
          </a:p>
          <a:p>
            <a:r>
              <a:rPr lang="zh-TW" altLang="en-US" b="0" i="0">
                <a:solidFill>
                  <a:srgbClr val="242424"/>
                </a:solidFill>
                <a:effectLst/>
                <a:latin typeface="source-serif-pro"/>
              </a:rPr>
              <a:t>分類變數通常表示為“字串”或“類別”，並且數量是有限的</a:t>
            </a:r>
            <a:r>
              <a:rPr lang="zh-TW" altLang="en-US" b="0">
                <a:solidFill>
                  <a:srgbClr val="242424"/>
                </a:solidFill>
                <a:latin typeface="source-serif-pro"/>
              </a:rPr>
              <a:t>，</a:t>
            </a:r>
            <a:r>
              <a:rPr lang="zh-TW" altLang="en-US" b="0" i="0">
                <a:solidFill>
                  <a:srgbClr val="242424"/>
                </a:solidFill>
                <a:effectLst/>
                <a:latin typeface="source-serif-pro"/>
              </a:rPr>
              <a:t>有兩種類型</a:t>
            </a:r>
            <a:r>
              <a:rPr lang="en-US" altLang="zh-TW" b="0" i="0">
                <a:solidFill>
                  <a:srgbClr val="242424"/>
                </a:solidFill>
                <a:effectLst/>
                <a:latin typeface="source-serif-pro"/>
              </a:rPr>
              <a:t>:</a:t>
            </a:r>
          </a:p>
          <a:p>
            <a:pPr lvl="1"/>
            <a:r>
              <a:rPr lang="zh-TW" altLang="en-US" b="1">
                <a:solidFill>
                  <a:srgbClr val="242424"/>
                </a:solidFill>
                <a:effectLst/>
                <a:latin typeface="source-serif-pro"/>
              </a:rPr>
              <a:t>序數數據 </a:t>
            </a:r>
            <a:r>
              <a:rPr lang="en-US" altLang="zh-TW" b="1">
                <a:solidFill>
                  <a:srgbClr val="242424"/>
                </a:solidFill>
                <a:effectLst/>
                <a:latin typeface="source-serif-pro"/>
              </a:rPr>
              <a:t>(ordinal data):</a:t>
            </a:r>
            <a:r>
              <a:rPr lang="zh-TW" altLang="en-US" i="0">
                <a:solidFill>
                  <a:srgbClr val="242424"/>
                </a:solidFill>
                <a:effectLst/>
                <a:latin typeface="source-serif-pro"/>
              </a:rPr>
              <a:t>具有內在順序</a:t>
            </a:r>
            <a:r>
              <a:rPr lang="zh-TW" altLang="en-US">
                <a:solidFill>
                  <a:srgbClr val="242424"/>
                </a:solidFill>
                <a:latin typeface="source-serif-pro"/>
              </a:rPr>
              <a:t>以便</a:t>
            </a:r>
            <a:r>
              <a:rPr lang="zh-TW" altLang="en-US" i="0">
                <a:solidFill>
                  <a:srgbClr val="242424"/>
                </a:solidFill>
                <a:effectLst/>
                <a:latin typeface="source-serif-pro"/>
              </a:rPr>
              <a:t>進行排名或排序</a:t>
            </a:r>
            <a:endParaRPr lang="en-US" altLang="zh-TW" i="0">
              <a:solidFill>
                <a:srgbClr val="242424"/>
              </a:solidFill>
              <a:effectLst/>
              <a:latin typeface="source-serif-pro"/>
            </a:endParaRPr>
          </a:p>
          <a:p>
            <a:pPr lvl="2"/>
            <a:r>
              <a:rPr lang="zh-TW" altLang="en-US" b="0" i="0">
                <a:solidFill>
                  <a:srgbClr val="242424"/>
                </a:solidFill>
                <a:effectLst/>
                <a:latin typeface="source-serif-pro"/>
              </a:rPr>
              <a:t>如一個人擁有的最高學歷</a:t>
            </a:r>
            <a:r>
              <a:rPr lang="en-US" altLang="zh-TW">
                <a:solidFill>
                  <a:srgbClr val="242424"/>
                </a:solidFill>
                <a:latin typeface="source-serif-pro"/>
              </a:rPr>
              <a:t>(</a:t>
            </a:r>
            <a:r>
              <a:rPr lang="zh-TW" altLang="en-US" b="0" i="0">
                <a:solidFill>
                  <a:srgbClr val="242424"/>
                </a:solidFill>
                <a:effectLst/>
                <a:latin typeface="source-serif-pro"/>
              </a:rPr>
              <a:t>高中、文憑、學士、碩士、博士</a:t>
            </a:r>
            <a:r>
              <a:rPr lang="en-US" altLang="zh-TW" b="0" i="0">
                <a:solidFill>
                  <a:srgbClr val="242424"/>
                </a:solidFill>
                <a:effectLst/>
                <a:latin typeface="source-serif-pro"/>
              </a:rPr>
              <a:t>)</a:t>
            </a:r>
            <a:endParaRPr lang="zh-TW" altLang="en-US" b="0">
              <a:solidFill>
                <a:srgbClr val="242424"/>
              </a:solidFill>
              <a:effectLst/>
              <a:latin typeface="source-serif-pro"/>
            </a:endParaRPr>
          </a:p>
          <a:p>
            <a:pPr lvl="1"/>
            <a:r>
              <a:rPr lang="zh-TW" altLang="en-US" b="1">
                <a:solidFill>
                  <a:srgbClr val="242424"/>
                </a:solidFill>
                <a:effectLst/>
                <a:latin typeface="source-serif-pro"/>
              </a:rPr>
              <a:t>名目資料 </a:t>
            </a:r>
            <a:r>
              <a:rPr lang="en-US" altLang="zh-TW" b="1">
                <a:solidFill>
                  <a:srgbClr val="242424"/>
                </a:solidFill>
                <a:effectLst/>
                <a:latin typeface="source-serif-pro"/>
              </a:rPr>
              <a:t>(nominal data):</a:t>
            </a:r>
            <a:r>
              <a:rPr lang="zh-TW" altLang="en-US" i="0">
                <a:solidFill>
                  <a:srgbClr val="242424"/>
                </a:solidFill>
                <a:effectLst/>
                <a:latin typeface="source-serif-pro"/>
              </a:rPr>
              <a:t>本身沒有固有順序</a:t>
            </a:r>
            <a:endParaRPr lang="en-US" altLang="zh-TW" i="0">
              <a:solidFill>
                <a:srgbClr val="242424"/>
              </a:solidFill>
              <a:effectLst/>
              <a:latin typeface="source-serif-pro"/>
            </a:endParaRPr>
          </a:p>
          <a:p>
            <a:pPr lvl="2"/>
            <a:r>
              <a:rPr lang="zh-TW" altLang="en-US" b="0" i="0">
                <a:solidFill>
                  <a:srgbClr val="242424"/>
                </a:solidFill>
                <a:effectLst/>
                <a:latin typeface="source-serif-pro"/>
              </a:rPr>
              <a:t>例如某人居住的城市</a:t>
            </a:r>
            <a:r>
              <a:rPr lang="en-US" altLang="zh-TW" b="0" i="0">
                <a:solidFill>
                  <a:srgbClr val="242424"/>
                </a:solidFill>
                <a:effectLst/>
                <a:latin typeface="source-serif-pro"/>
              </a:rPr>
              <a:t>(</a:t>
            </a:r>
            <a:r>
              <a:rPr lang="zh-TW" altLang="en-US" b="0" i="0">
                <a:solidFill>
                  <a:srgbClr val="242424"/>
                </a:solidFill>
                <a:effectLst/>
                <a:latin typeface="source-serif-pro"/>
              </a:rPr>
              <a:t>臺北、桃園、台中、台南、高雄</a:t>
            </a:r>
            <a:r>
              <a:rPr lang="en-US" altLang="zh-TW" b="0" i="0">
                <a:solidFill>
                  <a:srgbClr val="242424"/>
                </a:solidFill>
                <a:effectLst/>
                <a:latin typeface="source-serif-pro"/>
              </a:rPr>
              <a:t>)</a:t>
            </a:r>
          </a:p>
          <a:p>
            <a:r>
              <a:rPr lang="zh-TW" altLang="en-US" b="0">
                <a:solidFill>
                  <a:srgbClr val="242424"/>
                </a:solidFill>
                <a:latin typeface="source-serif-pro"/>
              </a:rPr>
              <a:t>資料編碼重要性</a:t>
            </a:r>
            <a:endParaRPr lang="en-US" altLang="zh-TW" b="0">
              <a:solidFill>
                <a:srgbClr val="242424"/>
              </a:solidFill>
              <a:latin typeface="source-serif-pro"/>
            </a:endParaRPr>
          </a:p>
          <a:p>
            <a:pPr lvl="1"/>
            <a:r>
              <a:rPr lang="zh-TW" altLang="en-US" b="0" i="0">
                <a:solidFill>
                  <a:srgbClr val="242424"/>
                </a:solidFill>
                <a:effectLst/>
                <a:latin typeface="source-serif-pro"/>
              </a:rPr>
              <a:t>大多數機器學習演算法只能處理數值數據，因此分類變數（例如文字標籤）必須轉換為數值</a:t>
            </a:r>
            <a:endParaRPr lang="en-US" altLang="zh-TW" b="0" i="0">
              <a:solidFill>
                <a:srgbClr val="242424"/>
              </a:solidFill>
              <a:effectLst/>
              <a:latin typeface="source-serif-pro"/>
            </a:endParaRPr>
          </a:p>
          <a:p>
            <a:pPr lvl="1"/>
            <a:r>
              <a:rPr lang="zh-TW" altLang="en-US" b="0" i="0">
                <a:solidFill>
                  <a:srgbClr val="242424"/>
                </a:solidFill>
                <a:effectLst/>
                <a:latin typeface="source-serif-pro"/>
              </a:rPr>
              <a:t>得模型能夠識別資料中的模式，並根據這些模式進行預測</a:t>
            </a:r>
            <a:endParaRPr lang="en-US" altLang="zh-TW">
              <a:solidFill>
                <a:srgbClr val="242424"/>
              </a:solidFill>
              <a:latin typeface="source-serif-pro"/>
            </a:endParaRPr>
          </a:p>
          <a:p>
            <a:pPr lvl="1"/>
            <a:r>
              <a:rPr lang="zh-TW" altLang="en-US" b="0" i="0">
                <a:solidFill>
                  <a:srgbClr val="242424"/>
                </a:solidFill>
                <a:effectLst/>
                <a:latin typeface="source-serif-pro"/>
              </a:rPr>
              <a:t>確保所有特徵的權重相等，有助於防止模型出現偏差</a:t>
            </a:r>
            <a:endParaRPr lang="en-US" altLang="zh-TW" b="0" i="0">
              <a:solidFill>
                <a:srgbClr val="242424"/>
              </a:solidFill>
              <a:effectLst/>
              <a:latin typeface="source-serif-pro"/>
            </a:endParaRPr>
          </a:p>
          <a:p>
            <a:pPr lvl="1"/>
            <a:r>
              <a:rPr lang="zh-TW" altLang="en-US" b="0" i="0">
                <a:solidFill>
                  <a:srgbClr val="242424"/>
                </a:solidFill>
                <a:effectLst/>
                <a:latin typeface="source-serif-pro"/>
              </a:rPr>
              <a:t>編碼方法的選擇會對模型效能產生重大影響，因此根據資料的性質和模型的具體要求選擇合適的編碼技術</a:t>
            </a:r>
            <a:endParaRPr lang="zh-TW" altLang="en-US" b="0">
              <a:solidFill>
                <a:srgbClr val="242424"/>
              </a:solidFill>
              <a:effectLst/>
              <a:latin typeface="source-serif-pro"/>
            </a:endParaRPr>
          </a:p>
          <a:p>
            <a:pPr lvl="1"/>
            <a:endParaRPr lang="zh-TW" altLang="en-US" b="0"/>
          </a:p>
        </p:txBody>
      </p:sp>
      <p:sp>
        <p:nvSpPr>
          <p:cNvPr id="4" name="日期版面配置區 3">
            <a:extLst>
              <a:ext uri="{FF2B5EF4-FFF2-40B4-BE49-F238E27FC236}">
                <a16:creationId xmlns:a16="http://schemas.microsoft.com/office/drawing/2014/main" id="{032746CE-ED0A-4BC0-B2F8-23B7813F4627}"/>
              </a:ext>
            </a:extLst>
          </p:cNvPr>
          <p:cNvSpPr>
            <a:spLocks noGrp="1"/>
          </p:cNvSpPr>
          <p:nvPr>
            <p:ph type="dt" sz="half" idx="10"/>
          </p:nvPr>
        </p:nvSpPr>
        <p:spPr/>
        <p:txBody>
          <a:bodyPr/>
          <a:lstStyle/>
          <a:p>
            <a:fld id="{043B9055-22AF-4531-B74F-E98D353FF8F1}" type="datetime1">
              <a:rPr lang="en-US" altLang="zh-TW" smtClean="0"/>
              <a:t>4/16/26</a:t>
            </a:fld>
            <a:endParaRPr lang="en-US" dirty="0"/>
          </a:p>
        </p:txBody>
      </p:sp>
      <p:sp>
        <p:nvSpPr>
          <p:cNvPr id="5" name="投影片編號版面配置區 4">
            <a:extLst>
              <a:ext uri="{FF2B5EF4-FFF2-40B4-BE49-F238E27FC236}">
                <a16:creationId xmlns:a16="http://schemas.microsoft.com/office/drawing/2014/main" id="{43B09D7E-3D77-4D7F-B295-223799B3CA3A}"/>
              </a:ext>
            </a:extLst>
          </p:cNvPr>
          <p:cNvSpPr>
            <a:spLocks noGrp="1"/>
          </p:cNvSpPr>
          <p:nvPr>
            <p:ph type="sldNum" sz="quarter" idx="12"/>
          </p:nvPr>
        </p:nvSpPr>
        <p:spPr/>
        <p:txBody>
          <a:bodyPr/>
          <a:lstStyle/>
          <a:p>
            <a:fld id="{4FAB73BC-B049-4115-A692-8D63A059BFB8}" type="slidenum">
              <a:rPr lang="en-US" smtClean="0"/>
              <a:t>17</a:t>
            </a:fld>
            <a:endParaRPr lang="en-US" dirty="0"/>
          </a:p>
        </p:txBody>
      </p:sp>
    </p:spTree>
    <p:extLst>
      <p:ext uri="{BB962C8B-B14F-4D97-AF65-F5344CB8AC3E}">
        <p14:creationId xmlns:p14="http://schemas.microsoft.com/office/powerpoint/2010/main" val="28230722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47C38ED-AE95-4B75-AD4F-0537E1475DA1}"/>
              </a:ext>
            </a:extLst>
          </p:cNvPr>
          <p:cNvSpPr>
            <a:spLocks noGrp="1"/>
          </p:cNvSpPr>
          <p:nvPr>
            <p:ph type="title"/>
          </p:nvPr>
        </p:nvSpPr>
        <p:spPr/>
        <p:txBody>
          <a:bodyPr/>
          <a:lstStyle/>
          <a:p>
            <a:r>
              <a:rPr lang="zh-TW" altLang="en-US"/>
              <a:t>資料編碼技術分類</a:t>
            </a:r>
          </a:p>
        </p:txBody>
      </p:sp>
      <p:sp>
        <p:nvSpPr>
          <p:cNvPr id="3" name="內容版面配置區 2">
            <a:extLst>
              <a:ext uri="{FF2B5EF4-FFF2-40B4-BE49-F238E27FC236}">
                <a16:creationId xmlns:a16="http://schemas.microsoft.com/office/drawing/2014/main" id="{B5BEFD1D-9914-4F57-ADC2-A6CE1F747190}"/>
              </a:ext>
            </a:extLst>
          </p:cNvPr>
          <p:cNvSpPr>
            <a:spLocks noGrp="1"/>
          </p:cNvSpPr>
          <p:nvPr>
            <p:ph idx="1"/>
          </p:nvPr>
        </p:nvSpPr>
        <p:spPr/>
        <p:txBody>
          <a:bodyPr/>
          <a:lstStyle/>
          <a:p>
            <a:pPr marL="457200" indent="-457200" algn="l">
              <a:buAutoNum type="arabicPeriod"/>
            </a:pPr>
            <a:r>
              <a:rPr lang="en-US" altLang="zh-TW">
                <a:solidFill>
                  <a:srgbClr val="242424"/>
                </a:solidFill>
                <a:effectLst/>
                <a:latin typeface="source-serif-pro"/>
              </a:rPr>
              <a:t>One-Hot Encoding</a:t>
            </a:r>
            <a:r>
              <a:rPr lang="en-US" altLang="zh-TW" b="0">
                <a:solidFill>
                  <a:srgbClr val="242424"/>
                </a:solidFill>
                <a:latin typeface="source-serif-pro"/>
              </a:rPr>
              <a:t>: </a:t>
            </a:r>
            <a:r>
              <a:rPr lang="zh-TW" altLang="en-US" b="0">
                <a:solidFill>
                  <a:srgbClr val="242424"/>
                </a:solidFill>
                <a:effectLst/>
                <a:latin typeface="source-serif-pro"/>
              </a:rPr>
              <a:t>變數中的每個唯一類別建立一個二進位列</a:t>
            </a:r>
            <a:r>
              <a:rPr lang="zh-TW" altLang="en-US" b="0">
                <a:solidFill>
                  <a:srgbClr val="242424"/>
                </a:solidFill>
                <a:latin typeface="source-serif-pro"/>
              </a:rPr>
              <a:t>，</a:t>
            </a:r>
            <a:r>
              <a:rPr lang="en-US" altLang="zh-TW" b="0" i="0">
                <a:solidFill>
                  <a:srgbClr val="242424"/>
                </a:solidFill>
                <a:effectLst/>
                <a:latin typeface="source-serif-pro"/>
              </a:rPr>
              <a:t>N </a:t>
            </a:r>
            <a:r>
              <a:rPr lang="zh-TW" altLang="en-US" b="0" i="0">
                <a:solidFill>
                  <a:srgbClr val="242424"/>
                </a:solidFill>
                <a:effectLst/>
                <a:latin typeface="source-serif-pro"/>
              </a:rPr>
              <a:t>個類別，使用 </a:t>
            </a:r>
            <a:r>
              <a:rPr lang="en-US" altLang="zh-TW" b="0" i="0">
                <a:solidFill>
                  <a:srgbClr val="242424"/>
                </a:solidFill>
                <a:effectLst/>
                <a:latin typeface="source-serif-pro"/>
              </a:rPr>
              <a:t>N </a:t>
            </a:r>
            <a:r>
              <a:rPr lang="zh-TW" altLang="en-US" b="0" i="0">
                <a:solidFill>
                  <a:srgbClr val="242424"/>
                </a:solidFill>
                <a:effectLst/>
                <a:latin typeface="source-serif-pro"/>
              </a:rPr>
              <a:t>個二進位變數</a:t>
            </a:r>
            <a:endParaRPr lang="en-US" altLang="zh-TW" b="0">
              <a:solidFill>
                <a:srgbClr val="242424"/>
              </a:solidFill>
              <a:latin typeface="source-serif-pro"/>
            </a:endParaRPr>
          </a:p>
          <a:p>
            <a:pPr marL="457200" indent="-457200" algn="l">
              <a:buAutoNum type="arabicPeriod"/>
            </a:pPr>
            <a:r>
              <a:rPr lang="en-US" altLang="zh-TW">
                <a:solidFill>
                  <a:srgbClr val="242424"/>
                </a:solidFill>
                <a:effectLst/>
                <a:latin typeface="source-serif-pro"/>
              </a:rPr>
              <a:t>Dummy Encoding</a:t>
            </a:r>
            <a:r>
              <a:rPr lang="en-US" altLang="zh-TW" b="0">
                <a:solidFill>
                  <a:srgbClr val="242424"/>
                </a:solidFill>
                <a:effectLst/>
                <a:latin typeface="source-serif-pro"/>
              </a:rPr>
              <a:t>: </a:t>
            </a:r>
            <a:r>
              <a:rPr lang="zh-TW" altLang="en-US" b="0">
                <a:solidFill>
                  <a:srgbClr val="242424"/>
                </a:solidFill>
                <a:effectLst/>
                <a:latin typeface="source-serif-pro"/>
              </a:rPr>
              <a:t>將分類變數轉換為一組二元變數 </a:t>
            </a:r>
            <a:r>
              <a:rPr lang="en-US" altLang="zh-TW" b="0">
                <a:solidFill>
                  <a:srgbClr val="242424"/>
                </a:solidFill>
                <a:effectLst/>
                <a:latin typeface="source-serif-pro"/>
              </a:rPr>
              <a:t>[0/1]</a:t>
            </a:r>
            <a:r>
              <a:rPr lang="zh-TW" altLang="en-US" b="0">
                <a:solidFill>
                  <a:srgbClr val="242424"/>
                </a:solidFill>
                <a:effectLst/>
                <a:latin typeface="source-serif-pro"/>
              </a:rPr>
              <a:t>，</a:t>
            </a:r>
            <a:r>
              <a:rPr lang="zh-TW" altLang="en-US" b="0" i="0">
                <a:solidFill>
                  <a:srgbClr val="242424"/>
                </a:solidFill>
                <a:effectLst/>
                <a:latin typeface="source-serif-pro"/>
              </a:rPr>
              <a:t>使用 </a:t>
            </a:r>
            <a:r>
              <a:rPr lang="en-US" altLang="zh-TW" b="0" i="0">
                <a:solidFill>
                  <a:srgbClr val="242424"/>
                </a:solidFill>
                <a:effectLst/>
                <a:latin typeface="source-serif-pro"/>
              </a:rPr>
              <a:t>N-1 </a:t>
            </a:r>
            <a:r>
              <a:rPr lang="zh-TW" altLang="en-US" b="0" i="0">
                <a:solidFill>
                  <a:srgbClr val="242424"/>
                </a:solidFill>
                <a:effectLst/>
                <a:latin typeface="source-serif-pro"/>
              </a:rPr>
              <a:t>個特徵來表示 </a:t>
            </a:r>
            <a:r>
              <a:rPr lang="en-US" altLang="zh-TW" b="0" i="0">
                <a:solidFill>
                  <a:srgbClr val="242424"/>
                </a:solidFill>
                <a:effectLst/>
                <a:latin typeface="source-serif-pro"/>
              </a:rPr>
              <a:t>N </a:t>
            </a:r>
            <a:r>
              <a:rPr lang="zh-TW" altLang="en-US" b="0" i="0">
                <a:solidFill>
                  <a:srgbClr val="242424"/>
                </a:solidFill>
                <a:effectLst/>
                <a:latin typeface="source-serif-pro"/>
              </a:rPr>
              <a:t>個標籤</a:t>
            </a:r>
            <a:r>
              <a:rPr lang="en-US" altLang="zh-TW" b="0" i="0">
                <a:solidFill>
                  <a:srgbClr val="242424"/>
                </a:solidFill>
                <a:effectLst/>
                <a:latin typeface="source-serif-pro"/>
              </a:rPr>
              <a:t>/</a:t>
            </a:r>
            <a:r>
              <a:rPr lang="zh-TW" altLang="en-US" b="0" i="0">
                <a:solidFill>
                  <a:srgbClr val="242424"/>
                </a:solidFill>
                <a:effectLst/>
                <a:latin typeface="source-serif-pro"/>
              </a:rPr>
              <a:t>類別</a:t>
            </a:r>
            <a:endParaRPr lang="en-US" altLang="zh-TW" b="0">
              <a:solidFill>
                <a:srgbClr val="242424"/>
              </a:solidFill>
              <a:effectLst/>
              <a:latin typeface="source-serif-pro"/>
            </a:endParaRPr>
          </a:p>
          <a:p>
            <a:pPr marL="457200" indent="-457200" algn="l">
              <a:buAutoNum type="arabicPeriod"/>
            </a:pPr>
            <a:r>
              <a:rPr lang="en-US" altLang="zh-TW">
                <a:solidFill>
                  <a:srgbClr val="242424"/>
                </a:solidFill>
                <a:effectLst/>
                <a:latin typeface="source-serif-pro"/>
              </a:rPr>
              <a:t>Label Encoding</a:t>
            </a:r>
            <a:r>
              <a:rPr lang="en-US" altLang="zh-TW" b="0">
                <a:solidFill>
                  <a:srgbClr val="242424"/>
                </a:solidFill>
                <a:effectLst/>
                <a:latin typeface="source-serif-pro"/>
              </a:rPr>
              <a:t>: </a:t>
            </a:r>
            <a:r>
              <a:rPr lang="zh-TW" altLang="en-US" b="0" i="0">
                <a:solidFill>
                  <a:srgbClr val="242424"/>
                </a:solidFill>
                <a:effectLst/>
                <a:latin typeface="source-serif-pro"/>
              </a:rPr>
              <a:t>每個獨特的類別都被賦予一個唯一的整數值</a:t>
            </a:r>
            <a:endParaRPr lang="en-US" altLang="zh-TW" b="0">
              <a:solidFill>
                <a:srgbClr val="242424"/>
              </a:solidFill>
              <a:effectLst/>
              <a:latin typeface="source-serif-pro"/>
            </a:endParaRPr>
          </a:p>
          <a:p>
            <a:pPr marL="457200" indent="-457200" algn="l">
              <a:buAutoNum type="arabicPeriod"/>
            </a:pPr>
            <a:r>
              <a:rPr lang="en-US" altLang="zh-TW">
                <a:solidFill>
                  <a:srgbClr val="242424"/>
                </a:solidFill>
                <a:effectLst/>
                <a:latin typeface="source-serif-pro"/>
              </a:rPr>
              <a:t>Ordinal Encoding</a:t>
            </a:r>
            <a:r>
              <a:rPr lang="en-US" altLang="zh-TW" b="0">
                <a:solidFill>
                  <a:srgbClr val="242424"/>
                </a:solidFill>
                <a:effectLst/>
                <a:latin typeface="source-serif-pro"/>
              </a:rPr>
              <a:t>: </a:t>
            </a:r>
            <a:r>
              <a:rPr lang="zh-TW" altLang="en-US" b="0" i="0">
                <a:solidFill>
                  <a:srgbClr val="242424"/>
                </a:solidFill>
                <a:effectLst/>
                <a:latin typeface="source-serif-pro"/>
              </a:rPr>
              <a:t>類別具有自然順序時，使用序數編碼</a:t>
            </a:r>
            <a:endParaRPr lang="en-US" altLang="zh-TW" b="0">
              <a:solidFill>
                <a:srgbClr val="242424"/>
              </a:solidFill>
              <a:effectLst/>
              <a:latin typeface="source-serif-pro"/>
            </a:endParaRPr>
          </a:p>
          <a:p>
            <a:pPr marL="457200" indent="-457200" algn="l">
              <a:buAutoNum type="arabicPeriod"/>
            </a:pPr>
            <a:r>
              <a:rPr lang="en-US" altLang="zh-TW">
                <a:solidFill>
                  <a:srgbClr val="242424"/>
                </a:solidFill>
                <a:effectLst/>
                <a:latin typeface="source-serif-pro"/>
              </a:rPr>
              <a:t>Binary Encoding</a:t>
            </a:r>
            <a:r>
              <a:rPr lang="en-US" altLang="zh-TW" b="0">
                <a:solidFill>
                  <a:srgbClr val="242424"/>
                </a:solidFill>
                <a:effectLst/>
                <a:latin typeface="source-serif-pro"/>
              </a:rPr>
              <a:t>: </a:t>
            </a:r>
            <a:r>
              <a:rPr lang="zh-TW" altLang="en-US" b="0" i="0">
                <a:solidFill>
                  <a:srgbClr val="242424"/>
                </a:solidFill>
                <a:effectLst/>
                <a:latin typeface="source-serif-pro"/>
              </a:rPr>
              <a:t>將類別表示為二進位數字</a:t>
            </a:r>
            <a:endParaRPr lang="en-US" altLang="zh-TW" b="0">
              <a:solidFill>
                <a:srgbClr val="242424"/>
              </a:solidFill>
              <a:effectLst/>
              <a:latin typeface="source-serif-pro"/>
            </a:endParaRPr>
          </a:p>
          <a:p>
            <a:pPr marL="457200" indent="-457200" algn="l">
              <a:buAutoNum type="arabicPeriod"/>
            </a:pPr>
            <a:r>
              <a:rPr lang="en-US" altLang="zh-TW">
                <a:solidFill>
                  <a:srgbClr val="242424"/>
                </a:solidFill>
                <a:effectLst/>
                <a:latin typeface="source-serif-pro"/>
              </a:rPr>
              <a:t>Count Encoding</a:t>
            </a:r>
            <a:r>
              <a:rPr lang="en-US" altLang="zh-TW" b="0">
                <a:solidFill>
                  <a:srgbClr val="242424"/>
                </a:solidFill>
                <a:effectLst/>
                <a:latin typeface="source-serif-pro"/>
              </a:rPr>
              <a:t>: </a:t>
            </a:r>
            <a:r>
              <a:rPr lang="zh-TW" altLang="en-US" b="0" i="0">
                <a:solidFill>
                  <a:srgbClr val="242424"/>
                </a:solidFill>
                <a:effectLst/>
                <a:latin typeface="source-serif-pro"/>
              </a:rPr>
              <a:t>計算類別在資料集中出現的次數</a:t>
            </a:r>
            <a:endParaRPr lang="en-US" altLang="zh-TW" b="0">
              <a:solidFill>
                <a:srgbClr val="242424"/>
              </a:solidFill>
              <a:effectLst/>
              <a:latin typeface="source-serif-pro"/>
            </a:endParaRPr>
          </a:p>
          <a:p>
            <a:pPr marL="457200" indent="-457200" algn="l">
              <a:buAutoNum type="arabicPeriod"/>
            </a:pPr>
            <a:r>
              <a:rPr lang="en-US" altLang="zh-TW">
                <a:solidFill>
                  <a:srgbClr val="242424"/>
                </a:solidFill>
                <a:effectLst/>
                <a:latin typeface="source-serif-pro"/>
              </a:rPr>
              <a:t>Target Encoding:</a:t>
            </a:r>
            <a:r>
              <a:rPr lang="zh-TW" altLang="en-US" b="0" i="0">
                <a:solidFill>
                  <a:srgbClr val="242424"/>
                </a:solidFill>
                <a:effectLst/>
                <a:latin typeface="source-serif-pro"/>
              </a:rPr>
              <a:t>處理高基數類別特徵，即具有許多唯一類別的特徵，</a:t>
            </a:r>
            <a:r>
              <a:rPr lang="zh-TW" altLang="en-US" b="0">
                <a:solidFill>
                  <a:srgbClr val="242424"/>
                </a:solidFill>
                <a:latin typeface="source-serif-pro"/>
              </a:rPr>
              <a:t>例如</a:t>
            </a:r>
            <a:r>
              <a:rPr lang="zh-TW" altLang="en-US" b="0" i="0">
                <a:solidFill>
                  <a:srgbClr val="242424"/>
                </a:solidFill>
                <a:effectLst/>
                <a:latin typeface="source-serif-pro"/>
              </a:rPr>
              <a:t>計算每個類別的平均目標值來取代類別特徵</a:t>
            </a:r>
            <a:endParaRPr lang="en-US" altLang="zh-TW" b="0">
              <a:solidFill>
                <a:srgbClr val="242424"/>
              </a:solidFill>
              <a:effectLst/>
              <a:latin typeface="source-serif-pro"/>
            </a:endParaRPr>
          </a:p>
          <a:p>
            <a:endParaRPr lang="zh-TW" altLang="en-US"/>
          </a:p>
        </p:txBody>
      </p:sp>
      <p:sp>
        <p:nvSpPr>
          <p:cNvPr id="4" name="日期版面配置區 3">
            <a:extLst>
              <a:ext uri="{FF2B5EF4-FFF2-40B4-BE49-F238E27FC236}">
                <a16:creationId xmlns:a16="http://schemas.microsoft.com/office/drawing/2014/main" id="{C07CB200-5541-4556-B1BB-0C9C67D39503}"/>
              </a:ext>
            </a:extLst>
          </p:cNvPr>
          <p:cNvSpPr>
            <a:spLocks noGrp="1"/>
          </p:cNvSpPr>
          <p:nvPr>
            <p:ph type="dt" sz="half" idx="10"/>
          </p:nvPr>
        </p:nvSpPr>
        <p:spPr/>
        <p:txBody>
          <a:bodyPr/>
          <a:lstStyle/>
          <a:p>
            <a:fld id="{DDA6C788-E503-48DF-B619-C7A48C63C141}" type="datetime1">
              <a:rPr lang="en-US" altLang="zh-TW" smtClean="0"/>
              <a:t>4/16/26</a:t>
            </a:fld>
            <a:endParaRPr lang="en-US" dirty="0"/>
          </a:p>
        </p:txBody>
      </p:sp>
      <p:sp>
        <p:nvSpPr>
          <p:cNvPr id="5" name="投影片編號版面配置區 4">
            <a:extLst>
              <a:ext uri="{FF2B5EF4-FFF2-40B4-BE49-F238E27FC236}">
                <a16:creationId xmlns:a16="http://schemas.microsoft.com/office/drawing/2014/main" id="{4A706CF2-C43D-47A1-AF09-9A27AC1B37C9}"/>
              </a:ext>
            </a:extLst>
          </p:cNvPr>
          <p:cNvSpPr>
            <a:spLocks noGrp="1"/>
          </p:cNvSpPr>
          <p:nvPr>
            <p:ph type="sldNum" sz="quarter" idx="12"/>
          </p:nvPr>
        </p:nvSpPr>
        <p:spPr/>
        <p:txBody>
          <a:bodyPr/>
          <a:lstStyle/>
          <a:p>
            <a:fld id="{4FAB73BC-B049-4115-A692-8D63A059BFB8}" type="slidenum">
              <a:rPr lang="en-US" smtClean="0"/>
              <a:t>18</a:t>
            </a:fld>
            <a:endParaRPr lang="en-US" dirty="0"/>
          </a:p>
        </p:txBody>
      </p:sp>
    </p:spTree>
    <p:extLst>
      <p:ext uri="{BB962C8B-B14F-4D97-AF65-F5344CB8AC3E}">
        <p14:creationId xmlns:p14="http://schemas.microsoft.com/office/powerpoint/2010/main" val="10738295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版面配置區 3">
            <a:extLst>
              <a:ext uri="{FF2B5EF4-FFF2-40B4-BE49-F238E27FC236}">
                <a16:creationId xmlns:a16="http://schemas.microsoft.com/office/drawing/2014/main" id="{45FADDDF-8CBB-4A2D-B401-ADA399867693}"/>
              </a:ext>
            </a:extLst>
          </p:cNvPr>
          <p:cNvSpPr>
            <a:spLocks noGrp="1"/>
          </p:cNvSpPr>
          <p:nvPr>
            <p:ph type="dt" sz="half" idx="10"/>
          </p:nvPr>
        </p:nvSpPr>
        <p:spPr/>
        <p:txBody>
          <a:bodyPr/>
          <a:lstStyle/>
          <a:p>
            <a:fld id="{DDA6C788-E503-48DF-B619-C7A48C63C141}" type="datetime1">
              <a:rPr lang="en-US" altLang="zh-TW" smtClean="0"/>
              <a:t>4/16/26</a:t>
            </a:fld>
            <a:endParaRPr lang="en-US" dirty="0"/>
          </a:p>
        </p:txBody>
      </p:sp>
      <p:sp>
        <p:nvSpPr>
          <p:cNvPr id="5" name="投影片編號版面配置區 4">
            <a:extLst>
              <a:ext uri="{FF2B5EF4-FFF2-40B4-BE49-F238E27FC236}">
                <a16:creationId xmlns:a16="http://schemas.microsoft.com/office/drawing/2014/main" id="{4D826BCC-AFF8-4A31-B0C7-C60D7F6B5A1A}"/>
              </a:ext>
            </a:extLst>
          </p:cNvPr>
          <p:cNvSpPr>
            <a:spLocks noGrp="1"/>
          </p:cNvSpPr>
          <p:nvPr>
            <p:ph type="sldNum" sz="quarter" idx="12"/>
          </p:nvPr>
        </p:nvSpPr>
        <p:spPr/>
        <p:txBody>
          <a:bodyPr/>
          <a:lstStyle/>
          <a:p>
            <a:fld id="{4FAB73BC-B049-4115-A692-8D63A059BFB8}" type="slidenum">
              <a:rPr lang="en-US" smtClean="0"/>
              <a:t>19</a:t>
            </a:fld>
            <a:endParaRPr lang="en-US" dirty="0"/>
          </a:p>
        </p:txBody>
      </p:sp>
      <p:pic>
        <p:nvPicPr>
          <p:cNvPr id="7" name="圖片 6">
            <a:extLst>
              <a:ext uri="{FF2B5EF4-FFF2-40B4-BE49-F238E27FC236}">
                <a16:creationId xmlns:a16="http://schemas.microsoft.com/office/drawing/2014/main" id="{F594BF16-42C8-4101-A573-EB59607ABDB8}"/>
              </a:ext>
            </a:extLst>
          </p:cNvPr>
          <p:cNvPicPr>
            <a:picLocks noChangeAspect="1"/>
          </p:cNvPicPr>
          <p:nvPr/>
        </p:nvPicPr>
        <p:blipFill>
          <a:blip r:embed="rId2"/>
          <a:stretch>
            <a:fillRect/>
          </a:stretch>
        </p:blipFill>
        <p:spPr>
          <a:xfrm>
            <a:off x="2650631" y="420152"/>
            <a:ext cx="6439799" cy="1733792"/>
          </a:xfrm>
          <a:prstGeom prst="rect">
            <a:avLst/>
          </a:prstGeom>
        </p:spPr>
      </p:pic>
      <p:pic>
        <p:nvPicPr>
          <p:cNvPr id="9" name="圖片 8">
            <a:extLst>
              <a:ext uri="{FF2B5EF4-FFF2-40B4-BE49-F238E27FC236}">
                <a16:creationId xmlns:a16="http://schemas.microsoft.com/office/drawing/2014/main" id="{10E29F70-53A0-4F66-BB0C-8A9814D60F17}"/>
              </a:ext>
            </a:extLst>
          </p:cNvPr>
          <p:cNvPicPr>
            <a:picLocks noChangeAspect="1"/>
          </p:cNvPicPr>
          <p:nvPr/>
        </p:nvPicPr>
        <p:blipFill>
          <a:blip r:embed="rId3"/>
          <a:stretch>
            <a:fillRect/>
          </a:stretch>
        </p:blipFill>
        <p:spPr>
          <a:xfrm>
            <a:off x="2660158" y="2373685"/>
            <a:ext cx="6430272" cy="1810003"/>
          </a:xfrm>
          <a:prstGeom prst="rect">
            <a:avLst/>
          </a:prstGeom>
        </p:spPr>
      </p:pic>
      <p:pic>
        <p:nvPicPr>
          <p:cNvPr id="11" name="圖片 10">
            <a:extLst>
              <a:ext uri="{FF2B5EF4-FFF2-40B4-BE49-F238E27FC236}">
                <a16:creationId xmlns:a16="http://schemas.microsoft.com/office/drawing/2014/main" id="{AE4F7590-8E25-48AD-878A-213497EF44FE}"/>
              </a:ext>
            </a:extLst>
          </p:cNvPr>
          <p:cNvPicPr>
            <a:picLocks noChangeAspect="1"/>
          </p:cNvPicPr>
          <p:nvPr/>
        </p:nvPicPr>
        <p:blipFill>
          <a:blip r:embed="rId4"/>
          <a:stretch>
            <a:fillRect/>
          </a:stretch>
        </p:blipFill>
        <p:spPr>
          <a:xfrm>
            <a:off x="2660158" y="4403429"/>
            <a:ext cx="6477904" cy="1486107"/>
          </a:xfrm>
          <a:prstGeom prst="rect">
            <a:avLst/>
          </a:prstGeom>
        </p:spPr>
      </p:pic>
    </p:spTree>
    <p:extLst>
      <p:ext uri="{BB962C8B-B14F-4D97-AF65-F5344CB8AC3E}">
        <p14:creationId xmlns:p14="http://schemas.microsoft.com/office/powerpoint/2010/main" val="41758671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171DD0-823F-45D8-9FA3-2DACD0564749}"/>
              </a:ext>
            </a:extLst>
          </p:cNvPr>
          <p:cNvSpPr>
            <a:spLocks noGrp="1"/>
          </p:cNvSpPr>
          <p:nvPr>
            <p:ph type="title"/>
          </p:nvPr>
        </p:nvSpPr>
        <p:spPr/>
        <p:txBody>
          <a:bodyPr>
            <a:normAutofit/>
          </a:bodyPr>
          <a:lstStyle/>
          <a:p>
            <a:r>
              <a:rPr lang="en-US" altLang="zh-TW"/>
              <a:t>Outlier detection (Z-score, IQR)</a:t>
            </a:r>
            <a:endParaRPr lang="zh-TW" altLang="en-US"/>
          </a:p>
        </p:txBody>
      </p:sp>
      <p:sp>
        <p:nvSpPr>
          <p:cNvPr id="3" name="內容版面配置區 2">
            <a:extLst>
              <a:ext uri="{FF2B5EF4-FFF2-40B4-BE49-F238E27FC236}">
                <a16:creationId xmlns:a16="http://schemas.microsoft.com/office/drawing/2014/main" id="{9E8FFF87-A4ED-4229-8553-8DA8E7F5B35E}"/>
              </a:ext>
            </a:extLst>
          </p:cNvPr>
          <p:cNvSpPr>
            <a:spLocks noGrp="1"/>
          </p:cNvSpPr>
          <p:nvPr>
            <p:ph idx="1"/>
          </p:nvPr>
        </p:nvSpPr>
        <p:spPr/>
        <p:txBody>
          <a:bodyPr/>
          <a:lstStyle/>
          <a:p>
            <a:r>
              <a:rPr lang="zh-TW" altLang="en-US" b="0" i="0">
                <a:solidFill>
                  <a:srgbClr val="242424"/>
                </a:solidFill>
                <a:effectLst/>
                <a:latin typeface="source-serif-pro"/>
              </a:rPr>
              <a:t>異常</a:t>
            </a:r>
            <a:r>
              <a:rPr lang="zh-TW" altLang="en-US" b="1" i="0">
                <a:solidFill>
                  <a:srgbClr val="242424"/>
                </a:solidFill>
                <a:effectLst/>
                <a:latin typeface="source-serif-pro"/>
              </a:rPr>
              <a:t>值</a:t>
            </a:r>
            <a:r>
              <a:rPr lang="zh-TW" altLang="en-US" b="0" i="0">
                <a:solidFill>
                  <a:srgbClr val="242424"/>
                </a:solidFill>
                <a:effectLst/>
                <a:latin typeface="source-serif-pro"/>
              </a:rPr>
              <a:t>是指與資料集其餘部分顯著不同的資料點，特徵工程中重要的環節之一就是</a:t>
            </a:r>
            <a:r>
              <a:rPr lang="zh-TW" altLang="en-US" b="1" i="0">
                <a:solidFill>
                  <a:srgbClr val="242424"/>
                </a:solidFill>
                <a:effectLst/>
                <a:latin typeface="source-serif-pro"/>
              </a:rPr>
              <a:t>異常值偵測和剔除，</a:t>
            </a:r>
            <a:r>
              <a:rPr lang="zh-TW" altLang="en-US" b="0" i="0">
                <a:solidFill>
                  <a:srgbClr val="242424"/>
                </a:solidFill>
                <a:effectLst/>
                <a:latin typeface="source-serif-pro"/>
              </a:rPr>
              <a:t>異常值會扭曲模型，降低準確率，甚至導致誤導的結論。</a:t>
            </a:r>
            <a:endParaRPr lang="en-US" altLang="zh-TW" b="0" i="0">
              <a:solidFill>
                <a:srgbClr val="242424"/>
              </a:solidFill>
              <a:effectLst/>
              <a:latin typeface="source-serif-pro"/>
            </a:endParaRPr>
          </a:p>
          <a:p>
            <a:pPr lvl="1"/>
            <a:r>
              <a:rPr lang="zh-TW" altLang="en-US" b="0" i="0">
                <a:solidFill>
                  <a:srgbClr val="242424"/>
                </a:solidFill>
                <a:effectLst/>
                <a:latin typeface="source-serif-pro"/>
              </a:rPr>
              <a:t>人為或測量的錯誤</a:t>
            </a:r>
            <a:endParaRPr lang="en-US" altLang="zh-TW" b="0" i="0">
              <a:solidFill>
                <a:srgbClr val="242424"/>
              </a:solidFill>
              <a:effectLst/>
              <a:latin typeface="source-serif-pro"/>
            </a:endParaRPr>
          </a:p>
          <a:p>
            <a:pPr lvl="1"/>
            <a:r>
              <a:rPr lang="en-US" altLang="zh-TW">
                <a:solidFill>
                  <a:srgbClr val="242424"/>
                </a:solidFill>
                <a:latin typeface="source-serif-pro"/>
              </a:rPr>
              <a:t>Rare events</a:t>
            </a:r>
          </a:p>
          <a:p>
            <a:pPr lvl="1"/>
            <a:r>
              <a:rPr lang="zh-TW" altLang="en-US" b="0" i="0">
                <a:solidFill>
                  <a:srgbClr val="242424"/>
                </a:solidFill>
                <a:effectLst/>
                <a:latin typeface="source-serif-pro"/>
              </a:rPr>
              <a:t>站在不同標準上觀察結果</a:t>
            </a:r>
            <a:endParaRPr lang="en-US" altLang="zh-TW" b="0" i="0">
              <a:solidFill>
                <a:srgbClr val="242424"/>
              </a:solidFill>
              <a:effectLst/>
              <a:latin typeface="source-serif-pro"/>
            </a:endParaRPr>
          </a:p>
          <a:p>
            <a:r>
              <a:rPr lang="zh-TW" altLang="en-US" b="0" i="0">
                <a:solidFill>
                  <a:srgbClr val="242424"/>
                </a:solidFill>
                <a:effectLst/>
                <a:latin typeface="source-serif-pro"/>
              </a:rPr>
              <a:t>異常值</a:t>
            </a:r>
            <a:r>
              <a:rPr lang="zh-TW" altLang="en-US" b="0">
                <a:solidFill>
                  <a:srgbClr val="242424"/>
                </a:solidFill>
                <a:latin typeface="source-serif-pro"/>
              </a:rPr>
              <a:t>可能造成以下問題</a:t>
            </a:r>
            <a:endParaRPr lang="en-US" altLang="zh-TW" b="0">
              <a:solidFill>
                <a:srgbClr val="242424"/>
              </a:solidFill>
              <a:latin typeface="source-serif-pro"/>
            </a:endParaRPr>
          </a:p>
          <a:p>
            <a:pPr lvl="1"/>
            <a:r>
              <a:rPr lang="zh-TW" altLang="en-US">
                <a:solidFill>
                  <a:srgbClr val="242424"/>
                </a:solidFill>
                <a:latin typeface="source-serif-pro"/>
              </a:rPr>
              <a:t>使得摘要統計值產生偏態</a:t>
            </a:r>
            <a:r>
              <a:rPr lang="en-US" altLang="zh-TW">
                <a:solidFill>
                  <a:srgbClr val="242424"/>
                </a:solidFill>
                <a:latin typeface="source-serif-pro"/>
              </a:rPr>
              <a:t>(</a:t>
            </a:r>
            <a:r>
              <a:rPr lang="zh-TW" altLang="en-US">
                <a:solidFill>
                  <a:srgbClr val="242424"/>
                </a:solidFill>
                <a:latin typeface="source-serif-pro"/>
              </a:rPr>
              <a:t>如平均值、變異數</a:t>
            </a:r>
            <a:r>
              <a:rPr lang="en-US" altLang="zh-TW">
                <a:solidFill>
                  <a:srgbClr val="242424"/>
                </a:solidFill>
                <a:latin typeface="source-serif-pro"/>
              </a:rPr>
              <a:t>…)</a:t>
            </a:r>
          </a:p>
          <a:p>
            <a:pPr lvl="1"/>
            <a:r>
              <a:rPr lang="zh-TW" altLang="en-US">
                <a:solidFill>
                  <a:srgbClr val="242424"/>
                </a:solidFill>
                <a:latin typeface="source-serif-pro"/>
              </a:rPr>
              <a:t>扭曲線性回歸和預測結果</a:t>
            </a:r>
            <a:endParaRPr lang="en-US" altLang="zh-TW">
              <a:solidFill>
                <a:srgbClr val="242424"/>
              </a:solidFill>
              <a:latin typeface="source-serif-pro"/>
            </a:endParaRPr>
          </a:p>
          <a:p>
            <a:pPr lvl="1"/>
            <a:r>
              <a:rPr lang="zh-TW" altLang="en-US">
                <a:solidFill>
                  <a:srgbClr val="242424"/>
                </a:solidFill>
                <a:latin typeface="source-serif-pro"/>
              </a:rPr>
              <a:t>誤導機器學習模型的應用</a:t>
            </a:r>
            <a:endParaRPr lang="en-US" altLang="zh-TW">
              <a:solidFill>
                <a:srgbClr val="242424"/>
              </a:solidFill>
              <a:latin typeface="source-serif-pro"/>
            </a:endParaRPr>
          </a:p>
          <a:p>
            <a:pPr lvl="1"/>
            <a:r>
              <a:rPr lang="zh-TW" altLang="en-US">
                <a:solidFill>
                  <a:srgbClr val="242424"/>
                </a:solidFill>
                <a:latin typeface="source-serif-pro"/>
              </a:rPr>
              <a:t>但也可以產生警告</a:t>
            </a:r>
            <a:endParaRPr lang="en-US" altLang="zh-TW">
              <a:solidFill>
                <a:srgbClr val="242424"/>
              </a:solidFill>
              <a:latin typeface="source-serif-pro"/>
            </a:endParaRPr>
          </a:p>
          <a:p>
            <a:pPr lvl="1"/>
            <a:r>
              <a:rPr lang="zh-TW" altLang="en-US" i="0">
                <a:solidFill>
                  <a:srgbClr val="242424"/>
                </a:solidFill>
                <a:effectLst/>
                <a:latin typeface="source-serif-pro"/>
              </a:rPr>
              <a:t>異常值對於線性迴歸、邏輯迴歸、深度學習模型非常敏感，但對於隨機森林、梯度提升</a:t>
            </a:r>
            <a:r>
              <a:rPr lang="en-US" altLang="zh-TW" i="0">
                <a:solidFill>
                  <a:srgbClr val="242424"/>
                </a:solidFill>
                <a:effectLst/>
                <a:latin typeface="source-serif-pro"/>
              </a:rPr>
              <a:t>…</a:t>
            </a:r>
            <a:r>
              <a:rPr lang="zh-TW" altLang="en-US" i="0">
                <a:solidFill>
                  <a:srgbClr val="242424"/>
                </a:solidFill>
                <a:effectLst/>
                <a:latin typeface="source-serif-pro"/>
              </a:rPr>
              <a:t>模型較為穩健</a:t>
            </a:r>
          </a:p>
          <a:p>
            <a:pPr lvl="1"/>
            <a:endParaRPr lang="zh-TW" altLang="en-US" b="0" i="0">
              <a:solidFill>
                <a:srgbClr val="242424"/>
              </a:solidFill>
              <a:effectLst/>
              <a:latin typeface="source-serif-pro"/>
            </a:endParaRPr>
          </a:p>
          <a:p>
            <a:pPr lvl="1"/>
            <a:endParaRPr lang="zh-TW" altLang="en-US" b="0" i="0">
              <a:solidFill>
                <a:srgbClr val="242424"/>
              </a:solidFill>
              <a:effectLst/>
              <a:latin typeface="source-serif-pro"/>
            </a:endParaRPr>
          </a:p>
          <a:p>
            <a:pPr lvl="1"/>
            <a:endParaRPr lang="zh-TW" altLang="en-US"/>
          </a:p>
        </p:txBody>
      </p:sp>
      <p:sp>
        <p:nvSpPr>
          <p:cNvPr id="4" name="日期版面配置區 3">
            <a:extLst>
              <a:ext uri="{FF2B5EF4-FFF2-40B4-BE49-F238E27FC236}">
                <a16:creationId xmlns:a16="http://schemas.microsoft.com/office/drawing/2014/main" id="{76CFD78B-152C-4624-8028-B47BAE0D03DB}"/>
              </a:ext>
            </a:extLst>
          </p:cNvPr>
          <p:cNvSpPr>
            <a:spLocks noGrp="1"/>
          </p:cNvSpPr>
          <p:nvPr>
            <p:ph type="dt" sz="half" idx="10"/>
          </p:nvPr>
        </p:nvSpPr>
        <p:spPr/>
        <p:txBody>
          <a:bodyPr/>
          <a:lstStyle/>
          <a:p>
            <a:fld id="{6A823FC5-27CC-497C-B3B5-FC7240F7F5C8}" type="datetime1">
              <a:rPr lang="en-US" altLang="zh-TW" smtClean="0"/>
              <a:t>4/16/26</a:t>
            </a:fld>
            <a:endParaRPr lang="en-US" dirty="0"/>
          </a:p>
        </p:txBody>
      </p:sp>
      <p:sp>
        <p:nvSpPr>
          <p:cNvPr id="5" name="投影片編號版面配置區 4">
            <a:extLst>
              <a:ext uri="{FF2B5EF4-FFF2-40B4-BE49-F238E27FC236}">
                <a16:creationId xmlns:a16="http://schemas.microsoft.com/office/drawing/2014/main" id="{8402DEAE-2AD4-4D2D-AF73-987C9F9E4738}"/>
              </a:ext>
            </a:extLst>
          </p:cNvPr>
          <p:cNvSpPr>
            <a:spLocks noGrp="1"/>
          </p:cNvSpPr>
          <p:nvPr>
            <p:ph type="sldNum" sz="quarter" idx="12"/>
          </p:nvPr>
        </p:nvSpPr>
        <p:spPr/>
        <p:txBody>
          <a:bodyPr/>
          <a:lstStyle/>
          <a:p>
            <a:fld id="{4FAB73BC-B049-4115-A692-8D63A059BFB8}" type="slidenum">
              <a:rPr lang="en-US" smtClean="0"/>
              <a:t>20</a:t>
            </a:fld>
            <a:endParaRPr lang="en-US" dirty="0"/>
          </a:p>
        </p:txBody>
      </p:sp>
    </p:spTree>
    <p:extLst>
      <p:ext uri="{BB962C8B-B14F-4D97-AF65-F5344CB8AC3E}">
        <p14:creationId xmlns:p14="http://schemas.microsoft.com/office/powerpoint/2010/main" val="39931948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1DB3F1F-DDA5-46A9-914C-97773C210F37}"/>
              </a:ext>
            </a:extLst>
          </p:cNvPr>
          <p:cNvSpPr>
            <a:spLocks noGrp="1"/>
          </p:cNvSpPr>
          <p:nvPr>
            <p:ph type="title"/>
          </p:nvPr>
        </p:nvSpPr>
        <p:spPr/>
        <p:txBody>
          <a:bodyPr/>
          <a:lstStyle/>
          <a:p>
            <a:r>
              <a:rPr lang="zh-TW" altLang="en-US"/>
              <a:t>處理異常值的方法</a:t>
            </a:r>
          </a:p>
        </p:txBody>
      </p:sp>
      <p:sp>
        <p:nvSpPr>
          <p:cNvPr id="3" name="內容版面配置區 2">
            <a:extLst>
              <a:ext uri="{FF2B5EF4-FFF2-40B4-BE49-F238E27FC236}">
                <a16:creationId xmlns:a16="http://schemas.microsoft.com/office/drawing/2014/main" id="{F0EB8530-196D-43DC-AB00-D625F5D7EBFC}"/>
              </a:ext>
            </a:extLst>
          </p:cNvPr>
          <p:cNvSpPr>
            <a:spLocks noGrp="1"/>
          </p:cNvSpPr>
          <p:nvPr>
            <p:ph sz="half" idx="1"/>
          </p:nvPr>
        </p:nvSpPr>
        <p:spPr>
          <a:xfrm>
            <a:off x="601249" y="1791222"/>
            <a:ext cx="5223479" cy="4380978"/>
          </a:xfrm>
        </p:spPr>
        <p:txBody>
          <a:bodyPr/>
          <a:lstStyle/>
          <a:p>
            <a:r>
              <a:rPr lang="en-US" altLang="zh-TW" b="1" i="0">
                <a:solidFill>
                  <a:srgbClr val="242424"/>
                </a:solidFill>
                <a:effectLst/>
                <a:latin typeface="source-serif-pro"/>
              </a:rPr>
              <a:t>Trimming (Removal) </a:t>
            </a:r>
          </a:p>
          <a:p>
            <a:pPr lvl="1"/>
            <a:r>
              <a:rPr lang="zh-TW" altLang="en-US" b="0" i="0">
                <a:solidFill>
                  <a:srgbClr val="242424"/>
                </a:solidFill>
                <a:effectLst/>
                <a:latin typeface="source-serif-pro"/>
              </a:rPr>
              <a:t>徹底刪除極端</a:t>
            </a:r>
            <a:r>
              <a:rPr lang="zh-TW" altLang="en-US" i="0">
                <a:solidFill>
                  <a:srgbClr val="242424"/>
                </a:solidFill>
                <a:effectLst/>
                <a:latin typeface="source-serif-pro"/>
              </a:rPr>
              <a:t>值</a:t>
            </a:r>
            <a:r>
              <a:rPr lang="zh-TW" altLang="en-US">
                <a:solidFill>
                  <a:srgbClr val="242424"/>
                </a:solidFill>
                <a:latin typeface="source-serif-pro"/>
              </a:rPr>
              <a:t>，可能</a:t>
            </a:r>
            <a:r>
              <a:rPr lang="zh-TW" altLang="en-US" i="0">
                <a:solidFill>
                  <a:srgbClr val="242424"/>
                </a:solidFill>
                <a:effectLst/>
                <a:latin typeface="source-serif-pro"/>
              </a:rPr>
              <a:t>減少資料</a:t>
            </a:r>
            <a:r>
              <a:rPr lang="zh-TW" altLang="en-US" b="0" i="0">
                <a:solidFill>
                  <a:srgbClr val="242424"/>
                </a:solidFill>
                <a:effectLst/>
                <a:latin typeface="source-serif-pro"/>
              </a:rPr>
              <a:t>量及忽視問題</a:t>
            </a:r>
            <a:endParaRPr lang="en-US" altLang="zh-TW" b="1" i="0">
              <a:solidFill>
                <a:srgbClr val="242424"/>
              </a:solidFill>
              <a:effectLst/>
              <a:latin typeface="source-serif-pro"/>
            </a:endParaRPr>
          </a:p>
          <a:p>
            <a:r>
              <a:rPr lang="en-US" altLang="zh-TW" b="1" i="0">
                <a:solidFill>
                  <a:srgbClr val="242424"/>
                </a:solidFill>
                <a:effectLst/>
                <a:latin typeface="source-serif-pro"/>
              </a:rPr>
              <a:t>Capping (Winsorizing)</a:t>
            </a:r>
          </a:p>
          <a:p>
            <a:pPr lvl="1"/>
            <a:r>
              <a:rPr lang="zh-TW" altLang="en-US" b="0" i="0">
                <a:solidFill>
                  <a:srgbClr val="242424"/>
                </a:solidFill>
                <a:effectLst/>
                <a:latin typeface="source-serif-pro"/>
              </a:rPr>
              <a:t>將異常值視為缺失值並進行插補</a:t>
            </a:r>
            <a:endParaRPr lang="en-US" altLang="zh-TW" b="1">
              <a:solidFill>
                <a:srgbClr val="242424"/>
              </a:solidFill>
              <a:latin typeface="source-serif-pro"/>
            </a:endParaRPr>
          </a:p>
          <a:p>
            <a:pPr lvl="1"/>
            <a:endParaRPr lang="en-US" altLang="zh-TW" b="1">
              <a:solidFill>
                <a:srgbClr val="242424"/>
              </a:solidFill>
              <a:latin typeface="source-serif-pro"/>
            </a:endParaRPr>
          </a:p>
          <a:p>
            <a:pPr marL="0" indent="0">
              <a:buNone/>
            </a:pPr>
            <a:endParaRPr lang="zh-TW" altLang="en-US"/>
          </a:p>
        </p:txBody>
      </p:sp>
      <p:sp>
        <p:nvSpPr>
          <p:cNvPr id="6" name="內容版面配置區 5">
            <a:extLst>
              <a:ext uri="{FF2B5EF4-FFF2-40B4-BE49-F238E27FC236}">
                <a16:creationId xmlns:a16="http://schemas.microsoft.com/office/drawing/2014/main" id="{D2E5C720-4421-4A26-B4A3-9CD05743F3C3}"/>
              </a:ext>
            </a:extLst>
          </p:cNvPr>
          <p:cNvSpPr>
            <a:spLocks noGrp="1"/>
          </p:cNvSpPr>
          <p:nvPr>
            <p:ph sz="half" idx="2"/>
          </p:nvPr>
        </p:nvSpPr>
        <p:spPr>
          <a:xfrm>
            <a:off x="6364223" y="1791222"/>
            <a:ext cx="5175503" cy="4380978"/>
          </a:xfrm>
        </p:spPr>
        <p:txBody>
          <a:bodyPr/>
          <a:lstStyle/>
          <a:p>
            <a:r>
              <a:rPr lang="zh-TW" altLang="en-US" b="1" i="0">
                <a:solidFill>
                  <a:srgbClr val="242424"/>
                </a:solidFill>
                <a:effectLst/>
                <a:latin typeface="source-serif-pro"/>
              </a:rPr>
              <a:t>箱線圖（</a:t>
            </a:r>
            <a:r>
              <a:rPr lang="en-US" altLang="zh-TW" b="1" i="0">
                <a:solidFill>
                  <a:srgbClr val="242424"/>
                </a:solidFill>
                <a:effectLst/>
                <a:latin typeface="source-serif-pro"/>
              </a:rPr>
              <a:t>IQR </a:t>
            </a:r>
            <a:r>
              <a:rPr lang="zh-TW" altLang="en-US" b="1" i="0">
                <a:solidFill>
                  <a:srgbClr val="242424"/>
                </a:solidFill>
                <a:effectLst/>
                <a:latin typeface="source-serif-pro"/>
              </a:rPr>
              <a:t>方法）：</a:t>
            </a:r>
            <a:r>
              <a:rPr lang="zh-TW" altLang="en-US">
                <a:solidFill>
                  <a:srgbClr val="242424"/>
                </a:solidFill>
                <a:latin typeface="source-serif-pro"/>
              </a:rPr>
              <a:t>鬚</a:t>
            </a:r>
            <a:r>
              <a:rPr lang="zh-TW" altLang="en-US" b="0" i="0">
                <a:solidFill>
                  <a:srgbClr val="242424"/>
                </a:solidFill>
                <a:effectLst/>
                <a:latin typeface="source-serif-pro"/>
              </a:rPr>
              <a:t>線</a:t>
            </a:r>
            <a:r>
              <a:rPr lang="en-US" altLang="zh-TW" b="0" i="0">
                <a:solidFill>
                  <a:srgbClr val="242424"/>
                </a:solidFill>
                <a:effectLst/>
                <a:latin typeface="source-serif-pro"/>
              </a:rPr>
              <a:t>(whiskers)</a:t>
            </a:r>
            <a:r>
              <a:rPr lang="zh-TW" altLang="en-US" b="0" i="0">
                <a:solidFill>
                  <a:srgbClr val="242424"/>
                </a:solidFill>
                <a:effectLst/>
                <a:latin typeface="source-serif-pro"/>
              </a:rPr>
              <a:t>以外的值可能是異常值</a:t>
            </a:r>
            <a:endParaRPr lang="en-US" altLang="zh-TW" b="0" i="0">
              <a:solidFill>
                <a:srgbClr val="242424"/>
              </a:solidFill>
              <a:effectLst/>
              <a:latin typeface="source-serif-pro"/>
            </a:endParaRPr>
          </a:p>
          <a:p>
            <a:r>
              <a:rPr lang="en-US" altLang="zh-TW" b="1" i="0">
                <a:solidFill>
                  <a:srgbClr val="242424"/>
                </a:solidFill>
                <a:effectLst/>
                <a:latin typeface="source-serif-pro"/>
              </a:rPr>
              <a:t>Z </a:t>
            </a:r>
            <a:r>
              <a:rPr lang="zh-TW" altLang="en-US" b="1" i="0">
                <a:solidFill>
                  <a:srgbClr val="242424"/>
                </a:solidFill>
                <a:effectLst/>
                <a:latin typeface="source-serif-pro"/>
              </a:rPr>
              <a:t>分數：</a:t>
            </a:r>
            <a:r>
              <a:rPr lang="zh-TW" altLang="en-US" b="0" i="0">
                <a:solidFill>
                  <a:srgbClr val="242424"/>
                </a:solidFill>
                <a:effectLst/>
                <a:latin typeface="source-serif-pro"/>
              </a:rPr>
              <a:t>與平均值相差超過 </a:t>
            </a:r>
            <a:r>
              <a:rPr lang="en-US" altLang="zh-TW" b="0" i="0">
                <a:solidFill>
                  <a:srgbClr val="242424"/>
                </a:solidFill>
                <a:effectLst/>
                <a:latin typeface="source-serif-pro"/>
              </a:rPr>
              <a:t>3 </a:t>
            </a:r>
            <a:r>
              <a:rPr lang="zh-TW" altLang="en-US" b="0" i="0">
                <a:solidFill>
                  <a:srgbClr val="242424"/>
                </a:solidFill>
                <a:effectLst/>
                <a:latin typeface="source-serif-pro"/>
              </a:rPr>
              <a:t>個標準差的數值</a:t>
            </a:r>
            <a:endParaRPr lang="en-US" altLang="zh-TW">
              <a:solidFill>
                <a:srgbClr val="242424"/>
              </a:solidFill>
              <a:latin typeface="source-serif-pro"/>
            </a:endParaRPr>
          </a:p>
          <a:p>
            <a:r>
              <a:rPr lang="zh-TW" altLang="en-US" b="1" i="0">
                <a:solidFill>
                  <a:srgbClr val="242424"/>
                </a:solidFill>
                <a:effectLst/>
                <a:latin typeface="source-serif-pro"/>
              </a:rPr>
              <a:t>散佈圖：</a:t>
            </a:r>
            <a:r>
              <a:rPr lang="zh-TW" altLang="en-US" b="0" i="0">
                <a:solidFill>
                  <a:srgbClr val="242424"/>
                </a:solidFill>
                <a:effectLst/>
                <a:latin typeface="source-serif-pro"/>
              </a:rPr>
              <a:t>有助於發現二維資料中的異常點</a:t>
            </a:r>
            <a:endParaRPr lang="zh-TW" altLang="en-US"/>
          </a:p>
        </p:txBody>
      </p:sp>
      <p:sp>
        <p:nvSpPr>
          <p:cNvPr id="4" name="日期版面配置區 3">
            <a:extLst>
              <a:ext uri="{FF2B5EF4-FFF2-40B4-BE49-F238E27FC236}">
                <a16:creationId xmlns:a16="http://schemas.microsoft.com/office/drawing/2014/main" id="{58888679-2706-4E6D-AEC3-39344EE05880}"/>
              </a:ext>
            </a:extLst>
          </p:cNvPr>
          <p:cNvSpPr>
            <a:spLocks noGrp="1"/>
          </p:cNvSpPr>
          <p:nvPr>
            <p:ph type="dt" sz="half" idx="10"/>
          </p:nvPr>
        </p:nvSpPr>
        <p:spPr/>
        <p:txBody>
          <a:bodyPr/>
          <a:lstStyle/>
          <a:p>
            <a:fld id="{DDA6C788-E503-48DF-B619-C7A48C63C141}" type="datetime1">
              <a:rPr lang="en-US" altLang="zh-TW" smtClean="0"/>
              <a:t>4/16/26</a:t>
            </a:fld>
            <a:endParaRPr lang="en-US" dirty="0"/>
          </a:p>
        </p:txBody>
      </p:sp>
      <p:sp>
        <p:nvSpPr>
          <p:cNvPr id="5" name="投影片編號版面配置區 4">
            <a:extLst>
              <a:ext uri="{FF2B5EF4-FFF2-40B4-BE49-F238E27FC236}">
                <a16:creationId xmlns:a16="http://schemas.microsoft.com/office/drawing/2014/main" id="{DD8898F3-0F97-4431-933B-91C9F639CE7E}"/>
              </a:ext>
            </a:extLst>
          </p:cNvPr>
          <p:cNvSpPr>
            <a:spLocks noGrp="1"/>
          </p:cNvSpPr>
          <p:nvPr>
            <p:ph type="sldNum" sz="quarter" idx="12"/>
          </p:nvPr>
        </p:nvSpPr>
        <p:spPr/>
        <p:txBody>
          <a:bodyPr/>
          <a:lstStyle/>
          <a:p>
            <a:fld id="{4FAB73BC-B049-4115-A692-8D63A059BFB8}" type="slidenum">
              <a:rPr lang="en-US" smtClean="0"/>
              <a:t>21</a:t>
            </a:fld>
            <a:endParaRPr lang="en-US" dirty="0"/>
          </a:p>
        </p:txBody>
      </p:sp>
    </p:spTree>
    <p:extLst>
      <p:ext uri="{BB962C8B-B14F-4D97-AF65-F5344CB8AC3E}">
        <p14:creationId xmlns:p14="http://schemas.microsoft.com/office/powerpoint/2010/main" val="30562021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標題 6">
            <a:extLst>
              <a:ext uri="{FF2B5EF4-FFF2-40B4-BE49-F238E27FC236}">
                <a16:creationId xmlns:a16="http://schemas.microsoft.com/office/drawing/2014/main" id="{5B0B9779-311D-48F6-BD7C-0E49242B10CA}"/>
              </a:ext>
            </a:extLst>
          </p:cNvPr>
          <p:cNvSpPr>
            <a:spLocks noGrp="1"/>
          </p:cNvSpPr>
          <p:nvPr>
            <p:ph type="title"/>
          </p:nvPr>
        </p:nvSpPr>
        <p:spPr/>
        <p:txBody>
          <a:bodyPr/>
          <a:lstStyle/>
          <a:p>
            <a:r>
              <a:rPr lang="en-US" altLang="zh-TW"/>
              <a:t>IQR</a:t>
            </a:r>
            <a:r>
              <a:rPr lang="zh-TW" altLang="en-US"/>
              <a:t>方法</a:t>
            </a:r>
          </a:p>
        </p:txBody>
      </p:sp>
      <p:sp>
        <p:nvSpPr>
          <p:cNvPr id="8" name="內容版面配置區 7">
            <a:extLst>
              <a:ext uri="{FF2B5EF4-FFF2-40B4-BE49-F238E27FC236}">
                <a16:creationId xmlns:a16="http://schemas.microsoft.com/office/drawing/2014/main" id="{461BC84A-7918-4EA0-AB46-03C1CC57F7EF}"/>
              </a:ext>
            </a:extLst>
          </p:cNvPr>
          <p:cNvSpPr>
            <a:spLocks noGrp="1"/>
          </p:cNvSpPr>
          <p:nvPr>
            <p:ph idx="1"/>
          </p:nvPr>
        </p:nvSpPr>
        <p:spPr/>
        <p:txBody>
          <a:bodyPr/>
          <a:lstStyle/>
          <a:p>
            <a:r>
              <a:rPr lang="en-US" altLang="zh-TW" i="0">
                <a:solidFill>
                  <a:srgbClr val="242424"/>
                </a:solidFill>
                <a:effectLst/>
                <a:latin typeface="source-serif-pro"/>
              </a:rPr>
              <a:t>IQR</a:t>
            </a:r>
            <a:r>
              <a:rPr lang="zh-TW" altLang="en-US" b="0" i="0">
                <a:solidFill>
                  <a:srgbClr val="242424"/>
                </a:solidFill>
                <a:effectLst/>
                <a:latin typeface="source-serif-pro"/>
              </a:rPr>
              <a:t>是一種非參數方法，不會對分佈形狀做任何假設，本質上更加穩健。非常適合具有長尾、偏態或多峰的分佈</a:t>
            </a:r>
            <a:endParaRPr lang="en-US" altLang="zh-TW" b="0" i="0">
              <a:solidFill>
                <a:srgbClr val="242424"/>
              </a:solidFill>
              <a:effectLst/>
              <a:latin typeface="source-serif-pro"/>
            </a:endParaRPr>
          </a:p>
          <a:p>
            <a:r>
              <a:rPr lang="zh-TW" altLang="en-US" i="0">
                <a:solidFill>
                  <a:srgbClr val="242424"/>
                </a:solidFill>
                <a:effectLst/>
                <a:latin typeface="source-serif-pro"/>
              </a:rPr>
              <a:t>箱線圖</a:t>
            </a:r>
            <a:r>
              <a:rPr lang="en-US" altLang="zh-TW" i="0">
                <a:solidFill>
                  <a:srgbClr val="242424"/>
                </a:solidFill>
                <a:effectLst/>
                <a:latin typeface="source-serif-pro"/>
              </a:rPr>
              <a:t>(box plot)</a:t>
            </a:r>
            <a:r>
              <a:rPr lang="zh-TW" altLang="en-US" b="0" i="0">
                <a:solidFill>
                  <a:srgbClr val="242424"/>
                </a:solidFill>
                <a:effectLst/>
                <a:latin typeface="source-serif-pro"/>
              </a:rPr>
              <a:t>組成</a:t>
            </a:r>
            <a:endParaRPr lang="en-US" altLang="zh-TW" b="0" i="0">
              <a:solidFill>
                <a:srgbClr val="242424"/>
              </a:solidFill>
              <a:effectLst/>
              <a:latin typeface="source-serif-pro"/>
            </a:endParaRPr>
          </a:p>
          <a:p>
            <a:pPr lvl="1">
              <a:buFont typeface="Arial" panose="020B0604020202020204" pitchFamily="34" charset="0"/>
              <a:buChar char="•"/>
            </a:pPr>
            <a:r>
              <a:rPr lang="en-US" altLang="zh-TW" b="1" i="0">
                <a:solidFill>
                  <a:srgbClr val="242424"/>
                </a:solidFill>
                <a:effectLst/>
                <a:latin typeface="source-serif-pro"/>
              </a:rPr>
              <a:t>Q1</a:t>
            </a:r>
            <a:r>
              <a:rPr lang="zh-TW" altLang="en-US" b="1" i="0">
                <a:solidFill>
                  <a:srgbClr val="242424"/>
                </a:solidFill>
                <a:effectLst/>
                <a:latin typeface="source-serif-pro"/>
              </a:rPr>
              <a:t>（第 </a:t>
            </a:r>
            <a:r>
              <a:rPr lang="en-US" altLang="zh-TW" b="1" i="0">
                <a:solidFill>
                  <a:srgbClr val="242424"/>
                </a:solidFill>
                <a:effectLst/>
                <a:latin typeface="source-serif-pro"/>
              </a:rPr>
              <a:t>25 </a:t>
            </a:r>
            <a:r>
              <a:rPr lang="zh-TW" altLang="en-US" b="1" i="0">
                <a:solidFill>
                  <a:srgbClr val="242424"/>
                </a:solidFill>
                <a:effectLst/>
                <a:latin typeface="source-serif-pro"/>
              </a:rPr>
              <a:t>百分位數）：</a:t>
            </a:r>
            <a:r>
              <a:rPr lang="zh-TW" altLang="en-US" b="0" i="0">
                <a:solidFill>
                  <a:srgbClr val="242424"/>
                </a:solidFill>
                <a:effectLst/>
                <a:latin typeface="source-serif-pro"/>
              </a:rPr>
              <a:t> </a:t>
            </a:r>
            <a:r>
              <a:rPr lang="en-US" altLang="zh-TW" b="0" i="0">
                <a:solidFill>
                  <a:srgbClr val="242424"/>
                </a:solidFill>
                <a:effectLst/>
                <a:latin typeface="source-serif-pro"/>
              </a:rPr>
              <a:t>25% </a:t>
            </a:r>
            <a:r>
              <a:rPr lang="zh-TW" altLang="en-US" b="0" i="0">
                <a:solidFill>
                  <a:srgbClr val="242424"/>
                </a:solidFill>
                <a:effectLst/>
                <a:latin typeface="source-serif-pro"/>
              </a:rPr>
              <a:t>的數據低於這一點。</a:t>
            </a:r>
          </a:p>
          <a:p>
            <a:pPr lvl="1">
              <a:buFont typeface="Arial" panose="020B0604020202020204" pitchFamily="34" charset="0"/>
              <a:buChar char="•"/>
            </a:pPr>
            <a:r>
              <a:rPr lang="zh-TW" altLang="en-US" b="1" i="0">
                <a:solidFill>
                  <a:srgbClr val="242424"/>
                </a:solidFill>
                <a:effectLst/>
                <a:latin typeface="source-serif-pro"/>
              </a:rPr>
              <a:t>中位數（第 </a:t>
            </a:r>
            <a:r>
              <a:rPr lang="en-US" altLang="zh-TW" b="1" i="0">
                <a:solidFill>
                  <a:srgbClr val="242424"/>
                </a:solidFill>
                <a:effectLst/>
                <a:latin typeface="source-serif-pro"/>
              </a:rPr>
              <a:t>50 </a:t>
            </a:r>
            <a:r>
              <a:rPr lang="zh-TW" altLang="en-US" b="1" i="0">
                <a:solidFill>
                  <a:srgbClr val="242424"/>
                </a:solidFill>
                <a:effectLst/>
                <a:latin typeface="source-serif-pro"/>
              </a:rPr>
              <a:t>百分位數）：</a:t>
            </a:r>
            <a:r>
              <a:rPr lang="zh-TW" altLang="en-US" b="0" i="0">
                <a:solidFill>
                  <a:srgbClr val="242424"/>
                </a:solidFill>
                <a:effectLst/>
                <a:latin typeface="source-serif-pro"/>
              </a:rPr>
              <a:t>資料的中間值。</a:t>
            </a:r>
          </a:p>
          <a:p>
            <a:pPr lvl="1">
              <a:buFont typeface="Arial" panose="020B0604020202020204" pitchFamily="34" charset="0"/>
              <a:buChar char="•"/>
            </a:pPr>
            <a:r>
              <a:rPr lang="en-US" altLang="zh-TW" b="1" i="0">
                <a:solidFill>
                  <a:srgbClr val="242424"/>
                </a:solidFill>
                <a:effectLst/>
                <a:latin typeface="source-serif-pro"/>
              </a:rPr>
              <a:t>Q3</a:t>
            </a:r>
            <a:r>
              <a:rPr lang="zh-TW" altLang="en-US" b="1" i="0">
                <a:solidFill>
                  <a:srgbClr val="242424"/>
                </a:solidFill>
                <a:effectLst/>
                <a:latin typeface="source-serif-pro"/>
              </a:rPr>
              <a:t>（第 </a:t>
            </a:r>
            <a:r>
              <a:rPr lang="en-US" altLang="zh-TW" b="1" i="0">
                <a:solidFill>
                  <a:srgbClr val="242424"/>
                </a:solidFill>
                <a:effectLst/>
                <a:latin typeface="source-serif-pro"/>
              </a:rPr>
              <a:t>75 </a:t>
            </a:r>
            <a:r>
              <a:rPr lang="zh-TW" altLang="en-US" b="1" i="0">
                <a:solidFill>
                  <a:srgbClr val="242424"/>
                </a:solidFill>
                <a:effectLst/>
                <a:latin typeface="source-serif-pro"/>
              </a:rPr>
              <a:t>百分位數）：</a:t>
            </a:r>
            <a:r>
              <a:rPr lang="zh-TW" altLang="en-US" b="0" i="0">
                <a:solidFill>
                  <a:srgbClr val="242424"/>
                </a:solidFill>
                <a:effectLst/>
                <a:latin typeface="source-serif-pro"/>
              </a:rPr>
              <a:t> </a:t>
            </a:r>
            <a:r>
              <a:rPr lang="en-US" altLang="zh-TW" b="0" i="0">
                <a:solidFill>
                  <a:srgbClr val="242424"/>
                </a:solidFill>
                <a:effectLst/>
                <a:latin typeface="source-serif-pro"/>
              </a:rPr>
              <a:t>75% </a:t>
            </a:r>
            <a:r>
              <a:rPr lang="zh-TW" altLang="en-US" b="0" i="0">
                <a:solidFill>
                  <a:srgbClr val="242424"/>
                </a:solidFill>
                <a:effectLst/>
                <a:latin typeface="source-serif-pro"/>
              </a:rPr>
              <a:t>的數據低於這一點。</a:t>
            </a:r>
            <a:endParaRPr lang="en-US" altLang="zh-TW" b="0" i="0">
              <a:solidFill>
                <a:srgbClr val="242424"/>
              </a:solidFill>
              <a:effectLst/>
              <a:latin typeface="source-serif-pro"/>
            </a:endParaRPr>
          </a:p>
          <a:p>
            <a:r>
              <a:rPr lang="zh-TW" altLang="en-US">
                <a:solidFill>
                  <a:srgbClr val="242424"/>
                </a:solidFill>
                <a:latin typeface="source-serif-pro"/>
              </a:rPr>
              <a:t>四分位數間距（</a:t>
            </a:r>
            <a:r>
              <a:rPr lang="en-US" altLang="zh-TW">
                <a:solidFill>
                  <a:srgbClr val="242424"/>
                </a:solidFill>
                <a:latin typeface="source-serif-pro"/>
              </a:rPr>
              <a:t>IQR</a:t>
            </a:r>
            <a:r>
              <a:rPr lang="zh-TW" altLang="en-US">
                <a:solidFill>
                  <a:srgbClr val="242424"/>
                </a:solidFill>
                <a:latin typeface="source-serif-pro"/>
              </a:rPr>
              <a:t>）</a:t>
            </a:r>
            <a:endParaRPr lang="en-US" altLang="zh-TW">
              <a:solidFill>
                <a:srgbClr val="242424"/>
              </a:solidFill>
              <a:latin typeface="source-serif-pro"/>
            </a:endParaRPr>
          </a:p>
          <a:p>
            <a:pPr lvl="1">
              <a:buFont typeface="Arial" panose="020B0604020202020204" pitchFamily="34" charset="0"/>
              <a:buChar char="•"/>
            </a:pPr>
            <a:r>
              <a:rPr lang="en-US" altLang="zh-TW" b="1">
                <a:solidFill>
                  <a:srgbClr val="242424"/>
                </a:solidFill>
                <a:latin typeface="source-serif-pro"/>
              </a:rPr>
              <a:t>IQR = Q3 – Q1</a:t>
            </a:r>
          </a:p>
          <a:p>
            <a:r>
              <a:rPr lang="en-US" altLang="zh-TW">
                <a:solidFill>
                  <a:srgbClr val="242424"/>
                </a:solidFill>
                <a:latin typeface="source-serif-pro"/>
              </a:rPr>
              <a:t>IQR</a:t>
            </a:r>
            <a:r>
              <a:rPr lang="zh-TW" altLang="en-US">
                <a:solidFill>
                  <a:srgbClr val="242424"/>
                </a:solidFill>
                <a:latin typeface="source-serif-pro"/>
              </a:rPr>
              <a:t>異常值檢測規則 </a:t>
            </a:r>
            <a:r>
              <a:rPr lang="en-US" altLang="zh-TW">
                <a:solidFill>
                  <a:srgbClr val="242424"/>
                </a:solidFill>
                <a:latin typeface="source-serif-pro"/>
              </a:rPr>
              <a:t>(</a:t>
            </a:r>
            <a:r>
              <a:rPr lang="en-US" altLang="zh-TW" b="1" i="0">
                <a:solidFill>
                  <a:srgbClr val="242424"/>
                </a:solidFill>
                <a:effectLst/>
                <a:latin typeface="source-serif-pro"/>
              </a:rPr>
              <a:t>IQR proximity rule)</a:t>
            </a:r>
            <a:endParaRPr lang="en-US" altLang="zh-TW">
              <a:solidFill>
                <a:srgbClr val="242424"/>
              </a:solidFill>
              <a:latin typeface="source-serif-pro"/>
            </a:endParaRPr>
          </a:p>
          <a:p>
            <a:pPr lvl="1"/>
            <a:r>
              <a:rPr lang="en-US" altLang="zh-TW">
                <a:solidFill>
                  <a:srgbClr val="242424"/>
                </a:solidFill>
                <a:latin typeface="source-serif-pro"/>
              </a:rPr>
              <a:t>Low bound = Q1 – 1.5*IQR</a:t>
            </a:r>
          </a:p>
          <a:p>
            <a:pPr lvl="1"/>
            <a:r>
              <a:rPr lang="en-US" altLang="zh-TW">
                <a:solidFill>
                  <a:srgbClr val="242424"/>
                </a:solidFill>
                <a:latin typeface="source-serif-pro"/>
              </a:rPr>
              <a:t>High bound = Q1 + 1.5*IQR</a:t>
            </a:r>
          </a:p>
          <a:p>
            <a:pPr marL="274320" lvl="1" indent="0">
              <a:buNone/>
            </a:pPr>
            <a:r>
              <a:rPr lang="zh-TW" altLang="en-US" b="1">
                <a:solidFill>
                  <a:srgbClr val="242424"/>
                </a:solidFill>
                <a:latin typeface="source-serif-pro"/>
              </a:rPr>
              <a:t>觀測值低於 </a:t>
            </a:r>
            <a:r>
              <a:rPr lang="en-US" altLang="zh-TW" b="1">
                <a:solidFill>
                  <a:srgbClr val="242424"/>
                </a:solidFill>
                <a:latin typeface="source-serif-pro"/>
              </a:rPr>
              <a:t>low bound</a:t>
            </a:r>
            <a:r>
              <a:rPr lang="zh-TW" altLang="en-US" b="1">
                <a:solidFill>
                  <a:srgbClr val="242424"/>
                </a:solidFill>
                <a:latin typeface="source-serif-pro"/>
              </a:rPr>
              <a:t>或高於 </a:t>
            </a:r>
            <a:r>
              <a:rPr lang="en-US" altLang="zh-TW" b="1">
                <a:solidFill>
                  <a:srgbClr val="242424"/>
                </a:solidFill>
                <a:latin typeface="source-serif-pro"/>
              </a:rPr>
              <a:t>high bound</a:t>
            </a:r>
            <a:r>
              <a:rPr lang="zh-TW" altLang="en-US" b="1">
                <a:solidFill>
                  <a:srgbClr val="242424"/>
                </a:solidFill>
                <a:latin typeface="source-serif-pro"/>
              </a:rPr>
              <a:t>者視為異常值</a:t>
            </a:r>
          </a:p>
          <a:p>
            <a:pPr lvl="1"/>
            <a:endParaRPr lang="zh-TW" altLang="en-US"/>
          </a:p>
        </p:txBody>
      </p:sp>
      <p:sp>
        <p:nvSpPr>
          <p:cNvPr id="5" name="日期版面配置區 4">
            <a:extLst>
              <a:ext uri="{FF2B5EF4-FFF2-40B4-BE49-F238E27FC236}">
                <a16:creationId xmlns:a16="http://schemas.microsoft.com/office/drawing/2014/main" id="{E0C0569E-D645-4949-9001-0F6850157EA3}"/>
              </a:ext>
            </a:extLst>
          </p:cNvPr>
          <p:cNvSpPr>
            <a:spLocks noGrp="1"/>
          </p:cNvSpPr>
          <p:nvPr>
            <p:ph type="dt" sz="half" idx="10"/>
          </p:nvPr>
        </p:nvSpPr>
        <p:spPr/>
        <p:txBody>
          <a:bodyPr/>
          <a:lstStyle/>
          <a:p>
            <a:fld id="{6C151E4A-12B4-4877-8427-E991883821BA}" type="datetime1">
              <a:rPr lang="en-US" altLang="zh-TW" smtClean="0"/>
              <a:t>4/16/26</a:t>
            </a:fld>
            <a:endParaRPr lang="en-US" dirty="0"/>
          </a:p>
        </p:txBody>
      </p:sp>
      <p:sp>
        <p:nvSpPr>
          <p:cNvPr id="6" name="投影片編號版面配置區 5">
            <a:extLst>
              <a:ext uri="{FF2B5EF4-FFF2-40B4-BE49-F238E27FC236}">
                <a16:creationId xmlns:a16="http://schemas.microsoft.com/office/drawing/2014/main" id="{10E9642E-812C-48FC-8CB5-8D09912158DE}"/>
              </a:ext>
            </a:extLst>
          </p:cNvPr>
          <p:cNvSpPr>
            <a:spLocks noGrp="1"/>
          </p:cNvSpPr>
          <p:nvPr>
            <p:ph type="sldNum" sz="quarter" idx="12"/>
          </p:nvPr>
        </p:nvSpPr>
        <p:spPr/>
        <p:txBody>
          <a:bodyPr/>
          <a:lstStyle/>
          <a:p>
            <a:fld id="{4FAB73BC-B049-4115-A692-8D63A059BFB8}" type="slidenum">
              <a:rPr lang="en-US" smtClean="0"/>
              <a:t>22</a:t>
            </a:fld>
            <a:endParaRPr lang="en-US" dirty="0"/>
          </a:p>
        </p:txBody>
      </p:sp>
    </p:spTree>
    <p:extLst>
      <p:ext uri="{BB962C8B-B14F-4D97-AF65-F5344CB8AC3E}">
        <p14:creationId xmlns:p14="http://schemas.microsoft.com/office/powerpoint/2010/main" val="35255019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D9306EA-76BB-4F67-87F6-D8F7936ABD35}"/>
              </a:ext>
            </a:extLst>
          </p:cNvPr>
          <p:cNvSpPr>
            <a:spLocks noGrp="1"/>
          </p:cNvSpPr>
          <p:nvPr>
            <p:ph type="title"/>
          </p:nvPr>
        </p:nvSpPr>
        <p:spPr/>
        <p:txBody>
          <a:bodyPr/>
          <a:lstStyle/>
          <a:p>
            <a:r>
              <a:rPr lang="en-US" altLang="zh-TW"/>
              <a:t>Z score</a:t>
            </a:r>
            <a:endParaRPr lang="zh-TW" altLang="en-US"/>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76E7345D-581F-474B-8D6D-24CEE8B527FC}"/>
                  </a:ext>
                </a:extLst>
              </p:cNvPr>
              <p:cNvSpPr>
                <a:spLocks noGrp="1"/>
              </p:cNvSpPr>
              <p:nvPr>
                <p:ph idx="1"/>
              </p:nvPr>
            </p:nvSpPr>
            <p:spPr/>
            <p:txBody>
              <a:bodyPr/>
              <a:lstStyle/>
              <a:p>
                <a:r>
                  <a:rPr lang="zh-TW" altLang="en-US" b="0" i="0">
                    <a:solidFill>
                      <a:srgbClr val="242424"/>
                    </a:solidFill>
                    <a:effectLst/>
                    <a:latin typeface="source-serif-pro"/>
                  </a:rPr>
                  <a:t>當資料近似服從常態分佈（鐘形曲線）時，</a:t>
                </a:r>
                <a:r>
                  <a:rPr lang="en-US" altLang="zh-TW" b="0" i="0">
                    <a:solidFill>
                      <a:srgbClr val="242424"/>
                    </a:solidFill>
                    <a:effectLst/>
                    <a:latin typeface="source-serif-pro"/>
                  </a:rPr>
                  <a:t>Z </a:t>
                </a:r>
                <a:r>
                  <a:rPr lang="zh-TW" altLang="en-US" b="0" i="0">
                    <a:solidFill>
                      <a:srgbClr val="242424"/>
                    </a:solidFill>
                    <a:effectLst/>
                    <a:latin typeface="source-serif-pro"/>
                  </a:rPr>
                  <a:t>分數法效果最佳</a:t>
                </a:r>
                <a:endParaRPr lang="en-US" altLang="zh-TW" b="0" i="0">
                  <a:solidFill>
                    <a:srgbClr val="242424"/>
                  </a:solidFill>
                  <a:effectLst/>
                  <a:latin typeface="source-serif-pro"/>
                </a:endParaRPr>
              </a:p>
              <a:p>
                <a:pPr lvl="1"/>
                <a:r>
                  <a:rPr lang="zh-TW" altLang="en-US" b="0" i="0">
                    <a:solidFill>
                      <a:srgbClr val="242424"/>
                    </a:solidFill>
                    <a:effectLst/>
                    <a:latin typeface="source-serif-pro"/>
                  </a:rPr>
                  <a:t>約 </a:t>
                </a:r>
                <a:r>
                  <a:rPr lang="en-US" altLang="zh-TW" b="0" i="0">
                    <a:solidFill>
                      <a:srgbClr val="242424"/>
                    </a:solidFill>
                    <a:effectLst/>
                    <a:latin typeface="source-serif-pro"/>
                  </a:rPr>
                  <a:t>68% </a:t>
                </a:r>
                <a:r>
                  <a:rPr lang="zh-TW" altLang="en-US" b="0" i="0">
                    <a:solidFill>
                      <a:srgbClr val="242424"/>
                    </a:solidFill>
                    <a:effectLst/>
                    <a:latin typeface="source-serif-pro"/>
                  </a:rPr>
                  <a:t>的數值位於平均值的</a:t>
                </a:r>
                <a:r>
                  <a:rPr lang="zh-TW" altLang="en-US" b="1" i="0">
                    <a:solidFill>
                      <a:srgbClr val="242424"/>
                    </a:solidFill>
                    <a:effectLst/>
                    <a:latin typeface="source-serif-pro"/>
                  </a:rPr>
                  <a:t>一個標準差範圍內</a:t>
                </a:r>
                <a:endParaRPr lang="en-US" altLang="zh-TW">
                  <a:solidFill>
                    <a:srgbClr val="242424"/>
                  </a:solidFill>
                  <a:latin typeface="source-serif-pro"/>
                </a:endParaRPr>
              </a:p>
              <a:p>
                <a:pPr lvl="1"/>
                <a:r>
                  <a:rPr lang="zh-TW" altLang="en-US" b="0" i="0">
                    <a:solidFill>
                      <a:srgbClr val="242424"/>
                    </a:solidFill>
                    <a:effectLst/>
                    <a:latin typeface="source-serif-pro"/>
                  </a:rPr>
                  <a:t>約</a:t>
                </a:r>
                <a:r>
                  <a:rPr lang="en-US" altLang="zh-TW" b="0" i="0">
                    <a:solidFill>
                      <a:srgbClr val="242424"/>
                    </a:solidFill>
                    <a:effectLst/>
                    <a:latin typeface="source-serif-pro"/>
                  </a:rPr>
                  <a:t>95%</a:t>
                </a:r>
                <a:r>
                  <a:rPr lang="zh-TW" altLang="en-US" b="0" i="0">
                    <a:solidFill>
                      <a:srgbClr val="242424"/>
                    </a:solidFill>
                    <a:effectLst/>
                    <a:latin typeface="source-serif-pro"/>
                  </a:rPr>
                  <a:t>在</a:t>
                </a:r>
                <a:r>
                  <a:rPr lang="en-US" altLang="zh-TW" b="1" i="0">
                    <a:solidFill>
                      <a:srgbClr val="242424"/>
                    </a:solidFill>
                    <a:effectLst/>
                    <a:latin typeface="source-serif-pro"/>
                  </a:rPr>
                  <a:t>2</a:t>
                </a:r>
                <a:r>
                  <a:rPr lang="zh-TW" altLang="en-US" b="1" i="0">
                    <a:solidFill>
                      <a:srgbClr val="242424"/>
                    </a:solidFill>
                    <a:effectLst/>
                    <a:latin typeface="source-serif-pro"/>
                  </a:rPr>
                  <a:t>個標準差範圍內</a:t>
                </a:r>
                <a:endParaRPr lang="zh-TW" altLang="en-US" b="0" i="0">
                  <a:solidFill>
                    <a:srgbClr val="242424"/>
                  </a:solidFill>
                  <a:effectLst/>
                  <a:latin typeface="source-serif-pro"/>
                </a:endParaRPr>
              </a:p>
              <a:p>
                <a:pPr lvl="1"/>
                <a:r>
                  <a:rPr lang="zh-TW" altLang="en-US" b="0" i="0">
                    <a:solidFill>
                      <a:srgbClr val="242424"/>
                    </a:solidFill>
                    <a:effectLst/>
                    <a:latin typeface="source-serif-pro"/>
                  </a:rPr>
                  <a:t>約</a:t>
                </a:r>
                <a:r>
                  <a:rPr lang="en-US" altLang="zh-TW" b="0" i="0">
                    <a:solidFill>
                      <a:srgbClr val="242424"/>
                    </a:solidFill>
                    <a:effectLst/>
                    <a:latin typeface="source-serif-pro"/>
                  </a:rPr>
                  <a:t>99.7%</a:t>
                </a:r>
                <a:r>
                  <a:rPr lang="zh-TW" altLang="en-US" b="0" i="0">
                    <a:solidFill>
                      <a:srgbClr val="242424"/>
                    </a:solidFill>
                    <a:effectLst/>
                    <a:latin typeface="source-serif-pro"/>
                  </a:rPr>
                  <a:t>在</a:t>
                </a:r>
                <a:r>
                  <a:rPr lang="en-US" altLang="zh-TW" b="1" i="0">
                    <a:solidFill>
                      <a:srgbClr val="242424"/>
                    </a:solidFill>
                    <a:effectLst/>
                    <a:latin typeface="source-serif-pro"/>
                  </a:rPr>
                  <a:t>3</a:t>
                </a:r>
                <a:r>
                  <a:rPr lang="zh-TW" altLang="en-US" b="1" i="0">
                    <a:solidFill>
                      <a:srgbClr val="242424"/>
                    </a:solidFill>
                    <a:effectLst/>
                    <a:latin typeface="source-serif-pro"/>
                  </a:rPr>
                  <a:t>個標準差範圍內</a:t>
                </a:r>
                <a:endParaRPr lang="zh-TW" altLang="en-US" b="0" i="0">
                  <a:solidFill>
                    <a:srgbClr val="242424"/>
                  </a:solidFill>
                  <a:effectLst/>
                  <a:latin typeface="source-serif-pro"/>
                </a:endParaRPr>
              </a:p>
              <a:p>
                <a:r>
                  <a:rPr lang="zh-TW" altLang="en-US" b="0" i="0">
                    <a:solidFill>
                      <a:srgbClr val="C00000"/>
                    </a:solidFill>
                    <a:effectLst/>
                    <a:latin typeface="source-serif-pro"/>
                  </a:rPr>
                  <a:t>任何超出</a:t>
                </a:r>
                <a:r>
                  <a:rPr lang="en-US" altLang="zh-TW" b="0" i="0">
                    <a:solidFill>
                      <a:srgbClr val="C00000"/>
                    </a:solidFill>
                    <a:effectLst/>
                    <a:latin typeface="source-serif-pro"/>
                  </a:rPr>
                  <a:t>±3</a:t>
                </a:r>
                <a:r>
                  <a:rPr lang="zh-TW" altLang="en-US" b="0" i="0">
                    <a:solidFill>
                      <a:srgbClr val="C00000"/>
                    </a:solidFill>
                    <a:effectLst/>
                    <a:latin typeface="source-serif-pro"/>
                  </a:rPr>
                  <a:t>個標準差的值通常都被視為</a:t>
                </a:r>
                <a:r>
                  <a:rPr lang="zh-TW" altLang="en-US" b="1" i="0">
                    <a:solidFill>
                      <a:srgbClr val="C00000"/>
                    </a:solidFill>
                    <a:effectLst/>
                    <a:latin typeface="source-serif-pro"/>
                  </a:rPr>
                  <a:t>異常值 </a:t>
                </a:r>
                <a:r>
                  <a:rPr lang="en-US" altLang="zh-TW" b="1" i="0">
                    <a:solidFill>
                      <a:srgbClr val="C00000"/>
                    </a:solidFill>
                    <a:effectLst/>
                    <a:latin typeface="source-serif-pro"/>
                  </a:rPr>
                  <a:t>(</a:t>
                </a:r>
                <a14:m>
                  <m:oMath xmlns:m="http://schemas.openxmlformats.org/officeDocument/2006/math">
                    <m:d>
                      <m:dPr>
                        <m:begChr m:val="|"/>
                        <m:endChr m:val="|"/>
                        <m:ctrlPr>
                          <a:rPr lang="en-US" altLang="zh-TW" b="1" i="1" smtClean="0">
                            <a:solidFill>
                              <a:srgbClr val="C00000"/>
                            </a:solidFill>
                            <a:effectLst/>
                            <a:latin typeface="Cambria Math" panose="02040503050406030204" pitchFamily="18" charset="0"/>
                          </a:rPr>
                        </m:ctrlPr>
                      </m:dPr>
                      <m:e>
                        <m:r>
                          <a:rPr lang="en-US" altLang="zh-TW" b="1" i="1" smtClean="0">
                            <a:solidFill>
                              <a:srgbClr val="C00000"/>
                            </a:solidFill>
                            <a:effectLst/>
                            <a:latin typeface="Cambria Math" panose="02040503050406030204" pitchFamily="18" charset="0"/>
                          </a:rPr>
                          <m:t>𝒛</m:t>
                        </m:r>
                      </m:e>
                    </m:d>
                    <m:r>
                      <a:rPr lang="en-US" altLang="zh-TW" b="1" i="1" smtClean="0">
                        <a:solidFill>
                          <a:srgbClr val="C00000"/>
                        </a:solidFill>
                        <a:effectLst/>
                        <a:latin typeface="Cambria Math" panose="02040503050406030204" pitchFamily="18" charset="0"/>
                      </a:rPr>
                      <m:t>&gt;</m:t>
                    </m:r>
                    <m:r>
                      <a:rPr lang="en-US" altLang="zh-TW" b="1" i="1" smtClean="0">
                        <a:solidFill>
                          <a:srgbClr val="C00000"/>
                        </a:solidFill>
                        <a:effectLst/>
                        <a:latin typeface="Cambria Math" panose="02040503050406030204" pitchFamily="18" charset="0"/>
                      </a:rPr>
                      <m:t>𝟑</m:t>
                    </m:r>
                    <m:r>
                      <a:rPr lang="en-US" altLang="zh-TW" b="1" i="1" smtClean="0">
                        <a:solidFill>
                          <a:srgbClr val="C00000"/>
                        </a:solidFill>
                        <a:effectLst/>
                        <a:latin typeface="Cambria Math" panose="02040503050406030204" pitchFamily="18" charset="0"/>
                      </a:rPr>
                      <m:t>)</m:t>
                    </m:r>
                  </m:oMath>
                </a14:m>
                <a:endParaRPr lang="en-US" altLang="zh-TW" b="1" i="0">
                  <a:solidFill>
                    <a:srgbClr val="C00000"/>
                  </a:solidFill>
                  <a:effectLst/>
                  <a:latin typeface="source-serif-pro"/>
                </a:endParaRPr>
              </a:p>
              <a:p>
                <a:r>
                  <a:rPr lang="en-US" altLang="zh-TW" b="1" i="0">
                    <a:solidFill>
                      <a:srgbClr val="242424"/>
                    </a:solidFill>
                    <a:effectLst/>
                    <a:latin typeface="sohne"/>
                  </a:rPr>
                  <a:t>Z </a:t>
                </a:r>
                <a:r>
                  <a:rPr lang="zh-TW" altLang="en-US" b="1" i="0">
                    <a:solidFill>
                      <a:srgbClr val="242424"/>
                    </a:solidFill>
                    <a:effectLst/>
                    <a:latin typeface="sohne"/>
                  </a:rPr>
                  <a:t>分數公式</a:t>
                </a:r>
                <a:endParaRPr lang="en-US" altLang="zh-TW" b="1" i="0">
                  <a:solidFill>
                    <a:srgbClr val="242424"/>
                  </a:solidFill>
                  <a:effectLst/>
                  <a:latin typeface="sohne"/>
                </a:endParaRPr>
              </a:p>
              <a:p>
                <a:pPr marL="0" indent="0">
                  <a:buNone/>
                </a:pPr>
                <a14:m>
                  <m:oMathPara xmlns:m="http://schemas.openxmlformats.org/officeDocument/2006/math">
                    <m:oMathParaPr>
                      <m:jc m:val="centerGroup"/>
                    </m:oMathParaPr>
                    <m:oMath xmlns:m="http://schemas.openxmlformats.org/officeDocument/2006/math">
                      <m:r>
                        <a:rPr lang="en-US" altLang="zh-TW" b="0" i="1" smtClean="0">
                          <a:solidFill>
                            <a:schemeClr val="tx1"/>
                          </a:solidFill>
                          <a:latin typeface="Cambria Math" panose="02040503050406030204" pitchFamily="18" charset="0"/>
                        </a:rPr>
                        <m:t>𝑧</m:t>
                      </m:r>
                      <m:r>
                        <a:rPr lang="en-US" altLang="zh-TW" b="0" i="1" smtClean="0">
                          <a:solidFill>
                            <a:schemeClr val="tx1"/>
                          </a:solidFill>
                          <a:latin typeface="Cambria Math" panose="02040503050406030204" pitchFamily="18" charset="0"/>
                        </a:rPr>
                        <m:t>=</m:t>
                      </m:r>
                      <m:f>
                        <m:fPr>
                          <m:ctrlPr>
                            <a:rPr lang="en-US" altLang="zh-TW" b="0" i="1" smtClean="0">
                              <a:solidFill>
                                <a:schemeClr val="tx1"/>
                              </a:solidFill>
                              <a:latin typeface="Cambria Math" panose="02040503050406030204" pitchFamily="18" charset="0"/>
                            </a:rPr>
                          </m:ctrlPr>
                        </m:fPr>
                        <m:num>
                          <m:r>
                            <a:rPr lang="en-US" altLang="zh-TW" b="0" i="1" smtClean="0">
                              <a:solidFill>
                                <a:schemeClr val="tx1"/>
                              </a:solidFill>
                              <a:latin typeface="Cambria Math" panose="02040503050406030204" pitchFamily="18" charset="0"/>
                            </a:rPr>
                            <m:t>𝑥</m:t>
                          </m:r>
                          <m:r>
                            <a:rPr lang="en-US" altLang="zh-TW" b="0" i="1" smtClean="0">
                              <a:solidFill>
                                <a:schemeClr val="tx1"/>
                              </a:solidFill>
                              <a:latin typeface="Cambria Math" panose="02040503050406030204" pitchFamily="18" charset="0"/>
                            </a:rPr>
                            <m:t>−</m:t>
                          </m:r>
                          <m:r>
                            <a:rPr lang="zh-TW" altLang="en-US" b="0" i="1" smtClean="0">
                              <a:solidFill>
                                <a:schemeClr val="tx1"/>
                              </a:solidFill>
                              <a:latin typeface="Cambria Math" panose="02040503050406030204" pitchFamily="18" charset="0"/>
                            </a:rPr>
                            <m:t>𝜇</m:t>
                          </m:r>
                        </m:num>
                        <m:den>
                          <m:r>
                            <a:rPr lang="zh-TW" altLang="en-US" b="0" i="1" smtClean="0">
                              <a:solidFill>
                                <a:schemeClr val="tx1"/>
                              </a:solidFill>
                              <a:latin typeface="Cambria Math" panose="02040503050406030204" pitchFamily="18" charset="0"/>
                            </a:rPr>
                            <m:t>𝜎</m:t>
                          </m:r>
                        </m:den>
                      </m:f>
                    </m:oMath>
                  </m:oMathPara>
                </a14:m>
                <a:endParaRPr lang="en-US" altLang="zh-TW" b="0">
                  <a:solidFill>
                    <a:schemeClr val="tx1"/>
                  </a:solidFill>
                </a:endParaRPr>
              </a:p>
              <a:p>
                <a:r>
                  <a:rPr lang="en-US" altLang="zh-TW" b="0">
                    <a:solidFill>
                      <a:schemeClr val="tx1"/>
                    </a:solidFill>
                  </a:rPr>
                  <a:t>x=data, </a:t>
                </a:r>
                <a14:m>
                  <m:oMath xmlns:m="http://schemas.openxmlformats.org/officeDocument/2006/math">
                    <m:r>
                      <a:rPr lang="zh-TW" altLang="en-US" b="0" i="1" smtClean="0">
                        <a:solidFill>
                          <a:schemeClr val="tx1"/>
                        </a:solidFill>
                        <a:latin typeface="Cambria Math" panose="02040503050406030204" pitchFamily="18" charset="0"/>
                      </a:rPr>
                      <m:t>𝜇</m:t>
                    </m:r>
                    <m:r>
                      <a:rPr lang="en-US" altLang="zh-TW" b="0" i="1" smtClean="0">
                        <a:solidFill>
                          <a:schemeClr val="tx1"/>
                        </a:solidFill>
                        <a:latin typeface="Cambria Math" panose="02040503050406030204" pitchFamily="18" charset="0"/>
                      </a:rPr>
                      <m:t>=</m:t>
                    </m:r>
                    <m:r>
                      <a:rPr lang="zh-TW" altLang="en-US" b="0" i="1">
                        <a:solidFill>
                          <a:schemeClr val="tx1"/>
                        </a:solidFill>
                        <a:latin typeface="Cambria Math" panose="02040503050406030204" pitchFamily="18" charset="0"/>
                      </a:rPr>
                      <m:t>平均值</m:t>
                    </m:r>
                  </m:oMath>
                </a14:m>
                <a:r>
                  <a:rPr lang="en-US" altLang="zh-TW" b="0">
                    <a:solidFill>
                      <a:schemeClr val="tx1"/>
                    </a:solidFill>
                  </a:rPr>
                  <a:t>, </a:t>
                </a:r>
                <a14:m>
                  <m:oMath xmlns:m="http://schemas.openxmlformats.org/officeDocument/2006/math">
                    <m:r>
                      <a:rPr lang="zh-TW" altLang="en-US" b="0" i="1" smtClean="0">
                        <a:solidFill>
                          <a:schemeClr val="tx1"/>
                        </a:solidFill>
                        <a:latin typeface="Cambria Math" panose="02040503050406030204" pitchFamily="18" charset="0"/>
                      </a:rPr>
                      <m:t>𝜎</m:t>
                    </m:r>
                    <m:r>
                      <a:rPr lang="zh-TW" altLang="en-US" b="0" i="1">
                        <a:solidFill>
                          <a:schemeClr val="tx1"/>
                        </a:solidFill>
                        <a:latin typeface="Cambria Math" panose="02040503050406030204" pitchFamily="18" charset="0"/>
                      </a:rPr>
                      <m:t> </m:t>
                    </m:r>
                  </m:oMath>
                </a14:m>
                <a:r>
                  <a:rPr lang="en-US" altLang="zh-TW" b="0">
                    <a:solidFill>
                      <a:schemeClr val="tx1"/>
                    </a:solidFill>
                  </a:rPr>
                  <a:t>= </a:t>
                </a:r>
                <a:r>
                  <a:rPr lang="zh-TW" altLang="en-US" b="0">
                    <a:solidFill>
                      <a:schemeClr val="tx1"/>
                    </a:solidFill>
                  </a:rPr>
                  <a:t>標準差</a:t>
                </a:r>
              </a:p>
            </p:txBody>
          </p:sp>
        </mc:Choice>
        <mc:Fallback xmlns="">
          <p:sp>
            <p:nvSpPr>
              <p:cNvPr id="3" name="內容版面配置區 2">
                <a:extLst>
                  <a:ext uri="{FF2B5EF4-FFF2-40B4-BE49-F238E27FC236}">
                    <a16:creationId xmlns:a16="http://schemas.microsoft.com/office/drawing/2014/main" id="{76E7345D-581F-474B-8D6D-24CEE8B527FC}"/>
                  </a:ext>
                </a:extLst>
              </p:cNvPr>
              <p:cNvSpPr>
                <a:spLocks noGrp="1" noRot="1" noChangeAspect="1" noMove="1" noResize="1" noEditPoints="1" noAdjustHandles="1" noChangeArrowheads="1" noChangeShapeType="1" noTextEdit="1"/>
              </p:cNvSpPr>
              <p:nvPr>
                <p:ph idx="1"/>
              </p:nvPr>
            </p:nvSpPr>
            <p:spPr>
              <a:blipFill>
                <a:blip r:embed="rId2"/>
                <a:stretch>
                  <a:fillRect l="-489" t="-1763"/>
                </a:stretch>
              </a:blipFill>
            </p:spPr>
            <p:txBody>
              <a:bodyPr/>
              <a:lstStyle/>
              <a:p>
                <a:r>
                  <a:rPr lang="zh-TW" altLang="en-US">
                    <a:noFill/>
                  </a:rPr>
                  <a:t> </a:t>
                </a:r>
              </a:p>
            </p:txBody>
          </p:sp>
        </mc:Fallback>
      </mc:AlternateContent>
      <p:sp>
        <p:nvSpPr>
          <p:cNvPr id="4" name="日期版面配置區 3">
            <a:extLst>
              <a:ext uri="{FF2B5EF4-FFF2-40B4-BE49-F238E27FC236}">
                <a16:creationId xmlns:a16="http://schemas.microsoft.com/office/drawing/2014/main" id="{FBEBA830-084A-4CA8-9535-A65C191A0E16}"/>
              </a:ext>
            </a:extLst>
          </p:cNvPr>
          <p:cNvSpPr>
            <a:spLocks noGrp="1"/>
          </p:cNvSpPr>
          <p:nvPr>
            <p:ph type="dt" sz="half" idx="10"/>
          </p:nvPr>
        </p:nvSpPr>
        <p:spPr/>
        <p:txBody>
          <a:bodyPr/>
          <a:lstStyle/>
          <a:p>
            <a:fld id="{DDA6C788-E503-48DF-B619-C7A48C63C141}" type="datetime1">
              <a:rPr lang="en-US" altLang="zh-TW" smtClean="0"/>
              <a:t>4/16/26</a:t>
            </a:fld>
            <a:endParaRPr lang="en-US" dirty="0"/>
          </a:p>
        </p:txBody>
      </p:sp>
      <p:sp>
        <p:nvSpPr>
          <p:cNvPr id="5" name="投影片編號版面配置區 4">
            <a:extLst>
              <a:ext uri="{FF2B5EF4-FFF2-40B4-BE49-F238E27FC236}">
                <a16:creationId xmlns:a16="http://schemas.microsoft.com/office/drawing/2014/main" id="{1B63454B-83F3-46CE-B86E-690D1DA509FD}"/>
              </a:ext>
            </a:extLst>
          </p:cNvPr>
          <p:cNvSpPr>
            <a:spLocks noGrp="1"/>
          </p:cNvSpPr>
          <p:nvPr>
            <p:ph type="sldNum" sz="quarter" idx="12"/>
          </p:nvPr>
        </p:nvSpPr>
        <p:spPr/>
        <p:txBody>
          <a:bodyPr/>
          <a:lstStyle/>
          <a:p>
            <a:fld id="{4FAB73BC-B049-4115-A692-8D63A059BFB8}" type="slidenum">
              <a:rPr lang="en-US" smtClean="0"/>
              <a:t>23</a:t>
            </a:fld>
            <a:endParaRPr lang="en-US" dirty="0"/>
          </a:p>
        </p:txBody>
      </p:sp>
    </p:spTree>
    <p:extLst>
      <p:ext uri="{BB962C8B-B14F-4D97-AF65-F5344CB8AC3E}">
        <p14:creationId xmlns:p14="http://schemas.microsoft.com/office/powerpoint/2010/main" val="1065565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780E4C4-1CB9-42EC-8C06-18498B39DADB}"/>
              </a:ext>
            </a:extLst>
          </p:cNvPr>
          <p:cNvSpPr>
            <a:spLocks noGrp="1"/>
          </p:cNvSpPr>
          <p:nvPr>
            <p:ph type="title"/>
          </p:nvPr>
        </p:nvSpPr>
        <p:spPr/>
        <p:txBody>
          <a:bodyPr>
            <a:normAutofit/>
          </a:bodyPr>
          <a:lstStyle/>
          <a:p>
            <a:r>
              <a:rPr lang="en-US" altLang="zh-TW"/>
              <a:t>Aggregating and grouping</a:t>
            </a:r>
            <a:endParaRPr lang="zh-TW" altLang="en-US"/>
          </a:p>
        </p:txBody>
      </p:sp>
      <p:sp>
        <p:nvSpPr>
          <p:cNvPr id="3" name="內容版面配置區 2">
            <a:extLst>
              <a:ext uri="{FF2B5EF4-FFF2-40B4-BE49-F238E27FC236}">
                <a16:creationId xmlns:a16="http://schemas.microsoft.com/office/drawing/2014/main" id="{DFCE825A-F70D-4468-9553-C357FCA88324}"/>
              </a:ext>
            </a:extLst>
          </p:cNvPr>
          <p:cNvSpPr>
            <a:spLocks noGrp="1"/>
          </p:cNvSpPr>
          <p:nvPr>
            <p:ph idx="1"/>
          </p:nvPr>
        </p:nvSpPr>
        <p:spPr/>
        <p:txBody>
          <a:bodyPr/>
          <a:lstStyle/>
          <a:p>
            <a:r>
              <a:rPr lang="zh-TW" altLang="en-US" b="0" i="0">
                <a:solidFill>
                  <a:srgbClr val="000000"/>
                </a:solidFill>
                <a:effectLst/>
                <a:latin typeface="times" panose="02020603050405020304" pitchFamily="18" charset="0"/>
              </a:rPr>
              <a:t>利用</a:t>
            </a:r>
            <a:r>
              <a:rPr lang="en-US" altLang="zh-TW" b="0" i="0">
                <a:solidFill>
                  <a:srgbClr val="000000"/>
                </a:solidFill>
                <a:effectLst/>
                <a:latin typeface="times" panose="02020603050405020304" pitchFamily="18" charset="0"/>
              </a:rPr>
              <a:t>Pandas</a:t>
            </a:r>
            <a:r>
              <a:rPr lang="zh-TW" altLang="en-US" b="0" i="0">
                <a:solidFill>
                  <a:srgbClr val="000000"/>
                </a:solidFill>
                <a:effectLst/>
                <a:latin typeface="times" panose="02020603050405020304" pitchFamily="18" charset="0"/>
              </a:rPr>
              <a:t>套件的</a:t>
            </a:r>
            <a:r>
              <a:rPr lang="en-US" altLang="zh-TW" b="0" i="0">
                <a:solidFill>
                  <a:srgbClr val="000000"/>
                </a:solidFill>
                <a:effectLst/>
                <a:latin typeface="times" panose="02020603050405020304" pitchFamily="18" charset="0"/>
              </a:rPr>
              <a:t>groupby()</a:t>
            </a:r>
            <a:r>
              <a:rPr lang="zh-TW" altLang="en-US" b="0" i="0">
                <a:solidFill>
                  <a:srgbClr val="000000"/>
                </a:solidFill>
                <a:effectLst/>
                <a:latin typeface="times" panose="02020603050405020304" pitchFamily="18" charset="0"/>
              </a:rPr>
              <a:t>方法</a:t>
            </a:r>
            <a:r>
              <a:rPr lang="en-US" altLang="zh-TW" b="0" i="0">
                <a:solidFill>
                  <a:srgbClr val="000000"/>
                </a:solidFill>
                <a:effectLst/>
                <a:latin typeface="times" panose="02020603050405020304" pitchFamily="18" charset="0"/>
              </a:rPr>
              <a:t>(Method)</a:t>
            </a:r>
            <a:r>
              <a:rPr lang="zh-TW" altLang="en-US" b="0" i="0">
                <a:solidFill>
                  <a:srgbClr val="000000"/>
                </a:solidFill>
                <a:effectLst/>
                <a:latin typeface="times" panose="02020603050405020304" pitchFamily="18" charset="0"/>
              </a:rPr>
              <a:t>群組相同資料的欄位，以及</a:t>
            </a:r>
            <a:r>
              <a:rPr lang="en-US" altLang="zh-TW" b="0" i="0">
                <a:solidFill>
                  <a:srgbClr val="000000"/>
                </a:solidFill>
                <a:effectLst/>
                <a:latin typeface="times" panose="02020603050405020304" pitchFamily="18" charset="0"/>
              </a:rPr>
              <a:t>agg()</a:t>
            </a:r>
            <a:r>
              <a:rPr lang="zh-TW" altLang="en-US" b="0" i="0">
                <a:solidFill>
                  <a:srgbClr val="000000"/>
                </a:solidFill>
                <a:effectLst/>
                <a:latin typeface="times" panose="02020603050405020304" pitchFamily="18" charset="0"/>
              </a:rPr>
              <a:t>方法</a:t>
            </a:r>
            <a:r>
              <a:rPr lang="en-US" altLang="zh-TW" b="0" i="0">
                <a:solidFill>
                  <a:srgbClr val="000000"/>
                </a:solidFill>
                <a:effectLst/>
                <a:latin typeface="times" panose="02020603050405020304" pitchFamily="18" charset="0"/>
              </a:rPr>
              <a:t>(Method)</a:t>
            </a:r>
            <a:r>
              <a:rPr lang="zh-TW" altLang="en-US" b="0" i="0">
                <a:solidFill>
                  <a:srgbClr val="000000"/>
                </a:solidFill>
                <a:effectLst/>
                <a:latin typeface="times" panose="02020603050405020304" pitchFamily="18" charset="0"/>
              </a:rPr>
              <a:t>，統計運算剩餘的不同資料欄位，達到合併重複資料成一筆的效果</a:t>
            </a:r>
            <a:endParaRPr lang="en-US" altLang="zh-TW" b="0" i="0">
              <a:solidFill>
                <a:srgbClr val="000000"/>
              </a:solidFill>
              <a:effectLst/>
              <a:latin typeface="times" panose="02020603050405020304" pitchFamily="18" charset="0"/>
            </a:endParaRPr>
          </a:p>
          <a:p>
            <a:pPr lvl="1"/>
            <a:r>
              <a:rPr lang="en-US" altLang="zh-TW" b="1">
                <a:solidFill>
                  <a:srgbClr val="0000FF"/>
                </a:solidFill>
                <a:latin typeface="Consolas" panose="020B0609020204030204" pitchFamily="49" charset="0"/>
              </a:rPr>
              <a:t>df.groupby(</a:t>
            </a:r>
            <a:r>
              <a:rPr lang="en-US" altLang="zh-TW" b="1">
                <a:solidFill>
                  <a:srgbClr val="00B050"/>
                </a:solidFill>
                <a:latin typeface="Consolas" panose="020B0609020204030204" pitchFamily="49" charset="0"/>
              </a:rPr>
              <a:t>by</a:t>
            </a:r>
            <a:r>
              <a:rPr lang="en-US" altLang="zh-TW" b="1">
                <a:solidFill>
                  <a:srgbClr val="0000FF"/>
                </a:solidFill>
                <a:latin typeface="Consolas" panose="020B0609020204030204" pitchFamily="49" charset="0"/>
              </a:rPr>
              <a:t>=[</a:t>
            </a:r>
            <a:r>
              <a:rPr lang="en-US" altLang="zh-TW" b="1">
                <a:latin typeface="Consolas" panose="020B0609020204030204" pitchFamily="49" charset="0"/>
              </a:rPr>
              <a:t>colnames</a:t>
            </a:r>
            <a:r>
              <a:rPr lang="en-US" altLang="zh-TW" b="1">
                <a:solidFill>
                  <a:srgbClr val="0000FF"/>
                </a:solidFill>
                <a:latin typeface="Consolas" panose="020B0609020204030204" pitchFamily="49" charset="0"/>
              </a:rPr>
              <a:t>]).agg(</a:t>
            </a:r>
            <a:r>
              <a:rPr lang="en-US" altLang="zh-TW" b="1">
                <a:solidFill>
                  <a:srgbClr val="7030A0"/>
                </a:solidFill>
                <a:latin typeface="Consolas" panose="020B0609020204030204" pitchFamily="49" charset="0"/>
              </a:rPr>
              <a:t>summaries</a:t>
            </a:r>
            <a:r>
              <a:rPr lang="en-US" altLang="zh-TW" b="1">
                <a:solidFill>
                  <a:srgbClr val="0000FF"/>
                </a:solidFill>
                <a:latin typeface="Consolas" panose="020B0609020204030204" pitchFamily="49" charset="0"/>
              </a:rPr>
              <a:t>).reset_index()</a:t>
            </a:r>
          </a:p>
          <a:p>
            <a:pPr lvl="2"/>
            <a:r>
              <a:rPr lang="en-US" altLang="zh-TW" b="1">
                <a:solidFill>
                  <a:srgbClr val="0000FF"/>
                </a:solidFill>
                <a:latin typeface="Consolas" panose="020B0609020204030204" pitchFamily="49" charset="0"/>
              </a:rPr>
              <a:t>by: </a:t>
            </a:r>
            <a:r>
              <a:rPr lang="zh-TW" altLang="en-US" b="1">
                <a:latin typeface="Consolas" panose="020B0609020204030204" pitchFamily="49" charset="0"/>
              </a:rPr>
              <a:t>根據屬性欄位</a:t>
            </a:r>
            <a:r>
              <a:rPr lang="en-US" altLang="zh-TW" b="1">
                <a:latin typeface="Consolas" panose="020B0609020204030204" pitchFamily="49" charset="0"/>
              </a:rPr>
              <a:t>[colnames]</a:t>
            </a:r>
            <a:r>
              <a:rPr lang="zh-TW" altLang="en-US" b="1">
                <a:latin typeface="Consolas" panose="020B0609020204030204" pitchFamily="49" charset="0"/>
              </a:rPr>
              <a:t>分群</a:t>
            </a:r>
            <a:endParaRPr lang="en-US" altLang="zh-TW" b="1">
              <a:latin typeface="Consolas" panose="020B0609020204030204" pitchFamily="49" charset="0"/>
            </a:endParaRPr>
          </a:p>
          <a:p>
            <a:pPr lvl="2"/>
            <a:r>
              <a:rPr lang="en-US" altLang="zh-TW" b="1">
                <a:solidFill>
                  <a:srgbClr val="0000FF"/>
                </a:solidFill>
                <a:latin typeface="Consolas" panose="020B0609020204030204" pitchFamily="49" charset="0"/>
              </a:rPr>
              <a:t>summaries: </a:t>
            </a:r>
            <a:r>
              <a:rPr lang="zh-TW" altLang="en-US" b="1">
                <a:latin typeface="Consolas" panose="020B0609020204030204" pitchFamily="49" charset="0"/>
              </a:rPr>
              <a:t>是一個字典資料結構 </a:t>
            </a:r>
            <a:r>
              <a:rPr lang="en-US" altLang="zh-TW" b="1">
                <a:solidFill>
                  <a:srgbClr val="7030A0"/>
                </a:solidFill>
                <a:latin typeface="Consolas" panose="020B0609020204030204" pitchFamily="49" charset="0"/>
              </a:rPr>
              <a:t>{“col”: function, …}</a:t>
            </a:r>
          </a:p>
          <a:p>
            <a:pPr lvl="2"/>
            <a:r>
              <a:rPr lang="en-US" altLang="zh-TW" b="1">
                <a:solidFill>
                  <a:srgbClr val="0000FF"/>
                </a:solidFill>
                <a:latin typeface="Consolas" panose="020B0609020204030204" pitchFamily="49" charset="0"/>
              </a:rPr>
              <a:t>reset_index()</a:t>
            </a:r>
            <a:r>
              <a:rPr lang="en-US" altLang="zh-TW" b="1">
                <a:solidFill>
                  <a:srgbClr val="7030A0"/>
                </a:solidFill>
                <a:latin typeface="Consolas" panose="020B0609020204030204" pitchFamily="49" charset="0"/>
              </a:rPr>
              <a:t>: </a:t>
            </a:r>
            <a:r>
              <a:rPr lang="zh-TW" altLang="en-US" b="1">
                <a:latin typeface="Consolas" panose="020B0609020204030204" pitchFamily="49" charset="0"/>
              </a:rPr>
              <a:t>將</a:t>
            </a:r>
            <a:r>
              <a:rPr lang="en-US" altLang="zh-TW" b="1">
                <a:latin typeface="Consolas" panose="020B0609020204030204" pitchFamily="49" charset="0"/>
              </a:rPr>
              <a:t>dataframe</a:t>
            </a:r>
            <a:r>
              <a:rPr lang="zh-TW" altLang="en-US" b="1">
                <a:latin typeface="Consolas" panose="020B0609020204030204" pitchFamily="49" charset="0"/>
              </a:rPr>
              <a:t>的列索引重置</a:t>
            </a:r>
            <a:endParaRPr lang="en-US" altLang="zh-TW" b="1">
              <a:latin typeface="Consolas" panose="020B0609020204030204" pitchFamily="49" charset="0"/>
            </a:endParaRPr>
          </a:p>
        </p:txBody>
      </p:sp>
      <p:sp>
        <p:nvSpPr>
          <p:cNvPr id="4" name="日期版面配置區 3">
            <a:extLst>
              <a:ext uri="{FF2B5EF4-FFF2-40B4-BE49-F238E27FC236}">
                <a16:creationId xmlns:a16="http://schemas.microsoft.com/office/drawing/2014/main" id="{B0E59710-3485-4101-A2D8-50953EC0300C}"/>
              </a:ext>
            </a:extLst>
          </p:cNvPr>
          <p:cNvSpPr>
            <a:spLocks noGrp="1"/>
          </p:cNvSpPr>
          <p:nvPr>
            <p:ph type="dt" sz="half" idx="10"/>
          </p:nvPr>
        </p:nvSpPr>
        <p:spPr/>
        <p:txBody>
          <a:bodyPr/>
          <a:lstStyle/>
          <a:p>
            <a:fld id="{6CC4D3E6-92C2-44D7-99AE-20115AB72267}" type="datetime1">
              <a:rPr lang="en-US" altLang="zh-TW" smtClean="0"/>
              <a:t>4/16/26</a:t>
            </a:fld>
            <a:endParaRPr lang="en-US" dirty="0"/>
          </a:p>
        </p:txBody>
      </p:sp>
      <p:sp>
        <p:nvSpPr>
          <p:cNvPr id="5" name="投影片編號版面配置區 4">
            <a:extLst>
              <a:ext uri="{FF2B5EF4-FFF2-40B4-BE49-F238E27FC236}">
                <a16:creationId xmlns:a16="http://schemas.microsoft.com/office/drawing/2014/main" id="{659E82E4-DEA8-4D39-91A2-16CCC9D911EC}"/>
              </a:ext>
            </a:extLst>
          </p:cNvPr>
          <p:cNvSpPr>
            <a:spLocks noGrp="1"/>
          </p:cNvSpPr>
          <p:nvPr>
            <p:ph type="sldNum" sz="quarter" idx="12"/>
          </p:nvPr>
        </p:nvSpPr>
        <p:spPr/>
        <p:txBody>
          <a:bodyPr/>
          <a:lstStyle/>
          <a:p>
            <a:fld id="{4FAB73BC-B049-4115-A692-8D63A059BFB8}" type="slidenum">
              <a:rPr lang="en-US" smtClean="0"/>
              <a:t>24</a:t>
            </a:fld>
            <a:endParaRPr lang="en-US" dirty="0"/>
          </a:p>
        </p:txBody>
      </p:sp>
    </p:spTree>
    <p:extLst>
      <p:ext uri="{BB962C8B-B14F-4D97-AF65-F5344CB8AC3E}">
        <p14:creationId xmlns:p14="http://schemas.microsoft.com/office/powerpoint/2010/main" val="11651227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A2F09DB-5C10-4421-ABA6-9C582F9AADD3}"/>
              </a:ext>
            </a:extLst>
          </p:cNvPr>
          <p:cNvSpPr>
            <a:spLocks noGrp="1"/>
          </p:cNvSpPr>
          <p:nvPr>
            <p:ph type="title"/>
          </p:nvPr>
        </p:nvSpPr>
        <p:spPr/>
        <p:txBody>
          <a:bodyPr>
            <a:normAutofit/>
          </a:bodyPr>
          <a:lstStyle/>
          <a:p>
            <a:r>
              <a:rPr lang="en-US" altLang="zh-TW"/>
              <a:t>Feature selection</a:t>
            </a:r>
            <a:endParaRPr lang="zh-TW" altLang="en-US"/>
          </a:p>
        </p:txBody>
      </p:sp>
      <p:sp>
        <p:nvSpPr>
          <p:cNvPr id="3" name="內容版面配置區 2">
            <a:extLst>
              <a:ext uri="{FF2B5EF4-FFF2-40B4-BE49-F238E27FC236}">
                <a16:creationId xmlns:a16="http://schemas.microsoft.com/office/drawing/2014/main" id="{548A3BE5-778B-49DB-BD79-8F46DDF0ACF6}"/>
              </a:ext>
            </a:extLst>
          </p:cNvPr>
          <p:cNvSpPr>
            <a:spLocks noGrp="1"/>
          </p:cNvSpPr>
          <p:nvPr>
            <p:ph idx="1"/>
          </p:nvPr>
        </p:nvSpPr>
        <p:spPr/>
        <p:txBody>
          <a:bodyPr/>
          <a:lstStyle/>
          <a:p>
            <a:r>
              <a:rPr lang="zh-TW" altLang="en-US"/>
              <a:t>特徵選擇是從資料集中選擇對預測目標變數有直接貢獻的最重要變數的過程。</a:t>
            </a:r>
          </a:p>
          <a:p>
            <a:r>
              <a:rPr lang="zh-TW" altLang="en-US"/>
              <a:t>模型失敗並非因為演算法，而是因為特徵選擇錯誤。</a:t>
            </a:r>
          </a:p>
          <a:p>
            <a:r>
              <a:rPr lang="zh-TW" altLang="en-US"/>
              <a:t>慎選模型特徵可以解決三個核心問題</a:t>
            </a:r>
          </a:p>
          <a:p>
            <a:pPr lvl="1"/>
            <a:r>
              <a:rPr lang="zh-TW" altLang="en-US"/>
              <a:t>透過去除雜訊或誤導性特徵來提高模型精度</a:t>
            </a:r>
          </a:p>
          <a:p>
            <a:pPr lvl="1">
              <a:buFont typeface="Arial" panose="020B0604020202020204" pitchFamily="34" charset="0"/>
              <a:buChar char="•"/>
            </a:pPr>
            <a:r>
              <a:rPr lang="zh-TW" altLang="en-US"/>
              <a:t>透過消除不必要的複雜性</a:t>
            </a:r>
            <a:r>
              <a:rPr lang="zh-TW" altLang="en-US" b="1"/>
              <a:t>來減少過度擬合</a:t>
            </a:r>
            <a:r>
              <a:rPr lang="en-US" altLang="zh-TW"/>
              <a:t>(overfitting)</a:t>
            </a:r>
          </a:p>
          <a:p>
            <a:pPr lvl="1">
              <a:buFont typeface="Arial" panose="020B0604020202020204" pitchFamily="34" charset="0"/>
              <a:buChar char="•"/>
            </a:pPr>
            <a:r>
              <a:rPr lang="zh-TW" altLang="en-US"/>
              <a:t>使模型訓練和部署速度更快、成本更低</a:t>
            </a:r>
          </a:p>
          <a:p>
            <a:endParaRPr lang="zh-TW" altLang="en-US"/>
          </a:p>
        </p:txBody>
      </p:sp>
      <p:sp>
        <p:nvSpPr>
          <p:cNvPr id="4" name="日期版面配置區 3">
            <a:extLst>
              <a:ext uri="{FF2B5EF4-FFF2-40B4-BE49-F238E27FC236}">
                <a16:creationId xmlns:a16="http://schemas.microsoft.com/office/drawing/2014/main" id="{66E8C7F6-F638-48BD-AA60-DFCD0FB7E477}"/>
              </a:ext>
            </a:extLst>
          </p:cNvPr>
          <p:cNvSpPr>
            <a:spLocks noGrp="1"/>
          </p:cNvSpPr>
          <p:nvPr>
            <p:ph type="dt" sz="half" idx="10"/>
          </p:nvPr>
        </p:nvSpPr>
        <p:spPr/>
        <p:txBody>
          <a:bodyPr/>
          <a:lstStyle/>
          <a:p>
            <a:fld id="{1E905716-DAF1-411E-98FE-9F1872AB1861}" type="datetime1">
              <a:rPr lang="en-US" altLang="zh-TW" smtClean="0"/>
              <a:t>4/16/26</a:t>
            </a:fld>
            <a:endParaRPr lang="en-US" dirty="0"/>
          </a:p>
        </p:txBody>
      </p:sp>
      <p:sp>
        <p:nvSpPr>
          <p:cNvPr id="5" name="投影片編號版面配置區 4">
            <a:extLst>
              <a:ext uri="{FF2B5EF4-FFF2-40B4-BE49-F238E27FC236}">
                <a16:creationId xmlns:a16="http://schemas.microsoft.com/office/drawing/2014/main" id="{6E8504BD-D9BE-43BF-A296-94DCC6E15A6F}"/>
              </a:ext>
            </a:extLst>
          </p:cNvPr>
          <p:cNvSpPr>
            <a:spLocks noGrp="1"/>
          </p:cNvSpPr>
          <p:nvPr>
            <p:ph type="sldNum" sz="quarter" idx="12"/>
          </p:nvPr>
        </p:nvSpPr>
        <p:spPr/>
        <p:txBody>
          <a:bodyPr/>
          <a:lstStyle/>
          <a:p>
            <a:fld id="{4FAB73BC-B049-4115-A692-8D63A059BFB8}" type="slidenum">
              <a:rPr lang="en-US" smtClean="0"/>
              <a:t>25</a:t>
            </a:fld>
            <a:endParaRPr lang="en-US" dirty="0"/>
          </a:p>
        </p:txBody>
      </p:sp>
    </p:spTree>
    <p:extLst>
      <p:ext uri="{BB962C8B-B14F-4D97-AF65-F5344CB8AC3E}">
        <p14:creationId xmlns:p14="http://schemas.microsoft.com/office/powerpoint/2010/main" val="26806557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227174F-AC0F-4F75-8042-832A33AB1F75}"/>
              </a:ext>
            </a:extLst>
          </p:cNvPr>
          <p:cNvSpPr>
            <a:spLocks noGrp="1"/>
          </p:cNvSpPr>
          <p:nvPr>
            <p:ph type="title"/>
          </p:nvPr>
        </p:nvSpPr>
        <p:spPr/>
        <p:txBody>
          <a:bodyPr>
            <a:normAutofit/>
          </a:bodyPr>
          <a:lstStyle/>
          <a:p>
            <a:r>
              <a:rPr lang="zh-TW" altLang="en-US"/>
              <a:t>特徵選擇三種方法</a:t>
            </a:r>
          </a:p>
        </p:txBody>
      </p:sp>
      <p:sp>
        <p:nvSpPr>
          <p:cNvPr id="3" name="內容版面配置區 2">
            <a:extLst>
              <a:ext uri="{FF2B5EF4-FFF2-40B4-BE49-F238E27FC236}">
                <a16:creationId xmlns:a16="http://schemas.microsoft.com/office/drawing/2014/main" id="{1EB18BCB-0A70-4A63-A19F-608C37C2BF84}"/>
              </a:ext>
            </a:extLst>
          </p:cNvPr>
          <p:cNvSpPr>
            <a:spLocks noGrp="1"/>
          </p:cNvSpPr>
          <p:nvPr>
            <p:ph idx="1"/>
          </p:nvPr>
        </p:nvSpPr>
        <p:spPr/>
        <p:txBody>
          <a:bodyPr/>
          <a:lstStyle/>
          <a:p>
            <a:r>
              <a:rPr lang="zh-TW" altLang="en-US"/>
              <a:t>過濾方法</a:t>
            </a:r>
            <a:r>
              <a:rPr lang="en-US" altLang="zh-TW"/>
              <a:t>(Filter Methods)</a:t>
            </a:r>
          </a:p>
          <a:p>
            <a:pPr lvl="1"/>
            <a:r>
              <a:rPr lang="it-IT" altLang="zh-TW"/>
              <a:t>Correlation</a:t>
            </a:r>
          </a:p>
          <a:p>
            <a:pPr lvl="1"/>
            <a:r>
              <a:rPr lang="it-IT" altLang="zh-TW"/>
              <a:t>Chi-square test</a:t>
            </a:r>
          </a:p>
          <a:p>
            <a:pPr lvl="1"/>
            <a:r>
              <a:rPr lang="it-IT" altLang="zh-TW"/>
              <a:t>ANOVA</a:t>
            </a:r>
          </a:p>
          <a:p>
            <a:pPr lvl="1"/>
            <a:r>
              <a:rPr lang="it-IT" altLang="zh-TW"/>
              <a:t>Mutual information</a:t>
            </a:r>
            <a:endParaRPr lang="en-US" altLang="zh-TW"/>
          </a:p>
          <a:p>
            <a:r>
              <a:rPr lang="zh-TW" altLang="en-US"/>
              <a:t>包裝方法</a:t>
            </a:r>
            <a:r>
              <a:rPr lang="en-US" altLang="zh-TW"/>
              <a:t>(Wrapper Methods)</a:t>
            </a:r>
          </a:p>
          <a:p>
            <a:pPr lvl="1"/>
            <a:r>
              <a:rPr lang="en-US" altLang="zh-TW"/>
              <a:t>Forward Selection</a:t>
            </a:r>
          </a:p>
          <a:p>
            <a:pPr lvl="1"/>
            <a:r>
              <a:rPr lang="en-US" altLang="zh-TW"/>
              <a:t>Backward Elimination</a:t>
            </a:r>
          </a:p>
          <a:p>
            <a:pPr lvl="1"/>
            <a:r>
              <a:rPr lang="en-US" altLang="zh-TW"/>
              <a:t>Recursive Feature Elimination</a:t>
            </a:r>
            <a:r>
              <a:rPr lang="zh-TW" altLang="en-US"/>
              <a:t>，</a:t>
            </a:r>
            <a:r>
              <a:rPr lang="en-US" altLang="zh-TW"/>
              <a:t>RFE</a:t>
            </a:r>
          </a:p>
          <a:p>
            <a:r>
              <a:rPr lang="zh-TW" altLang="en-US"/>
              <a:t>嵌入式方法</a:t>
            </a:r>
            <a:r>
              <a:rPr lang="en-US" altLang="zh-TW"/>
              <a:t>(Embedded Methods)</a:t>
            </a:r>
          </a:p>
          <a:p>
            <a:pPr lvl="1"/>
            <a:r>
              <a:rPr lang="en-US" altLang="zh-TW"/>
              <a:t>Lasso (L1 Regularization)</a:t>
            </a:r>
          </a:p>
          <a:p>
            <a:pPr lvl="1"/>
            <a:r>
              <a:rPr lang="en-US" altLang="zh-TW"/>
              <a:t>Ridge (L2 Regularization)</a:t>
            </a:r>
          </a:p>
          <a:p>
            <a:pPr lvl="1"/>
            <a:r>
              <a:rPr lang="en-US" altLang="zh-TW"/>
              <a:t>Decision Tree feature importance</a:t>
            </a:r>
          </a:p>
          <a:p>
            <a:pPr lvl="1"/>
            <a:endParaRPr lang="en-US" altLang="zh-TW"/>
          </a:p>
          <a:p>
            <a:endParaRPr lang="zh-TW" altLang="en-US"/>
          </a:p>
        </p:txBody>
      </p:sp>
      <p:sp>
        <p:nvSpPr>
          <p:cNvPr id="4" name="日期版面配置區 3">
            <a:extLst>
              <a:ext uri="{FF2B5EF4-FFF2-40B4-BE49-F238E27FC236}">
                <a16:creationId xmlns:a16="http://schemas.microsoft.com/office/drawing/2014/main" id="{0FF91D7F-99C7-44F5-A17E-0715385CD4D9}"/>
              </a:ext>
            </a:extLst>
          </p:cNvPr>
          <p:cNvSpPr>
            <a:spLocks noGrp="1"/>
          </p:cNvSpPr>
          <p:nvPr>
            <p:ph type="dt" sz="half" idx="10"/>
          </p:nvPr>
        </p:nvSpPr>
        <p:spPr/>
        <p:txBody>
          <a:bodyPr/>
          <a:lstStyle/>
          <a:p>
            <a:fld id="{DDA6C788-E503-48DF-B619-C7A48C63C141}" type="datetime1">
              <a:rPr lang="en-US" altLang="zh-TW" smtClean="0"/>
              <a:t>4/16/26</a:t>
            </a:fld>
            <a:endParaRPr lang="en-US" dirty="0"/>
          </a:p>
        </p:txBody>
      </p:sp>
      <p:sp>
        <p:nvSpPr>
          <p:cNvPr id="5" name="投影片編號版面配置區 4">
            <a:extLst>
              <a:ext uri="{FF2B5EF4-FFF2-40B4-BE49-F238E27FC236}">
                <a16:creationId xmlns:a16="http://schemas.microsoft.com/office/drawing/2014/main" id="{34487424-1B47-4B22-9855-5E2B416518C6}"/>
              </a:ext>
            </a:extLst>
          </p:cNvPr>
          <p:cNvSpPr>
            <a:spLocks noGrp="1"/>
          </p:cNvSpPr>
          <p:nvPr>
            <p:ph type="sldNum" sz="quarter" idx="12"/>
          </p:nvPr>
        </p:nvSpPr>
        <p:spPr/>
        <p:txBody>
          <a:bodyPr/>
          <a:lstStyle/>
          <a:p>
            <a:fld id="{4FAB73BC-B049-4115-A692-8D63A059BFB8}" type="slidenum">
              <a:rPr lang="en-US" smtClean="0"/>
              <a:t>26</a:t>
            </a:fld>
            <a:endParaRPr lang="en-US" dirty="0"/>
          </a:p>
        </p:txBody>
      </p:sp>
    </p:spTree>
    <p:extLst>
      <p:ext uri="{BB962C8B-B14F-4D97-AF65-F5344CB8AC3E}">
        <p14:creationId xmlns:p14="http://schemas.microsoft.com/office/powerpoint/2010/main" val="16908564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6FC33EF-D6DC-4AB9-A71A-B384B25474DE}"/>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E197E10E-47A3-460D-A80C-FCD0E57B9599}"/>
              </a:ext>
            </a:extLst>
          </p:cNvPr>
          <p:cNvSpPr>
            <a:spLocks noGrp="1"/>
          </p:cNvSpPr>
          <p:nvPr>
            <p:ph idx="1"/>
          </p:nvPr>
        </p:nvSpPr>
        <p:spPr/>
        <p:txBody>
          <a:bodyPr>
            <a:normAutofit/>
          </a:bodyPr>
          <a:lstStyle/>
          <a:p>
            <a:r>
              <a:rPr lang="zh-TW" altLang="en-US"/>
              <a:t>相關性分析</a:t>
            </a:r>
            <a:r>
              <a:rPr lang="en-US" altLang="zh-TW"/>
              <a:t>: </a:t>
            </a:r>
            <a:r>
              <a:rPr lang="zh-TW" altLang="en-US"/>
              <a:t>檢視特徵與目標之間是否有有意義的關係，有助於移除不具備預測價值的特徵。強正相關及強負相關表示特徵對預測結果有用，零相關性或低相關性表示特徵對預測結果通常無用</a:t>
            </a:r>
            <a:endParaRPr lang="en-US" altLang="zh-TW"/>
          </a:p>
          <a:p>
            <a:r>
              <a:rPr lang="zh-TW" altLang="en-US"/>
              <a:t>卡方檢定</a:t>
            </a:r>
            <a:r>
              <a:rPr lang="en-US" altLang="zh-TW"/>
              <a:t>: </a:t>
            </a:r>
            <a:r>
              <a:rPr lang="zh-TW" altLang="en-US"/>
              <a:t>用於分類特徵。 檢查特徵與目標類別的關聯強度。</a:t>
            </a:r>
          </a:p>
          <a:p>
            <a:r>
              <a:rPr lang="zh-TW" altLang="en-US"/>
              <a:t>互資訊</a:t>
            </a:r>
            <a:r>
              <a:rPr lang="en-US" altLang="zh-TW"/>
              <a:t>(mutual infomation): </a:t>
            </a:r>
            <a:r>
              <a:rPr lang="zh-TW" altLang="en-US"/>
              <a:t>衡量一個特徵能提供多少關於目標的「資訊」，適用於數值型資料及類別型資料。</a:t>
            </a:r>
          </a:p>
          <a:p>
            <a:r>
              <a:rPr lang="zh-TW" altLang="en-US"/>
              <a:t>方差閾值</a:t>
            </a:r>
            <a:r>
              <a:rPr lang="en-US" altLang="zh-TW"/>
              <a:t>: </a:t>
            </a:r>
            <a:r>
              <a:rPr lang="zh-TW" altLang="en-US"/>
              <a:t>變異數非常低（大多為相同值）的特徵是無用的。</a:t>
            </a:r>
            <a:endParaRPr lang="en-US" altLang="zh-TW"/>
          </a:p>
          <a:p>
            <a:r>
              <a:rPr lang="zh-TW" altLang="en-US"/>
              <a:t>前向選擇</a:t>
            </a:r>
            <a:r>
              <a:rPr lang="en-US" altLang="zh-TW"/>
              <a:t>: </a:t>
            </a:r>
            <a:r>
              <a:rPr lang="zh-TW" altLang="en-US"/>
              <a:t>一開始不增加任何功能。 逐一添加功能，並保留那些能提升效能的功能。</a:t>
            </a:r>
            <a:endParaRPr lang="en-US" altLang="zh-TW"/>
          </a:p>
          <a:p>
            <a:r>
              <a:rPr lang="zh-TW" altLang="en-US"/>
              <a:t>後向淘汰賽</a:t>
            </a:r>
            <a:r>
              <a:rPr lang="en-US" altLang="zh-TW"/>
              <a:t>: </a:t>
            </a:r>
            <a:r>
              <a:rPr lang="zh-TW" altLang="en-US"/>
              <a:t>先從所有功能入手。 移除那些會影響效能的功能。</a:t>
            </a:r>
            <a:endParaRPr lang="en-US" altLang="zh-TW"/>
          </a:p>
          <a:p>
            <a:r>
              <a:rPr lang="zh-TW" altLang="en-US"/>
              <a:t>遞歸特徵消除</a:t>
            </a:r>
            <a:r>
              <a:rPr lang="en-US" altLang="zh-TW"/>
              <a:t>(RFE): </a:t>
            </a:r>
            <a:r>
              <a:rPr lang="zh-TW" altLang="en-US"/>
              <a:t>訓練模型，將特徵的重要性排序，刪除最不重要的特徵，然後重複此過程</a:t>
            </a:r>
          </a:p>
          <a:p>
            <a:endParaRPr lang="zh-TW" altLang="en-US"/>
          </a:p>
        </p:txBody>
      </p:sp>
      <p:sp>
        <p:nvSpPr>
          <p:cNvPr id="4" name="日期版面配置區 3">
            <a:extLst>
              <a:ext uri="{FF2B5EF4-FFF2-40B4-BE49-F238E27FC236}">
                <a16:creationId xmlns:a16="http://schemas.microsoft.com/office/drawing/2014/main" id="{DD7EA7DA-7614-47A6-BF22-ED42D8A665A5}"/>
              </a:ext>
            </a:extLst>
          </p:cNvPr>
          <p:cNvSpPr>
            <a:spLocks noGrp="1"/>
          </p:cNvSpPr>
          <p:nvPr>
            <p:ph type="dt" sz="half" idx="10"/>
          </p:nvPr>
        </p:nvSpPr>
        <p:spPr/>
        <p:txBody>
          <a:bodyPr/>
          <a:lstStyle/>
          <a:p>
            <a:fld id="{DDA6C788-E503-48DF-B619-C7A48C63C141}" type="datetime1">
              <a:rPr lang="en-US" altLang="zh-TW" smtClean="0"/>
              <a:t>4/16/26</a:t>
            </a:fld>
            <a:endParaRPr lang="en-US" dirty="0"/>
          </a:p>
        </p:txBody>
      </p:sp>
      <p:sp>
        <p:nvSpPr>
          <p:cNvPr id="5" name="投影片編號版面配置區 4">
            <a:extLst>
              <a:ext uri="{FF2B5EF4-FFF2-40B4-BE49-F238E27FC236}">
                <a16:creationId xmlns:a16="http://schemas.microsoft.com/office/drawing/2014/main" id="{4E25F865-5F6C-4245-968D-39FD8AE42D67}"/>
              </a:ext>
            </a:extLst>
          </p:cNvPr>
          <p:cNvSpPr>
            <a:spLocks noGrp="1"/>
          </p:cNvSpPr>
          <p:nvPr>
            <p:ph type="sldNum" sz="quarter" idx="12"/>
          </p:nvPr>
        </p:nvSpPr>
        <p:spPr/>
        <p:txBody>
          <a:bodyPr/>
          <a:lstStyle/>
          <a:p>
            <a:fld id="{4FAB73BC-B049-4115-A692-8D63A059BFB8}" type="slidenum">
              <a:rPr lang="en-US" smtClean="0"/>
              <a:t>27</a:t>
            </a:fld>
            <a:endParaRPr lang="en-US" dirty="0"/>
          </a:p>
        </p:txBody>
      </p:sp>
    </p:spTree>
    <p:extLst>
      <p:ext uri="{BB962C8B-B14F-4D97-AF65-F5344CB8AC3E}">
        <p14:creationId xmlns:p14="http://schemas.microsoft.com/office/powerpoint/2010/main" val="23408072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897708B-356F-47F9-AC5D-20D5AF2E2D21}"/>
              </a:ext>
            </a:extLst>
          </p:cNvPr>
          <p:cNvSpPr>
            <a:spLocks noGrp="1"/>
          </p:cNvSpPr>
          <p:nvPr>
            <p:ph type="title"/>
          </p:nvPr>
        </p:nvSpPr>
        <p:spPr/>
        <p:txBody>
          <a:bodyPr>
            <a:normAutofit/>
          </a:bodyPr>
          <a:lstStyle/>
          <a:p>
            <a:r>
              <a:rPr lang="zh-TW" altLang="en-US"/>
              <a:t>實用特徵選擇工作流程</a:t>
            </a:r>
          </a:p>
        </p:txBody>
      </p:sp>
      <p:sp>
        <p:nvSpPr>
          <p:cNvPr id="3" name="內容版面配置區 2">
            <a:extLst>
              <a:ext uri="{FF2B5EF4-FFF2-40B4-BE49-F238E27FC236}">
                <a16:creationId xmlns:a16="http://schemas.microsoft.com/office/drawing/2014/main" id="{C36F1D13-F9F3-4B37-8DB9-DAC66A8EB9AB}"/>
              </a:ext>
            </a:extLst>
          </p:cNvPr>
          <p:cNvSpPr>
            <a:spLocks noGrp="1"/>
          </p:cNvSpPr>
          <p:nvPr>
            <p:ph idx="1"/>
          </p:nvPr>
        </p:nvSpPr>
        <p:spPr/>
        <p:txBody>
          <a:bodyPr/>
          <a:lstStyle/>
          <a:p>
            <a:r>
              <a:rPr lang="zh-TW" altLang="en-US"/>
              <a:t>步驟 </a:t>
            </a:r>
            <a:r>
              <a:rPr lang="en-US" altLang="zh-TW"/>
              <a:t>1</a:t>
            </a:r>
            <a:r>
              <a:rPr lang="zh-TW" altLang="en-US"/>
              <a:t>：清除垃圾</a:t>
            </a:r>
            <a:endParaRPr lang="en-US" altLang="zh-TW"/>
          </a:p>
          <a:p>
            <a:r>
              <a:rPr lang="zh-TW" altLang="en-US"/>
              <a:t>步驟 </a:t>
            </a:r>
            <a:r>
              <a:rPr lang="en-US" altLang="zh-TW"/>
              <a:t>2</a:t>
            </a:r>
            <a:r>
              <a:rPr lang="zh-TW" altLang="en-US"/>
              <a:t>：處理缺失值</a:t>
            </a:r>
            <a:endParaRPr lang="en-US" altLang="zh-TW"/>
          </a:p>
          <a:p>
            <a:r>
              <a:rPr lang="zh-TW" altLang="en-US"/>
              <a:t>步驟</a:t>
            </a:r>
            <a:r>
              <a:rPr lang="en-US" altLang="zh-TW"/>
              <a:t>3</a:t>
            </a:r>
            <a:r>
              <a:rPr lang="zh-TW" altLang="en-US"/>
              <a:t>：檢查相關性，移除高度相關的資料對</a:t>
            </a:r>
            <a:endParaRPr lang="en-US" altLang="zh-TW"/>
          </a:p>
          <a:p>
            <a:r>
              <a:rPr lang="zh-TW" altLang="en-US"/>
              <a:t>步驟 </a:t>
            </a:r>
            <a:r>
              <a:rPr lang="en-US" altLang="zh-TW"/>
              <a:t>4</a:t>
            </a:r>
            <a:r>
              <a:rPr lang="zh-TW" altLang="en-US"/>
              <a:t>：使用篩選方法，使用互資訊或卡方檢定進行篩選</a:t>
            </a:r>
            <a:endParaRPr lang="en-US" altLang="zh-TW"/>
          </a:p>
          <a:p>
            <a:r>
              <a:rPr lang="zh-TW" altLang="en-US"/>
              <a:t>步驟 </a:t>
            </a:r>
            <a:r>
              <a:rPr lang="en-US" altLang="zh-TW"/>
              <a:t>5</a:t>
            </a:r>
            <a:r>
              <a:rPr lang="zh-TW" altLang="en-US"/>
              <a:t>：使用嵌入式方法，訓練一個基本的隨機森林或 </a:t>
            </a:r>
            <a:r>
              <a:rPr lang="en-US" altLang="zh-TW"/>
              <a:t>Lasso </a:t>
            </a:r>
            <a:r>
              <a:rPr lang="zh-TW" altLang="en-US"/>
              <a:t>模型來檢驗重要性</a:t>
            </a:r>
          </a:p>
          <a:p>
            <a:r>
              <a:rPr lang="zh-TW" altLang="en-US"/>
              <a:t>步驟 </a:t>
            </a:r>
            <a:r>
              <a:rPr lang="en-US" altLang="zh-TW"/>
              <a:t>6</a:t>
            </a:r>
            <a:r>
              <a:rPr lang="zh-TW" altLang="en-US"/>
              <a:t>：使用 </a:t>
            </a:r>
            <a:r>
              <a:rPr lang="en-US" altLang="zh-TW"/>
              <a:t>RFE </a:t>
            </a:r>
            <a:r>
              <a:rPr lang="zh-TW" altLang="en-US"/>
              <a:t>或包裝器方法，優化最終子集</a:t>
            </a:r>
          </a:p>
          <a:p>
            <a:r>
              <a:rPr lang="zh-TW" altLang="en-US"/>
              <a:t>步驟 </a:t>
            </a:r>
            <a:r>
              <a:rPr lang="en-US" altLang="zh-TW"/>
              <a:t>7</a:t>
            </a:r>
            <a:r>
              <a:rPr lang="zh-TW" altLang="en-US"/>
              <a:t>：使用交叉驗證進行驗證， 確保所選特徵具有普遍性</a:t>
            </a:r>
          </a:p>
          <a:p>
            <a:r>
              <a:rPr lang="zh-TW" altLang="en-US"/>
              <a:t>步驟 </a:t>
            </a:r>
            <a:r>
              <a:rPr lang="en-US" altLang="zh-TW"/>
              <a:t>8</a:t>
            </a:r>
            <a:r>
              <a:rPr lang="zh-TW" altLang="en-US"/>
              <a:t>：記錄每次選擇，保證流程的可複現性</a:t>
            </a:r>
          </a:p>
          <a:p>
            <a:endParaRPr lang="zh-TW" altLang="en-US"/>
          </a:p>
          <a:p>
            <a:endParaRPr lang="zh-TW" altLang="en-US"/>
          </a:p>
        </p:txBody>
      </p:sp>
      <p:sp>
        <p:nvSpPr>
          <p:cNvPr id="4" name="日期版面配置區 3">
            <a:extLst>
              <a:ext uri="{FF2B5EF4-FFF2-40B4-BE49-F238E27FC236}">
                <a16:creationId xmlns:a16="http://schemas.microsoft.com/office/drawing/2014/main" id="{22F7801C-88C3-48D6-8267-D571A6F9D4F2}"/>
              </a:ext>
            </a:extLst>
          </p:cNvPr>
          <p:cNvSpPr>
            <a:spLocks noGrp="1"/>
          </p:cNvSpPr>
          <p:nvPr>
            <p:ph type="dt" sz="half" idx="10"/>
          </p:nvPr>
        </p:nvSpPr>
        <p:spPr/>
        <p:txBody>
          <a:bodyPr/>
          <a:lstStyle/>
          <a:p>
            <a:fld id="{DDA6C788-E503-48DF-B619-C7A48C63C141}" type="datetime1">
              <a:rPr lang="en-US" altLang="zh-TW" smtClean="0"/>
              <a:t>4/16/26</a:t>
            </a:fld>
            <a:endParaRPr lang="en-US" dirty="0"/>
          </a:p>
        </p:txBody>
      </p:sp>
      <p:sp>
        <p:nvSpPr>
          <p:cNvPr id="5" name="投影片編號版面配置區 4">
            <a:extLst>
              <a:ext uri="{FF2B5EF4-FFF2-40B4-BE49-F238E27FC236}">
                <a16:creationId xmlns:a16="http://schemas.microsoft.com/office/drawing/2014/main" id="{0D545351-8ED2-410A-934B-8546B67AAFCE}"/>
              </a:ext>
            </a:extLst>
          </p:cNvPr>
          <p:cNvSpPr>
            <a:spLocks noGrp="1"/>
          </p:cNvSpPr>
          <p:nvPr>
            <p:ph type="sldNum" sz="quarter" idx="12"/>
          </p:nvPr>
        </p:nvSpPr>
        <p:spPr/>
        <p:txBody>
          <a:bodyPr/>
          <a:lstStyle/>
          <a:p>
            <a:fld id="{4FAB73BC-B049-4115-A692-8D63A059BFB8}" type="slidenum">
              <a:rPr lang="en-US" smtClean="0"/>
              <a:t>28</a:t>
            </a:fld>
            <a:endParaRPr lang="en-US" dirty="0"/>
          </a:p>
        </p:txBody>
      </p:sp>
    </p:spTree>
    <p:extLst>
      <p:ext uri="{BB962C8B-B14F-4D97-AF65-F5344CB8AC3E}">
        <p14:creationId xmlns:p14="http://schemas.microsoft.com/office/powerpoint/2010/main" val="19937173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751AADF-7524-4E6B-8053-764D96E34858}"/>
              </a:ext>
            </a:extLst>
          </p:cNvPr>
          <p:cNvSpPr>
            <a:spLocks noGrp="1"/>
          </p:cNvSpPr>
          <p:nvPr>
            <p:ph type="title"/>
          </p:nvPr>
        </p:nvSpPr>
        <p:spPr/>
        <p:txBody>
          <a:bodyPr>
            <a:normAutofit/>
          </a:bodyPr>
          <a:lstStyle/>
          <a:p>
            <a:r>
              <a:rPr lang="en-US" altLang="zh-TW"/>
              <a:t>Handling imbalanced data</a:t>
            </a:r>
            <a:endParaRPr lang="zh-TW" altLang="en-US"/>
          </a:p>
        </p:txBody>
      </p:sp>
      <p:sp>
        <p:nvSpPr>
          <p:cNvPr id="3" name="內容版面配置區 2">
            <a:extLst>
              <a:ext uri="{FF2B5EF4-FFF2-40B4-BE49-F238E27FC236}">
                <a16:creationId xmlns:a16="http://schemas.microsoft.com/office/drawing/2014/main" id="{0109D640-5525-48E4-9100-4C6C800496CF}"/>
              </a:ext>
            </a:extLst>
          </p:cNvPr>
          <p:cNvSpPr>
            <a:spLocks noGrp="1"/>
          </p:cNvSpPr>
          <p:nvPr>
            <p:ph idx="1"/>
          </p:nvPr>
        </p:nvSpPr>
        <p:spPr>
          <a:xfrm>
            <a:off x="483638" y="1166327"/>
            <a:ext cx="6611226" cy="5187820"/>
          </a:xfrm>
        </p:spPr>
        <p:txBody>
          <a:bodyPr/>
          <a:lstStyle/>
          <a:p>
            <a:r>
              <a:rPr lang="zh-TW" altLang="en-US" sz="2400" b="1">
                <a:latin typeface="+mn-ea"/>
              </a:rPr>
              <a:t>機器學習分類模型對於</a:t>
            </a:r>
            <a:r>
              <a:rPr lang="zh-TW" altLang="en-US" sz="2400" b="1">
                <a:solidFill>
                  <a:srgbClr val="C00000"/>
                </a:solidFill>
                <a:latin typeface="+mn-ea"/>
              </a:rPr>
              <a:t>類別資料分佈不平衡</a:t>
            </a:r>
            <a:r>
              <a:rPr lang="zh-TW" altLang="en-US" sz="2400" b="1">
                <a:latin typeface="+mn-ea"/>
              </a:rPr>
              <a:t>的效能不佳，因為模型</a:t>
            </a:r>
            <a:r>
              <a:rPr lang="zh-TW" altLang="en-US" sz="2400" b="1" u="sng">
                <a:latin typeface="+mn-ea"/>
              </a:rPr>
              <a:t>分類結果傾向至資料多數的類別</a:t>
            </a:r>
            <a:endParaRPr lang="en-US" altLang="zh-TW" sz="2400" b="1" u="sng">
              <a:latin typeface="+mn-ea"/>
            </a:endParaRPr>
          </a:p>
          <a:p>
            <a:pPr>
              <a:lnSpc>
                <a:spcPct val="110000"/>
              </a:lnSpc>
            </a:pPr>
            <a:r>
              <a:rPr lang="zh-TW" altLang="en-US"/>
              <a:t>解決方法</a:t>
            </a:r>
            <a:endParaRPr lang="en-US" altLang="zh-TW"/>
          </a:p>
          <a:p>
            <a:pPr lvl="1">
              <a:lnSpc>
                <a:spcPct val="110000"/>
              </a:lnSpc>
            </a:pPr>
            <a:r>
              <a:rPr lang="zh-TW" altLang="en-US" sz="2400">
                <a:solidFill>
                  <a:srgbClr val="0000FF"/>
                </a:solidFill>
              </a:rPr>
              <a:t>權重法</a:t>
            </a:r>
            <a:r>
              <a:rPr lang="en-US" altLang="zh-TW" sz="2400"/>
              <a:t>:</a:t>
            </a:r>
            <a:r>
              <a:rPr lang="zh-TW" altLang="en-US" sz="2400"/>
              <a:t>依據成本敏感概念，訓練模型時改變不平衡分類時多數資料類別與少數資料類別的權重</a:t>
            </a:r>
            <a:endParaRPr lang="en-US" altLang="zh-TW" sz="2400"/>
          </a:p>
          <a:p>
            <a:pPr lvl="1">
              <a:lnSpc>
                <a:spcPct val="110000"/>
              </a:lnSpc>
            </a:pPr>
            <a:r>
              <a:rPr lang="zh-TW" altLang="en-US" sz="2400">
                <a:solidFill>
                  <a:srgbClr val="0000FF"/>
                </a:solidFill>
              </a:rPr>
              <a:t>上採樣</a:t>
            </a:r>
            <a:r>
              <a:rPr lang="zh-TW" altLang="en-US" sz="2400"/>
              <a:t> </a:t>
            </a:r>
            <a:r>
              <a:rPr lang="en-US" altLang="zh-TW" sz="2400"/>
              <a:t>(Oversampling):</a:t>
            </a:r>
            <a:r>
              <a:rPr lang="zh-TW" altLang="en-US" sz="2400"/>
              <a:t>由少數資料類別抽樣新的資料樣本擴充少數資料類別的樣本量</a:t>
            </a:r>
            <a:endParaRPr lang="en-US" altLang="zh-TW" sz="2400"/>
          </a:p>
          <a:p>
            <a:pPr lvl="1">
              <a:lnSpc>
                <a:spcPct val="110000"/>
              </a:lnSpc>
            </a:pPr>
            <a:r>
              <a:rPr lang="zh-TW" altLang="en-US" sz="2400">
                <a:solidFill>
                  <a:srgbClr val="0000FF"/>
                </a:solidFill>
              </a:rPr>
              <a:t>下採樣</a:t>
            </a:r>
            <a:r>
              <a:rPr lang="zh-TW" altLang="en-US" sz="2400"/>
              <a:t> </a:t>
            </a:r>
            <a:r>
              <a:rPr lang="en-US" altLang="zh-TW" sz="2400"/>
              <a:t>(Undersampling):</a:t>
            </a:r>
            <a:r>
              <a:rPr lang="zh-TW" altLang="en-US" sz="2400"/>
              <a:t>由多數資料類別中隨機採樣選取與少數資料類別相同數量的資料</a:t>
            </a:r>
            <a:endParaRPr lang="en-US" altLang="zh-TW" sz="2400"/>
          </a:p>
          <a:p>
            <a:endParaRPr lang="en-US" altLang="zh-TW" sz="2400" b="1">
              <a:latin typeface="+mn-ea"/>
            </a:endParaRPr>
          </a:p>
          <a:p>
            <a:endParaRPr lang="zh-TW" altLang="en-US"/>
          </a:p>
        </p:txBody>
      </p:sp>
      <p:sp>
        <p:nvSpPr>
          <p:cNvPr id="4" name="日期版面配置區 3">
            <a:extLst>
              <a:ext uri="{FF2B5EF4-FFF2-40B4-BE49-F238E27FC236}">
                <a16:creationId xmlns:a16="http://schemas.microsoft.com/office/drawing/2014/main" id="{55A9F22A-6DE9-48AC-B24A-4CF1D968824C}"/>
              </a:ext>
            </a:extLst>
          </p:cNvPr>
          <p:cNvSpPr>
            <a:spLocks noGrp="1"/>
          </p:cNvSpPr>
          <p:nvPr>
            <p:ph type="dt" sz="half" idx="10"/>
          </p:nvPr>
        </p:nvSpPr>
        <p:spPr/>
        <p:txBody>
          <a:bodyPr/>
          <a:lstStyle/>
          <a:p>
            <a:fld id="{47EFDDB5-8646-4F77-8873-7ACBA4EE6FC8}" type="datetime1">
              <a:rPr lang="en-US" altLang="zh-TW" smtClean="0"/>
              <a:t>4/16/26</a:t>
            </a:fld>
            <a:endParaRPr lang="en-US" dirty="0"/>
          </a:p>
        </p:txBody>
      </p:sp>
      <p:sp>
        <p:nvSpPr>
          <p:cNvPr id="5" name="投影片編號版面配置區 4">
            <a:extLst>
              <a:ext uri="{FF2B5EF4-FFF2-40B4-BE49-F238E27FC236}">
                <a16:creationId xmlns:a16="http://schemas.microsoft.com/office/drawing/2014/main" id="{39BE9229-4D73-46DB-ADC3-9785A99FED6A}"/>
              </a:ext>
            </a:extLst>
          </p:cNvPr>
          <p:cNvSpPr>
            <a:spLocks noGrp="1"/>
          </p:cNvSpPr>
          <p:nvPr>
            <p:ph type="sldNum" sz="quarter" idx="12"/>
          </p:nvPr>
        </p:nvSpPr>
        <p:spPr/>
        <p:txBody>
          <a:bodyPr/>
          <a:lstStyle/>
          <a:p>
            <a:fld id="{4FAB73BC-B049-4115-A692-8D63A059BFB8}" type="slidenum">
              <a:rPr lang="en-US" smtClean="0"/>
              <a:t>29</a:t>
            </a:fld>
            <a:endParaRPr lang="en-US" dirty="0"/>
          </a:p>
        </p:txBody>
      </p:sp>
      <p:pic>
        <p:nvPicPr>
          <p:cNvPr id="6" name="圖片 5">
            <a:extLst>
              <a:ext uri="{FF2B5EF4-FFF2-40B4-BE49-F238E27FC236}">
                <a16:creationId xmlns:a16="http://schemas.microsoft.com/office/drawing/2014/main" id="{2E97678F-7DC4-4B27-9DA6-A6E274DA1AC3}"/>
              </a:ext>
            </a:extLst>
          </p:cNvPr>
          <p:cNvPicPr>
            <a:picLocks noChangeAspect="1"/>
          </p:cNvPicPr>
          <p:nvPr/>
        </p:nvPicPr>
        <p:blipFill>
          <a:blip r:embed="rId2"/>
          <a:stretch>
            <a:fillRect/>
          </a:stretch>
        </p:blipFill>
        <p:spPr>
          <a:xfrm>
            <a:off x="7094864" y="1839335"/>
            <a:ext cx="4803352" cy="3354883"/>
          </a:xfrm>
          <a:prstGeom prst="rect">
            <a:avLst/>
          </a:prstGeom>
        </p:spPr>
      </p:pic>
    </p:spTree>
    <p:extLst>
      <p:ext uri="{BB962C8B-B14F-4D97-AF65-F5344CB8AC3E}">
        <p14:creationId xmlns:p14="http://schemas.microsoft.com/office/powerpoint/2010/main" val="29977018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EC7ADE9-6603-48E4-9DF9-50E91594FC16}"/>
              </a:ext>
            </a:extLst>
          </p:cNvPr>
          <p:cNvSpPr>
            <a:spLocks noGrp="1"/>
          </p:cNvSpPr>
          <p:nvPr>
            <p:ph type="title"/>
          </p:nvPr>
        </p:nvSpPr>
        <p:spPr>
          <a:xfrm>
            <a:off x="385589" y="89293"/>
            <a:ext cx="11314323" cy="1325563"/>
          </a:xfrm>
        </p:spPr>
        <p:txBody>
          <a:bodyPr>
            <a:noAutofit/>
          </a:bodyPr>
          <a:lstStyle/>
          <a:p>
            <a:r>
              <a:rPr lang="zh-TW" altLang="en-US" sz="4800" dirty="0"/>
              <a:t>資料下採樣建模概念</a:t>
            </a:r>
            <a:r>
              <a:rPr lang="en-US" altLang="zh-TW" sz="4800" dirty="0"/>
              <a:t>(</a:t>
            </a:r>
            <a:r>
              <a:rPr lang="zh-TW" altLang="en-US" sz="4800" dirty="0"/>
              <a:t>解決資料不平衡建模</a:t>
            </a:r>
            <a:r>
              <a:rPr lang="en-US" altLang="zh-TW" sz="4800" dirty="0"/>
              <a:t>)</a:t>
            </a:r>
            <a:endParaRPr lang="zh-TW" altLang="en-US" sz="4800" dirty="0"/>
          </a:p>
        </p:txBody>
      </p:sp>
      <p:sp>
        <p:nvSpPr>
          <p:cNvPr id="4" name="矩形 3">
            <a:extLst>
              <a:ext uri="{FF2B5EF4-FFF2-40B4-BE49-F238E27FC236}">
                <a16:creationId xmlns:a16="http://schemas.microsoft.com/office/drawing/2014/main" id="{2D17A46C-DE35-4EF1-A448-A5ACCC629FB6}"/>
              </a:ext>
            </a:extLst>
          </p:cNvPr>
          <p:cNvSpPr/>
          <p:nvPr/>
        </p:nvSpPr>
        <p:spPr>
          <a:xfrm>
            <a:off x="1143000" y="2528094"/>
            <a:ext cx="711200" cy="66040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矩形 4">
            <a:extLst>
              <a:ext uri="{FF2B5EF4-FFF2-40B4-BE49-F238E27FC236}">
                <a16:creationId xmlns:a16="http://schemas.microsoft.com/office/drawing/2014/main" id="{750AA687-613F-4B67-AF27-E18A09CF24AB}"/>
              </a:ext>
            </a:extLst>
          </p:cNvPr>
          <p:cNvSpPr/>
          <p:nvPr/>
        </p:nvSpPr>
        <p:spPr>
          <a:xfrm>
            <a:off x="2554246" y="3179763"/>
            <a:ext cx="711200" cy="66040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矩形 5">
            <a:extLst>
              <a:ext uri="{FF2B5EF4-FFF2-40B4-BE49-F238E27FC236}">
                <a16:creationId xmlns:a16="http://schemas.microsoft.com/office/drawing/2014/main" id="{03165271-3ABE-4B3F-9E88-2C27F7EA55C2}"/>
              </a:ext>
            </a:extLst>
          </p:cNvPr>
          <p:cNvSpPr/>
          <p:nvPr/>
        </p:nvSpPr>
        <p:spPr>
          <a:xfrm>
            <a:off x="1143000" y="3186906"/>
            <a:ext cx="711200" cy="66040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矩形 6">
            <a:extLst>
              <a:ext uri="{FF2B5EF4-FFF2-40B4-BE49-F238E27FC236}">
                <a16:creationId xmlns:a16="http://schemas.microsoft.com/office/drawing/2014/main" id="{6D9B6F6A-6483-4CA0-9687-AC81B19A9A42}"/>
              </a:ext>
            </a:extLst>
          </p:cNvPr>
          <p:cNvSpPr/>
          <p:nvPr/>
        </p:nvSpPr>
        <p:spPr>
          <a:xfrm>
            <a:off x="1854200" y="3186112"/>
            <a:ext cx="711200" cy="66040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8" name="矩形 7">
            <a:extLst>
              <a:ext uri="{FF2B5EF4-FFF2-40B4-BE49-F238E27FC236}">
                <a16:creationId xmlns:a16="http://schemas.microsoft.com/office/drawing/2014/main" id="{A0B4EE7B-103A-4D17-8470-499BC8EDEFD6}"/>
              </a:ext>
            </a:extLst>
          </p:cNvPr>
          <p:cNvSpPr/>
          <p:nvPr/>
        </p:nvSpPr>
        <p:spPr>
          <a:xfrm>
            <a:off x="1854200" y="3833812"/>
            <a:ext cx="711200" cy="66040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矩形 9">
            <a:extLst>
              <a:ext uri="{FF2B5EF4-FFF2-40B4-BE49-F238E27FC236}">
                <a16:creationId xmlns:a16="http://schemas.microsoft.com/office/drawing/2014/main" id="{6A3A856B-517D-4989-AD50-D1EA6F3B3EC9}"/>
              </a:ext>
            </a:extLst>
          </p:cNvPr>
          <p:cNvSpPr/>
          <p:nvPr/>
        </p:nvSpPr>
        <p:spPr>
          <a:xfrm>
            <a:off x="1143000" y="3833812"/>
            <a:ext cx="711200" cy="66040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矩形 10">
            <a:extLst>
              <a:ext uri="{FF2B5EF4-FFF2-40B4-BE49-F238E27FC236}">
                <a16:creationId xmlns:a16="http://schemas.microsoft.com/office/drawing/2014/main" id="{D5E9A01A-C06F-424A-9085-C615A4AAF968}"/>
              </a:ext>
            </a:extLst>
          </p:cNvPr>
          <p:cNvSpPr/>
          <p:nvPr/>
        </p:nvSpPr>
        <p:spPr>
          <a:xfrm>
            <a:off x="1854200" y="2525712"/>
            <a:ext cx="711200" cy="66040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矩形 11">
            <a:extLst>
              <a:ext uri="{FF2B5EF4-FFF2-40B4-BE49-F238E27FC236}">
                <a16:creationId xmlns:a16="http://schemas.microsoft.com/office/drawing/2014/main" id="{DA796219-D2DF-4782-9496-3931A0D818E4}"/>
              </a:ext>
            </a:extLst>
          </p:cNvPr>
          <p:cNvSpPr/>
          <p:nvPr/>
        </p:nvSpPr>
        <p:spPr>
          <a:xfrm>
            <a:off x="1498600" y="5421312"/>
            <a:ext cx="711200" cy="6604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矩形 12">
            <a:extLst>
              <a:ext uri="{FF2B5EF4-FFF2-40B4-BE49-F238E27FC236}">
                <a16:creationId xmlns:a16="http://schemas.microsoft.com/office/drawing/2014/main" id="{7CE6C04E-2BF3-4359-8183-8EF9DA27C0D5}"/>
              </a:ext>
            </a:extLst>
          </p:cNvPr>
          <p:cNvSpPr/>
          <p:nvPr/>
        </p:nvSpPr>
        <p:spPr>
          <a:xfrm>
            <a:off x="5092700" y="3198812"/>
            <a:ext cx="711200" cy="66040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矩形 13">
            <a:extLst>
              <a:ext uri="{FF2B5EF4-FFF2-40B4-BE49-F238E27FC236}">
                <a16:creationId xmlns:a16="http://schemas.microsoft.com/office/drawing/2014/main" id="{5E400F7E-810A-4807-BADE-AE20539B4EAC}"/>
              </a:ext>
            </a:extLst>
          </p:cNvPr>
          <p:cNvSpPr/>
          <p:nvPr/>
        </p:nvSpPr>
        <p:spPr>
          <a:xfrm>
            <a:off x="5092700" y="5421312"/>
            <a:ext cx="711200" cy="6604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16" name="圖片 15">
            <a:extLst>
              <a:ext uri="{FF2B5EF4-FFF2-40B4-BE49-F238E27FC236}">
                <a16:creationId xmlns:a16="http://schemas.microsoft.com/office/drawing/2014/main" id="{8AF866E9-1FAE-4CB8-B346-E5579550903D}"/>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0" b="89862" l="9654" r="89982">
                        <a14:foregroundMark x1="22783" y1="32429" x2="30237" y2="92627"/>
                        <a14:foregroundMark x1="20765" y1="16129" x2="22307" y2="28579"/>
                        <a14:foregroundMark x1="30237" y1="92627" x2="87614" y2="61521"/>
                        <a14:foregroundMark x1="87614" y1="61521" x2="32058" y2="1843"/>
                        <a14:foregroundMark x1="25050" y1="7914" x2="15301" y2="16359"/>
                        <a14:foregroundMark x1="32058" y1="1843" x2="26166" y2="6947"/>
                        <a14:foregroundMark x1="21129" y1="29954" x2="20583" y2="9217"/>
                        <a14:foregroundMark x1="19151" y1="58914" x2="19308" y2="59908"/>
                        <a14:foregroundMark x1="17738" y1="49979" x2="18677" y2="55919"/>
                        <a14:foregroundMark x1="16311" y1="40954" x2="17170" y2="46387"/>
                        <a14:foregroundMark x1="11690" y1="11730" x2="14200" y2="27605"/>
                        <a14:foregroundMark x1="9836" y1="0" x2="10339" y2="3181"/>
                        <a14:backgroundMark x1="18397" y1="61751" x2="26594" y2="0"/>
                        <a14:backgroundMark x1="17122" y1="46313" x2="11293" y2="49078"/>
                        <a14:backgroundMark x1="2550" y1="3456" x2="17668" y2="10599"/>
                        <a14:backgroundMark x1="3643" y1="10369" x2="16211" y2="41014"/>
                        <a14:backgroundMark x1="7104" y1="13134" x2="7104" y2="13134"/>
                        <a14:backgroundMark x1="5464" y1="13594" x2="9107" y2="10138"/>
                        <a14:backgroundMark x1="14936" y1="14286" x2="19126" y2="6912"/>
                      </a14:backgroundRemoval>
                    </a14:imgEffect>
                    <a14:imgEffect>
                      <a14:artisticMarker/>
                    </a14:imgEffect>
                    <a14:imgEffect>
                      <a14:brightnessContrast bright="20000" contrast="-40000"/>
                    </a14:imgEffect>
                  </a14:imgLayer>
                </a14:imgProps>
              </a:ex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rot="2126635">
            <a:off x="3766955" y="2668530"/>
            <a:ext cx="835391" cy="660400"/>
          </a:xfrm>
          <a:prstGeom prst="rect">
            <a:avLst/>
          </a:prstGeom>
        </p:spPr>
      </p:pic>
      <p:sp>
        <p:nvSpPr>
          <p:cNvPr id="18" name="箭號: 向右 17">
            <a:extLst>
              <a:ext uri="{FF2B5EF4-FFF2-40B4-BE49-F238E27FC236}">
                <a16:creationId xmlns:a16="http://schemas.microsoft.com/office/drawing/2014/main" id="{0941DA97-DE35-472C-A825-1420AF5F3838}"/>
              </a:ext>
            </a:extLst>
          </p:cNvPr>
          <p:cNvSpPr/>
          <p:nvPr/>
        </p:nvSpPr>
        <p:spPr>
          <a:xfrm>
            <a:off x="3766954" y="3224212"/>
            <a:ext cx="906646" cy="660400"/>
          </a:xfrm>
          <a:prstGeom prst="rightArrow">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20" name="圖形 19" descr="頭顱中的腦">
            <a:extLst>
              <a:ext uri="{FF2B5EF4-FFF2-40B4-BE49-F238E27FC236}">
                <a16:creationId xmlns:a16="http://schemas.microsoft.com/office/drawing/2014/main" id="{5696564B-56C6-4F56-B9DB-950525F75B8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112000" y="3859212"/>
            <a:ext cx="1460500" cy="1460500"/>
          </a:xfrm>
          <a:prstGeom prst="rect">
            <a:avLst/>
          </a:prstGeom>
        </p:spPr>
      </p:pic>
      <p:sp>
        <p:nvSpPr>
          <p:cNvPr id="21" name="箭號: 向右 20">
            <a:extLst>
              <a:ext uri="{FF2B5EF4-FFF2-40B4-BE49-F238E27FC236}">
                <a16:creationId xmlns:a16="http://schemas.microsoft.com/office/drawing/2014/main" id="{53B9C669-D0A9-4912-A6A8-3CB123A02D8F}"/>
              </a:ext>
            </a:extLst>
          </p:cNvPr>
          <p:cNvSpPr/>
          <p:nvPr/>
        </p:nvSpPr>
        <p:spPr>
          <a:xfrm>
            <a:off x="3321605" y="5421312"/>
            <a:ext cx="906646" cy="660400"/>
          </a:xfrm>
          <a:prstGeom prst="rightArrow">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2" name="箭號: 向右 21">
            <a:extLst>
              <a:ext uri="{FF2B5EF4-FFF2-40B4-BE49-F238E27FC236}">
                <a16:creationId xmlns:a16="http://schemas.microsoft.com/office/drawing/2014/main" id="{62FF488A-C592-45BE-9DDD-992CDFF48753}"/>
              </a:ext>
            </a:extLst>
          </p:cNvPr>
          <p:cNvSpPr/>
          <p:nvPr/>
        </p:nvSpPr>
        <p:spPr>
          <a:xfrm rot="2034257">
            <a:off x="6158652" y="3784600"/>
            <a:ext cx="906646" cy="660400"/>
          </a:xfrm>
          <a:prstGeom prst="rightArrow">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 name="箭號: 向右 22">
            <a:extLst>
              <a:ext uri="{FF2B5EF4-FFF2-40B4-BE49-F238E27FC236}">
                <a16:creationId xmlns:a16="http://schemas.microsoft.com/office/drawing/2014/main" id="{361E768B-948D-4BD9-81A2-A68707D8506C}"/>
              </a:ext>
            </a:extLst>
          </p:cNvPr>
          <p:cNvSpPr/>
          <p:nvPr/>
        </p:nvSpPr>
        <p:spPr>
          <a:xfrm rot="19515108">
            <a:off x="6158652" y="5180012"/>
            <a:ext cx="906646" cy="660400"/>
          </a:xfrm>
          <a:prstGeom prst="rightArrow">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5" name="接點: 肘形 24">
            <a:extLst>
              <a:ext uri="{FF2B5EF4-FFF2-40B4-BE49-F238E27FC236}">
                <a16:creationId xmlns:a16="http://schemas.microsoft.com/office/drawing/2014/main" id="{0CD87E98-0A57-477F-A371-9AEB47A341B3}"/>
              </a:ext>
            </a:extLst>
          </p:cNvPr>
          <p:cNvCxnSpPr>
            <a:cxnSpLocks/>
            <a:stCxn id="20" idx="0"/>
            <a:endCxn id="11" idx="0"/>
          </p:cNvCxnSpPr>
          <p:nvPr/>
        </p:nvCxnSpPr>
        <p:spPr>
          <a:xfrm rot="16200000" flipV="1">
            <a:off x="4359275" y="376237"/>
            <a:ext cx="1333500" cy="5632450"/>
          </a:xfrm>
          <a:prstGeom prst="bentConnector3">
            <a:avLst>
              <a:gd name="adj1" fmla="val 179592"/>
            </a:avLst>
          </a:prstGeom>
          <a:ln w="2159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30" name="圖片 29">
            <a:extLst>
              <a:ext uri="{FF2B5EF4-FFF2-40B4-BE49-F238E27FC236}">
                <a16:creationId xmlns:a16="http://schemas.microsoft.com/office/drawing/2014/main" id="{5B4561E0-F7DC-440C-B230-2F7A6E25A159}"/>
              </a:ext>
            </a:extLst>
          </p:cNvPr>
          <p:cNvPicPr>
            <a:picLocks noChangeAspect="1"/>
          </p:cNvPicPr>
          <p:nvPr/>
        </p:nvPicPr>
        <p:blipFill>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tretch>
            <a:fillRect/>
          </a:stretch>
        </p:blipFill>
        <p:spPr>
          <a:xfrm>
            <a:off x="9659379" y="4102881"/>
            <a:ext cx="1710371" cy="960439"/>
          </a:xfrm>
          <a:prstGeom prst="rect">
            <a:avLst/>
          </a:prstGeom>
        </p:spPr>
      </p:pic>
      <p:sp>
        <p:nvSpPr>
          <p:cNvPr id="31" name="箭號: 向右 30">
            <a:extLst>
              <a:ext uri="{FF2B5EF4-FFF2-40B4-BE49-F238E27FC236}">
                <a16:creationId xmlns:a16="http://schemas.microsoft.com/office/drawing/2014/main" id="{992218E7-500C-49C6-A395-0F5DC781DC59}"/>
              </a:ext>
            </a:extLst>
          </p:cNvPr>
          <p:cNvSpPr/>
          <p:nvPr/>
        </p:nvSpPr>
        <p:spPr>
          <a:xfrm>
            <a:off x="8550350" y="4259262"/>
            <a:ext cx="906646" cy="660400"/>
          </a:xfrm>
          <a:prstGeom prst="rightArrow">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2" name="文字方塊 31">
            <a:extLst>
              <a:ext uri="{FF2B5EF4-FFF2-40B4-BE49-F238E27FC236}">
                <a16:creationId xmlns:a16="http://schemas.microsoft.com/office/drawing/2014/main" id="{3A12B0EA-4BCE-4813-BD15-B15E7A939CD7}"/>
              </a:ext>
            </a:extLst>
          </p:cNvPr>
          <p:cNvSpPr txBox="1"/>
          <p:nvPr/>
        </p:nvSpPr>
        <p:spPr>
          <a:xfrm>
            <a:off x="6789205" y="2247034"/>
            <a:ext cx="2106089" cy="923330"/>
          </a:xfrm>
          <a:prstGeom prst="rect">
            <a:avLst/>
          </a:prstGeom>
          <a:solidFill>
            <a:schemeClr val="bg1"/>
          </a:solidFill>
          <a:ln>
            <a:solidFill>
              <a:schemeClr val="tx1"/>
            </a:solidFill>
            <a:prstDash val="dash"/>
          </a:ln>
        </p:spPr>
        <p:txBody>
          <a:bodyPr wrap="none" rtlCol="0">
            <a:spAutoFit/>
          </a:bodyPr>
          <a:lstStyle/>
          <a:p>
            <a:r>
              <a:rPr lang="zh-TW" altLang="en-US" b="1" dirty="0">
                <a:solidFill>
                  <a:srgbClr val="C00000"/>
                </a:solidFill>
                <a:latin typeface="Times New Roman" panose="02020603050405020304" pitchFamily="18" charset="0"/>
                <a:ea typeface="標楷體" panose="03000509000000000000" pitchFamily="65" charset="-120"/>
              </a:rPr>
              <a:t>嘗試 </a:t>
            </a:r>
            <a:r>
              <a:rPr lang="en-US" altLang="zh-TW" b="1" dirty="0">
                <a:solidFill>
                  <a:srgbClr val="C00000"/>
                </a:solidFill>
                <a:latin typeface="Times New Roman" panose="02020603050405020304" pitchFamily="18" charset="0"/>
                <a:ea typeface="標楷體" panose="03000509000000000000" pitchFamily="65" charset="-120"/>
              </a:rPr>
              <a:t>RF </a:t>
            </a:r>
            <a:r>
              <a:rPr lang="zh-TW" altLang="en-US" b="1" dirty="0">
                <a:solidFill>
                  <a:srgbClr val="C00000"/>
                </a:solidFill>
                <a:latin typeface="Times New Roman" panose="02020603050405020304" pitchFamily="18" charset="0"/>
                <a:ea typeface="標楷體" panose="03000509000000000000" pitchFamily="65" charset="-120"/>
              </a:rPr>
              <a:t>與 </a:t>
            </a:r>
            <a:r>
              <a:rPr lang="en-US" altLang="zh-TW" b="1" dirty="0" err="1">
                <a:solidFill>
                  <a:srgbClr val="C00000"/>
                </a:solidFill>
                <a:latin typeface="Times New Roman" panose="02020603050405020304" pitchFamily="18" charset="0"/>
                <a:ea typeface="標楷體" panose="03000509000000000000" pitchFamily="65" charset="-120"/>
              </a:rPr>
              <a:t>xgboost</a:t>
            </a:r>
            <a:endParaRPr lang="en-US" altLang="zh-TW" b="1" dirty="0">
              <a:solidFill>
                <a:srgbClr val="C00000"/>
              </a:solidFill>
              <a:latin typeface="Times New Roman" panose="02020603050405020304" pitchFamily="18" charset="0"/>
              <a:ea typeface="標楷體" panose="03000509000000000000" pitchFamily="65" charset="-120"/>
            </a:endParaRPr>
          </a:p>
          <a:p>
            <a:r>
              <a:rPr lang="zh-TW" altLang="en-US" b="1" dirty="0">
                <a:solidFill>
                  <a:srgbClr val="C00000"/>
                </a:solidFill>
                <a:latin typeface="Times New Roman" panose="02020603050405020304" pitchFamily="18" charset="0"/>
                <a:ea typeface="標楷體" panose="03000509000000000000" pitchFamily="65" charset="-120"/>
              </a:rPr>
              <a:t>以效能平均值選擇</a:t>
            </a:r>
            <a:endParaRPr lang="en-US" altLang="zh-TW" b="1" dirty="0">
              <a:solidFill>
                <a:srgbClr val="C00000"/>
              </a:solidFill>
              <a:latin typeface="Times New Roman" panose="02020603050405020304" pitchFamily="18" charset="0"/>
              <a:ea typeface="標楷體" panose="03000509000000000000" pitchFamily="65" charset="-120"/>
            </a:endParaRPr>
          </a:p>
          <a:p>
            <a:r>
              <a:rPr lang="zh-TW" altLang="en-US" b="1" dirty="0">
                <a:solidFill>
                  <a:srgbClr val="C00000"/>
                </a:solidFill>
                <a:latin typeface="Times New Roman" panose="02020603050405020304" pitchFamily="18" charset="0"/>
                <a:ea typeface="標楷體" panose="03000509000000000000" pitchFamily="65" charset="-120"/>
              </a:rPr>
              <a:t>最佳模型</a:t>
            </a:r>
          </a:p>
        </p:txBody>
      </p:sp>
      <p:sp>
        <p:nvSpPr>
          <p:cNvPr id="33" name="文字方塊 32">
            <a:extLst>
              <a:ext uri="{FF2B5EF4-FFF2-40B4-BE49-F238E27FC236}">
                <a16:creationId xmlns:a16="http://schemas.microsoft.com/office/drawing/2014/main" id="{FE4228E9-37E2-4022-A352-38E9256DD118}"/>
              </a:ext>
            </a:extLst>
          </p:cNvPr>
          <p:cNvSpPr txBox="1"/>
          <p:nvPr/>
        </p:nvSpPr>
        <p:spPr>
          <a:xfrm>
            <a:off x="7288251" y="5325546"/>
            <a:ext cx="1107996" cy="369332"/>
          </a:xfrm>
          <a:prstGeom prst="rect">
            <a:avLst/>
          </a:prstGeom>
          <a:noFill/>
        </p:spPr>
        <p:txBody>
          <a:bodyPr wrap="none" rtlCol="0">
            <a:spAutoFit/>
          </a:bodyPr>
          <a:lstStyle/>
          <a:p>
            <a:r>
              <a:rPr lang="zh-TW" altLang="en-US" b="1" dirty="0">
                <a:latin typeface="標楷體" panose="03000509000000000000" pitchFamily="65" charset="-120"/>
                <a:ea typeface="標楷體" panose="03000509000000000000" pitchFamily="65" charset="-120"/>
              </a:rPr>
              <a:t>模型開發</a:t>
            </a:r>
          </a:p>
        </p:txBody>
      </p:sp>
      <p:sp>
        <p:nvSpPr>
          <p:cNvPr id="34" name="文字方塊 33">
            <a:extLst>
              <a:ext uri="{FF2B5EF4-FFF2-40B4-BE49-F238E27FC236}">
                <a16:creationId xmlns:a16="http://schemas.microsoft.com/office/drawing/2014/main" id="{25968A48-0158-48BF-B8AF-22DB8D7F8E6C}"/>
              </a:ext>
            </a:extLst>
          </p:cNvPr>
          <p:cNvSpPr txBox="1"/>
          <p:nvPr/>
        </p:nvSpPr>
        <p:spPr>
          <a:xfrm>
            <a:off x="9993240" y="5319712"/>
            <a:ext cx="1107996" cy="369332"/>
          </a:xfrm>
          <a:prstGeom prst="rect">
            <a:avLst/>
          </a:prstGeom>
          <a:noFill/>
        </p:spPr>
        <p:txBody>
          <a:bodyPr wrap="none" rtlCol="0">
            <a:spAutoFit/>
          </a:bodyPr>
          <a:lstStyle/>
          <a:p>
            <a:r>
              <a:rPr lang="zh-TW" altLang="en-US" b="1" dirty="0">
                <a:solidFill>
                  <a:srgbClr val="0070C0"/>
                </a:solidFill>
                <a:latin typeface="標楷體" panose="03000509000000000000" pitchFamily="65" charset="-120"/>
                <a:ea typeface="標楷體" panose="03000509000000000000" pitchFamily="65" charset="-120"/>
              </a:rPr>
              <a:t>預測模型</a:t>
            </a:r>
          </a:p>
        </p:txBody>
      </p:sp>
      <p:sp>
        <p:nvSpPr>
          <p:cNvPr id="35" name="日期版面配置區 34">
            <a:extLst>
              <a:ext uri="{FF2B5EF4-FFF2-40B4-BE49-F238E27FC236}">
                <a16:creationId xmlns:a16="http://schemas.microsoft.com/office/drawing/2014/main" id="{7A9EE720-3246-40C0-9C72-B7702DF55D2C}"/>
              </a:ext>
            </a:extLst>
          </p:cNvPr>
          <p:cNvSpPr>
            <a:spLocks noGrp="1"/>
          </p:cNvSpPr>
          <p:nvPr>
            <p:ph type="dt" sz="half" idx="10"/>
          </p:nvPr>
        </p:nvSpPr>
        <p:spPr/>
        <p:txBody>
          <a:bodyPr/>
          <a:lstStyle/>
          <a:p>
            <a:fld id="{7FF111D6-A8CE-41F3-8309-D500324477A7}" type="datetime1">
              <a:rPr lang="zh-TW" altLang="en-US" smtClean="0"/>
              <a:t>2026/4/16</a:t>
            </a:fld>
            <a:endParaRPr lang="zh-TW" altLang="en-US"/>
          </a:p>
        </p:txBody>
      </p:sp>
      <p:sp>
        <p:nvSpPr>
          <p:cNvPr id="36" name="投影片編號版面配置區 35">
            <a:extLst>
              <a:ext uri="{FF2B5EF4-FFF2-40B4-BE49-F238E27FC236}">
                <a16:creationId xmlns:a16="http://schemas.microsoft.com/office/drawing/2014/main" id="{99DBCD3C-4A6C-440C-8B2B-31341A728C8C}"/>
              </a:ext>
            </a:extLst>
          </p:cNvPr>
          <p:cNvSpPr>
            <a:spLocks noGrp="1"/>
          </p:cNvSpPr>
          <p:nvPr>
            <p:ph type="sldNum" sz="quarter" idx="12"/>
          </p:nvPr>
        </p:nvSpPr>
        <p:spPr/>
        <p:txBody>
          <a:bodyPr/>
          <a:lstStyle/>
          <a:p>
            <a:fld id="{B2259EB7-54C7-4219-9CD9-278458D4A832}" type="slidenum">
              <a:rPr lang="zh-TW" altLang="en-US" smtClean="0"/>
              <a:t>30</a:t>
            </a:fld>
            <a:endParaRPr lang="zh-TW" altLang="en-US"/>
          </a:p>
        </p:txBody>
      </p:sp>
      <p:sp>
        <p:nvSpPr>
          <p:cNvPr id="3" name="矩形: 圓角 2">
            <a:extLst>
              <a:ext uri="{FF2B5EF4-FFF2-40B4-BE49-F238E27FC236}">
                <a16:creationId xmlns:a16="http://schemas.microsoft.com/office/drawing/2014/main" id="{1828DB48-B979-49C9-99A4-6D2F615E8C81}"/>
              </a:ext>
            </a:extLst>
          </p:cNvPr>
          <p:cNvSpPr/>
          <p:nvPr/>
        </p:nvSpPr>
        <p:spPr>
          <a:xfrm>
            <a:off x="4798771" y="2969971"/>
            <a:ext cx="1252520" cy="3306471"/>
          </a:xfrm>
          <a:prstGeom prst="roundRect">
            <a:avLst/>
          </a:prstGeom>
          <a:noFill/>
          <a:ln>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72769845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木刻字型">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{8ED3B03D-F9FA-480F-AAD7-0E8913C339AE}TF2ec419c9-97c3-4958-b02a-0886397d33af28bd0f59-b025c47e66ba</Template>
  <TotalTime>1154</TotalTime>
  <Words>3192</Words>
  <Application>Microsoft Macintosh PowerPoint</Application>
  <PresentationFormat>寬螢幕</PresentationFormat>
  <Paragraphs>338</Paragraphs>
  <Slides>30</Slides>
  <Notes>2</Notes>
  <HiddenSlides>0</HiddenSlides>
  <MMClips>0</MMClips>
  <ScaleCrop>false</ScaleCrop>
  <HeadingPairs>
    <vt:vector size="6" baseType="variant">
      <vt:variant>
        <vt:lpstr>使用字型</vt:lpstr>
      </vt:variant>
      <vt:variant>
        <vt:i4>13</vt:i4>
      </vt:variant>
      <vt:variant>
        <vt:lpstr>佈景主題</vt:lpstr>
      </vt:variant>
      <vt:variant>
        <vt:i4>1</vt:i4>
      </vt:variant>
      <vt:variant>
        <vt:lpstr>投影片標題</vt:lpstr>
      </vt:variant>
      <vt:variant>
        <vt:i4>30</vt:i4>
      </vt:variant>
    </vt:vector>
  </HeadingPairs>
  <TitlesOfParts>
    <vt:vector size="44" baseType="lpstr">
      <vt:lpstr>標楷體</vt:lpstr>
      <vt:lpstr>sohne</vt:lpstr>
      <vt:lpstr>source-serif-pro</vt:lpstr>
      <vt:lpstr>times</vt:lpstr>
      <vt:lpstr>Arial</vt:lpstr>
      <vt:lpstr>Calibri</vt:lpstr>
      <vt:lpstr>Cambria Math</vt:lpstr>
      <vt:lpstr>Consolas</vt:lpstr>
      <vt:lpstr>Roboto</vt:lpstr>
      <vt:lpstr>Rockwell</vt:lpstr>
      <vt:lpstr>Rockwell Condensed</vt:lpstr>
      <vt:lpstr>Times New Roman</vt:lpstr>
      <vt:lpstr>Wingdings</vt:lpstr>
      <vt:lpstr>木刻字型</vt:lpstr>
      <vt:lpstr>資料前處理</vt:lpstr>
      <vt:lpstr>Data Preprocessing</vt:lpstr>
      <vt:lpstr>Data overview</vt:lpstr>
      <vt:lpstr>Missing data handling</vt:lpstr>
      <vt:lpstr>PowerPoint 簡報</vt:lpstr>
      <vt:lpstr>Predictive imputation</vt:lpstr>
      <vt:lpstr>類別型資料（文字、分類）通常用 眾數（最常出現的值）來填補</vt:lpstr>
      <vt:lpstr>PowerPoint 簡報</vt:lpstr>
      <vt:lpstr>Removing duplicates</vt:lpstr>
      <vt:lpstr>Scaling and normalization</vt:lpstr>
      <vt:lpstr>對演算法的影響</vt:lpstr>
      <vt:lpstr>縮放技術</vt:lpstr>
      <vt:lpstr>PowerPoint 簡報</vt:lpstr>
      <vt:lpstr>使用指南</vt:lpstr>
      <vt:lpstr>演算法特定指南</vt:lpstr>
      <vt:lpstr>注意事項</vt:lpstr>
      <vt:lpstr>Categorical data encoding</vt:lpstr>
      <vt:lpstr>資料編碼技術分類</vt:lpstr>
      <vt:lpstr>PowerPoint 簡報</vt:lpstr>
      <vt:lpstr>Outlier detection (Z-score, IQR)</vt:lpstr>
      <vt:lpstr>處理異常值的方法</vt:lpstr>
      <vt:lpstr>IQR方法</vt:lpstr>
      <vt:lpstr>Z score</vt:lpstr>
      <vt:lpstr>Aggregating and grouping</vt:lpstr>
      <vt:lpstr>Feature selection</vt:lpstr>
      <vt:lpstr>特徵選擇三種方法</vt:lpstr>
      <vt:lpstr>PowerPoint 簡報</vt:lpstr>
      <vt:lpstr>實用特徵選擇工作流程</vt:lpstr>
      <vt:lpstr>Handling imbalanced data</vt:lpstr>
      <vt:lpstr>資料下採樣建模概念(解決資料不平衡建模)</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資料前處理</dc:title>
  <dc:creator>鍾定揚 12376046 Daniel</dc:creator>
  <cp:lastModifiedBy>Jainshone Chung</cp:lastModifiedBy>
  <cp:revision>37</cp:revision>
  <dcterms:created xsi:type="dcterms:W3CDTF">2026-04-06T06:16:37Z</dcterms:created>
  <dcterms:modified xsi:type="dcterms:W3CDTF">2026-04-16T07:37:09Z</dcterms:modified>
</cp:coreProperties>
</file>